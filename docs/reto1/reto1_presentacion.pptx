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Hola, somos Riches Manuel y Roca, de primero de ASIR, Administración de Sistemas Informáticos en Red, en el IES Conselleria. Presentamos el Reto 1 del Proyecto Intermodular I.
Un restaurante pequeño casi nunca tiene departamento de informática. Tiene un ordenador en la caja, un router, el aparato que da internet, y móviles personales que son herramientas de trabajo. Eso es lo que hay detrás de la barra.
Nuestro caso es Burglar King, una hamburguesería de barrio ficticia, con datos reales del sector, la normativa y el mercado. Los equipos y su estado son inventados, aunque verosímiles. Para ella desarrollamos un nuevo sistema de punto de venta, un TPV, el programa de cobro, con pantallas de cocina, los KDS.
Veremos el local por dentro, su entorno, y qué necesita y qué debe cumplir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con el local.
Burglar King está en Burjassot, municipio del área metropolitana de València que acoge el campus de Burjassot-Paterna de la Universitat de València. Eso determina el negocio: mucha gente joven y universitaria, demanda concentrada en franjas cortas, a mediodía y por la noche, y muchos pedidos para llevar o a domicilio.
El ticket medio, lo que gasta de media cada comensal, va de quince a veinticinco euros. Vende por cuatro canales, y el reparto a domicilio lo hace con dos plataformas. Es una sociedad limitada y su actividad es el CNAE 56.10, la Clasificación Nacional de Actividades Económicas: el código que etiqueta cada tipo de negocio, aquí restaurantes y puestos de comidas.
Es un caso típico. Según Profesional Horeca, 2025, la restauración independiente, la que no es cadena, reúne el 93 por ciento de los establecimientos. Por tamaño es una microempresa, la que tiene menos de diez trabajadores, y las más pequeñas son la gran mayoría: según el Instituto Nacional de Estadística, el INE, en 2025, el 81,6 por ciento de las empresas españolas tiene dos asalariados o menos.
Eso importa para el proyecto. El cliente típico de una solución así no tiene a nadie que sepa de informática, y lo que montemos tiene que funcionar sin un técnico presente. Además, en hora punta la tecnología no puede fallar, y con tanta gente a la vez y tanto pedido para llevar el papel es lo que peor lo lleva, como veremos con el recorrido de un pedido. Pero primero, ¿quién lleva todo esto? Mirad el organigrama.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lleva muy poca gente, y eso tiene consecuencias.
La estructura es plana, la de cualquier microempresa de hostelería. No hay departamentos de verdad, sino dos áreas operativas. En la sala, dos camareros atienden mesas, terraza y barra, toman nota y cobran. En la cocina, una cocinera prepara en plancha, freidora y fríos, y también los pedidos de reparto. Y fijaos: la cocina no usa ninguna tecnología. Las comandas, que son los pedidos de cada mesa, le llegan en papel y de viva voz.
Luego está el encargado, que además es el socio gerente. Concentra la dirección y todo el apoyo: organiza los turnos y trata con proveedores, plataformas de reparto y la gestoría, la empresa externa que lleva la contabilidad, las nóminas y los impuestos. Trabaja con su portátil, su correo y su móvil con WhatsApp Business, todos personales. Por ese móvil entran las reservas, por llamada o WhatsApp, sin registro común. Si se pierde ese móvil, se van los contactos y el histórico de reservas y proveedores.
Por eso es, en la práctica, el único responsable de informática. Y si él falta, nadie sabe reiniciar el router, ni consultar un pedido de una plataforma de reparto.
Eso es un punto único de fallo: una pieza sin sustituto que, si falla, para todo lo que depende de ella. Solemos pensar en equipos que se rompen; aquí es una persona. Es como tener una sola llave del local: el día que no está quien la lleva, nadie entra.
Y con tanta responsabilidad en una persona, miremos el flujo central del negocio: la comanda.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Sigamos una comanda paso a paso, desde que se pide hasta que se cobra.
La comanda nace en la mesa. El camarero la apunta en un comandero de papel, por duplicado, y de ahí viaja en papel y a voz. Una copia se pincha en la cocina y se avisa de palabra. Después la comanda vuelve al pase, que es donde la cocina entrega los platos a la sala. Y solo en el último paso entra por primera vez en un sistema informático: cuando el camarero teclea el pedido en el TPV que tienen hoy, para cobrarlo.
Por eso el título: el dato llega cuando el cliente ya se va. Durante todo el servicio, que es cuando más importa, el local no tiene ni un dato. No sabe qué mesa lleva más tiempo esperando, qué plato falta ni cuánto tarda la cocina. Y la cocina, como vimos, no tiene hoy ninguna herramienta informática.
El informe encuentra un fallo en cada paso. Al tomar nota: letra ilegible, notas que se pierden, ninguna hora. En cocina: ni orden fiable ni aviso de retraso. En los pedidos a domicilio, todo llega a la tableta de reparto, donde conviven las dos plataformas, y se copia a mano en papel: doble tecleo, y pedidos que se olvidan en la tableta. Al cobrar, errores de tecleo. Y al cerrar caja, descuadres difíciles de explicar.
No decimos que se trabaje mal, sino que el sistema no deja huella hasta el final, y sin datos cuesta medir cuánto se tarda o dónde se pierde algo.
Para el proyecto esto es clave: es el flujo central del negocio y hoy no tiene datos. Por eso llevar la comanda a una pantalla de cocina, con tiempos, es la cuarta necesidad de nuestra lista.
Veamos ahora con qué equipos se hace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esos equipos. Nadie los diseñó: se fueron acumulando. Hemos montado el inventario como si hubiéramos visitado el local con una lista de comprobación, y destacamos seis cosas.
Primero, el PC del TPV actual: un todo en uno táctil de 2015, con procesador Celeron, cuatro gigas de memoria y un disco duro mecánico de 320 gigas. Arranca lento, y el disco avisa de sectores reasignados: zonas que han fallado y que el disco sustituye por otras de repuesto. Y es el único equipo que guarda la base de datos de ventas, facturas y cierres de caja, justo el más viejo y el de peor disco.
Segundo, no hay SAI, sistema de alimentación ininterrumpida: una batería que mantiene los equipos encendidos unos minutos cuando se va la luz. Aquí solo hay regletas domésticas, así que un corte apaga el TPV de golpe y puede corromper su base de datos.
Tercero, el router de la operadora, en una balda del almacén, junto a la cámara frigorífica y cerca de la salida de humos de la cocina. Calor, grasa y humedad acortan la vida de cualquier equipo.
Cuarto, el grabador de vídeo, en esa misma balda. Su firmware, el programa interno del aparato, es de 2019 y está sin actualizar, así que no tiene las correcciones de seguridad posteriores. Y mantiene las credenciales de fábrica, el usuario y la contraseña que vienen de serie.
Quinto, la tableta de reparto: Android 9, de 2018, con la batería degradada y siempre enchufada. Y las contraseñas de las plataformas, apuntadas en un pósit en la propia tableta.
Y sexto, el portátil del encargado y los móviles, todos personales, con las cuentas privadas que los acompañan. Ahí vive una parte del negocio, como vimos con el encargado: correo, reservas y proveedores, facturas escaneadas. Y copias de seguridad, ninguna.
Equipos viejos, sin actualizar, con claves de fábrica y sin copias. Y todos en la misma red, que vemos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esos equipos están conectados entre sí, y ahí aparece otro gran problema: la red.
La red es la que dejó la operadora. Un único router lo hace todo a la vez: módem de la fibra; cortafuegos, que es el filtro que decide qué tráfico entra y sale; servidor DHCP, que da su dirección a cada aparato cuando se conecta; y punto de acceso wifi.
Eso significa que el móvil de cualquier cliente está en la misma red que la caja, el datáfono y las cámaras. En redes se dice que comparten el dominio de difusión: todos los aparatos se oyen entre sí. Sirve para una casa, no para un negocio que mezcla un terminal de cobro, un grabador con imágenes de personas y teléfonos de desconocidos.
Hay más. Un solo SSID, que es el nombre de la wifi, con WPA2, el cifrado habitual de la wifi, en modo de clave compartida: todos entran con la misma contraseña, y está escrita en la pizarra de la sala. Y la contraseña del router es la de fábrica, impresa en su etiqueta: cualquiera con acceso a la red puede cambiar la configuración.
Luego está el grabador. El router tiene activado UPnP, una función que abre puertos de forma automática, y hay un puerto redirigido para el acceso remoto. Resultado: el grabador se ve desde internet, con sus credenciales de fábrica.
La conexión también cojea. La fibra es de 600 megas simétricos, pero una sola línea: si se corta, se caen el datáfono por wifi y las plataformas. Y con un único punto de acceso en el almacén, la señal es débil en terraza y cocina.
La salida, y la primera necesidad de nuestra lista, es separar esa red en segmentos independientes: negocio, cocina, cámaras y clientes. El proyecto exigirá al menos cuatro. Una forma habitual de hacerlo son las VLAN, redes virtuales dentro del mismo cableado, pero cómo se haga se decidirá en el Reto 2. Nos falta ahora mirar dentro de los equipos.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cada equipo corre un sistema operativo, el programa base que hace funcionar lo demás.
El caso más serio es la caja. El ordenador del TPV actual lleva Windows 10, y el 14 de octubre de 2025 terminó su soporte, según Microsoft, 2025. Soporte quiere decir actualizaciones de seguridad: si aparece un fallo, ya no llega el parche. Existen actualizaciones extendidas, pero el local no las ha contratado. Y tampoco se puede pasar a Windows 11: el procesador no está en la lista de compatibles. Hay que sustituir el equipo o cambiar de sistema operativo. Es como una cerradura rota que el fabricante ya no arregla.
El portátil del encargado lleva Windows 11 Home. Tiene soporte, pero con dos límites. Primero, no puede unirse a un dominio de Windows. No es el dominio de difusión de antes, sino una red donde un servidor central controla las cuentas de todos los equipos. Segundo, no puede cifrar el disco con BitLocker, la herramienta de Windows que impide leer el disco a quien robe el equipo. Y ese portátil sale del local.
La tableta tiene Android 9, sin parches, y el grabador sigue con el firmware de 2019 que ya vimos.
Lo de fondo es que no hay ningún servidor. Los datos están repartidos entre el disco del TPV, el portátil personal y cuentas personales en la nube. Con cuatro personas, un dominio completo no tendría sentido, pero un servidor local sí, que concentre datos, cuentas individuales y copias. Tendremos que justificarlo en los retos siguientes.
Con esto el inventario está completo. Toca valorar el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valoramos con una matriz de riesgos sencilla: probabilidad por impacto, de uno a tres cada uno. La probabilidad es lo fácil que es que ocurra; el impacto, lo que dolería si ocurre. Seis o más es crítico; de tres a cuatro, alto; de uno a dos, bajo.
Salen diez riesgos y ninguno queda en bajo: seis son críticos.
Se reparten en dos frentes: la red y la caja. Primero, la red. El grabador accesible desde internet con credenciales de fábrica y la red única compartida con los clientes son los dos únicos que llegan al máximo, un nueve: probabilidad tres por impacto tres. Un grabador con imágenes de personas, abierto a internet y con la contraseña de fábrica incumple el deber de seguridad que exige la ley de protección de datos.
El segundo frente es la caja, y aquí está lo llamativo: cuatro de los seis críticos caen sobre ese mismo ordenador. No tiene copias de su base de datos, funciona con un sistema sin soporte, tiene una única cuenta compartida y un disco con sectores reasignados, y sin SAI. Si cae, cae el negocio. Y con la cuenta compartida no se sabe quién cobra ni quién anula: si la caja no cuadra, no hay forma de saber quién hizo qué.
Los otros cuatro son altos. Está el router con la contraseña de fábrica y UPnP activado. Están los datos del negocio en cuentas y móviles personales: todo depende de que el encargado siga y no pierda el móvil. Está la videovigilancia sin cartel ni registro actualizado, algo que la ley exige y que veremos con la normativa. Y están las contraseñas a la vista, en un pósit o en la pizarra: probabilidad máxima, impacto bajo, y por eso se quedan en un tres.
Y las medidas más urgentes no exigen tecnología cara. Separar redes, cambiar credenciales, cerrar el acceso remoto del grabador y empezar a hacer copias cuestan muy poco. Renovar la caja sí tiene un coste, pero el hardware necesario es hoy asequible. Por qué no se han hecho esas medidas, lo diremos al final.
La pregunta es si el sector deja margen para invertir. Salimos del local para mirarlo desde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a responderlo con números. Empezamos por el tamaño.
En España hay más de 280.000 establecimientos de hostelería y el 93 %, la cifra que ya vimos, son locales independientes, como Burglar King; solo una minoría pertenece a cadenas. Ambas cifras, según Profesional Horeca, 2025. Además, el sector da empleo a 1,89 millones de personas, el 8,6 % del empleo total, según Hosteltur, 2026. Es enorme y, a la vez, muy repartido. Y eso refuerza lo que decíamos al principio: cualquier infraestructura que le propongamos a un local así tendrá que funcionar sin un técnico al lado.
Más cerca de casa: en la Comunitat Valenciana hay 31.186 bares y restaurantes, según El Periòdic, 2025. Es uno por cada 174 habitantes, y 13.698 solo en la provincia de València. Competencia, mucha.
Y ahora el dato que más condiciona nuestro proyecto. El sector factura más, con crecimientos de entre el 2 y el 4 %, pero la restauración tuvo en 2025 una rentabilidad del menos 0,9 %, según Hosteltur, 2026. Una rentabilidad negativa quiere decir que, pagados los costes, en lugar de beneficio hay pérdida.
¿Qué significa eso para nosotros? Que una inversión no se justifica por lo que añade, sino por lo que ahorra. Cada cuota pesa: si el local paga por cada terminal o por cada pantalla, se nota. Por eso nuestro proyecto tendrá que demostrar que sale más barato.
Y el sector no es lo único que condiciona. Hay más factores de fuera que el local no controla. Vamos a verlos.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Esos factores los ordenamos con PESTEL, una sigla cuyas letras son familias de factores externos: político, económico, social, tecnológico, ambiental y legal.
Empezamos por lo político, donde manda la ley. La ley antifraude prohíbe el software de facturación capaz de ocultar o alterar ventas. Verifactu es el reglamento que exige registrar y encadenar cada factura. Según Garrigues, 2025, el nuevo plazo es el uno de enero de 2027 para las sociedades, como Burglar King, y el uno de julio de 2027 para el resto. Y su licencia de caja, de 2016 y sin mantenimiento, no se adaptará.
Lo económico ya lo vimos: cada euro cuenta.
En lo social, el cliente es joven, paga con tarjeta o con el móvil y espera wifi. Un fabricante de TPV sitúa entre el 65 y el 70 por ciento los pagos digitales en hostelería, según El Independiente, 2026: un indicio, no estadística oficial. El datáfono debe cobrar también en la terraza, y el wifi de los clientes debe ir en otra red.
En lo tecnológico, el fin de Windows 10 obliga a renovar la caja. Según el estudio de mercado de nuestro proyecto, de 2026, la digitalización del sector se ha concentrado en el cobro y la producción sigue con papel y a voz: la oportunidad está entre la comanda y el plato.
En lo ambiental, Europa restringe el bisfenol A, una sustancia química, en el papel térmico de los tickets. Imprimir menos reduce residuos y gasto: ticket en pantalla y papel solo a petición. Y los equipos viejos se entregan como RAEE: residuos de aparatos eléctricos y electrónicos.
Y en lo legal, además, están el RGPD, el reglamento europeo de protección de datos, y la ley orgánica española de 2018. Para las cámaras exigen cartel y limitan a un mes la conservación de las imágenes, salvo que acrediten un delito. Quedan los alérgenos y el registro de jornada: apuntar cuándo entra y sale cada trabajador.
Veamos ahora a quienes tratan con el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entorno general pasamos al cercano: clientes, proveedores y competencia.
Los clientes vienen en momentos distintos: estudiantes a mediodía entre semana y de noche de jueves a sábado, familias en fin de semana, pedidos para llevar a todas horas, con pico a la cena, y reparto en noches y fines de semana. Ya dijimos que las franjas son cortas: la tecnología no puede fallar en hora punta, y tampoco si se cae internet.
Los proveedores de comida y bebida son sobre todo cash and carry, mayoristas de autoservicio, según Makro España y GM Cash, 2026. Pero nos importan los proveedores TIC, de tecnologías de la información y la comunicación. Tres tienen dependencia alta: la operadora, con una sola línea y un router que el local no controla; el banco, cuyo datáfono necesita red estable en toda la superficie, terraza incluida; y el fabricante del TPV, con una licencia de 2016 sin mantenimiento. Las plataformas de reparto, dependencia media: cobran comisión y sus pedidos no llegan al TPV.
En competencia hay dos planos. En el del negocio compiten hamburgueserías del barrio, cocinas que solo venden por plataformas y cadenas, las que tienen la comanda en pantalla de cocina y un monitor donde el cliente ve cuándo está listo su pedido. En el tecnológico, el estudio de mercado del proyecto ve tres capas: licencia por terminal, suscripción por terminal o por local, y gratuitas que cobran por complementos y por los datos. Casi todas cobran por terminal o pantalla: cada pantalla de cocina es otra cuota. Ahí está el hueco.
Con el entorno claro, toca decidir qué necesita Burglar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Cruzamos ahora el análisis interno con el del entorno, y salen siete necesidades. Las ordenamos por urgencia, según el riesgo que cubren y las fechas legales.
La primera, separar la red: riesgo crítico, coste bajo y requisito para todo lo demás. Es la que cubre más riesgos, cuatro de los diez, entre ellos el grabador expuesto.
La segunda, copias automáticas y SAI: hoy un fallo de disco o un corte de luz se lleva el negocio. Decimos verificadas porque una copia que nadie ha probado a restaurar es solo una esperanza.
La tercera, una caja con soporte y adaptable a Verifactu: coinciden una obligación con fecha, el uno de enero de 2027, y un sistema sin actualizaciones.
La cuarta es la comanda en pantalla de cocina con tiempos, la que ya vimos. No cubre ninguno de los diez riesgos, pero es el flujo central del negocio. Aquí encaja el software que estamos desarrollando.
La quinta, cuentas individuales y datos fuera de lo personal. La ley antifraude exige trazabilidad, y con la cuenta compartida no la hay. Y hay que sacar del móvil personal del encargado lo que es del negocio.
La sexta, wifi profesional: hoy hay un solo punto de acceso, en el almacén, y el datáfono pierde conexión. La séptima, las cámaras: grabador expuesto y sin cartel; hay que ponerlas conforme al RGPD.
La respuesta es un proyecto de implantación: rehacer la red en partes separadas, montar un servidor propio, poner los puestos de sala y cocina, y dejar copias y supervisión funcionando. Falta saber cómo comprobaremos que está bien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comprobaremos con ocho características medibles del proyecto.
Primera: sin internet se sigue tomando nota y enviando a cocina, gracias al servidor del local, y cobrando con tarjeta por la conexión móvil, el 4G, del datáfono. Hoy el datáfono trae 4G, pero va por el wifi.
Segunda: cuatro redes separadas, porque hoy el móvil de un cliente comparte red con la caja; desde la de invitados no se llega a ningún equipo del negocio. Tercera: HTTPS, la versión cifrada del protocolo de la web, entre puestos y servidor.
Cuarta: restaurar todo en menos de una hora desde una copia diaria verificada; hoy no hay ninguna. Quinta: un PIN, un código personal, por persona: hoy, con una cuenta compartida, nadie sabe quién anula. Sexta: cero euros por terminal o pantalla, el hueco de la competencia. Y otras dos: un SAI, para apagar con orden, y facilidad de uso.
Hay fechas que obligan, las de Verifactu que ya vimos: a Burglar King, como sociedad, le toca el primer plazo, el uno de enero de 2027.
Y otras obligaciones condicionan el diseño. El IVA, el impuesto sobre el valor añadido, al diez por ciento: tickets y facturas con numeración correlativa. El registro de jornada se puede hacer con el PIN de cada persona. Las pantallas de cocina, protegidas del calor y la grasa. Y el RGPD: el mínimo de datos personales.
Las ayudas, como Kit Digital, de Red.es, o las de la Generalitat Valenciana que gestiona el IVACE+i, su instituto de competitividad empresarial, dependen de convocatorias con fondos limitados. Por eso el presupuesto irá sin ellas. Y con eso, toca cerrar.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nos llevamos.
Burglar King es un caso típico: un negocio que funciona, en un sector de márgenes estrechos, con una tecnología acumulada sin diseño. Vemos tres problemas de fondo. Trabaja a ciegas: la comanda no entra en ningún sistema hasta el cobro. Guarda los datos del negocio en un equipo sin soporte, con el disco fallando y sin copias. Y comparte red con los móviles de los clientes y con un grabador expuesto en internet.
El entorno suma urgencia y oportunidad. Urgencia: Verifactu, el uno de enero de 2027, y renovar la caja por el fin de Windows 10. Oportunidad: hardware asequible y, con este proyecto, software sin cuotas por pantalla.
Como adelantamos con los riesgos, separar redes, cambiar contraseñas y hacer copias cuesta muy poco, aunque el sector apriete. Si no se ha hecho, no es por dinero: nadie en la empresa tiene el conocimiento ni el encargo. Falta alguien que diseñe la infraestructura y la deje funcionando sola.
Nuestro guion de trabajo prevé, del Reto 2 al 6: diseño, viabilidad, presupuesto con comparación a cinco años, documentación con plan de pruebas y plan de intervención. Se ajustará cuando salgan los enunciados. Pasamos 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el Reto 1. Las cifras y las fuentes que hemos citado están en el informe completo, con las referencias en formato APA, un modo habitual de citar fuentes, y la normativa publicada en el Boletín Oficial del Estado y en el Diario Oficial de la Unión Europea. Gracias por escucharnos. Ahora os toca a vosotros: preguntad lo que queráis.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72B"/>
        </a:solidFill>
      </p:bgPr>
    </p:bg>
    <p:spTree>
      <p:nvGrpSpPr>
        <p:cNvPr id="1" name=""/>
        <p:cNvGrpSpPr/>
        <p:nvPr/>
      </p:nvGrpSpPr>
      <p:grpSpPr>
        <a:xfrm>
          <a:off x="0" y="0"/>
          <a:ext cx="0" cy="0"/>
          <a:chOff x="0" y="0"/>
          <a:chExt cx="0" cy="0"/>
        </a:xfrm>
      </p:grpSpPr>
      <p:sp>
        <p:nvSpPr>
          <p:cNvPr id="2" name="Shape 0"/>
          <p:cNvSpPr/>
          <p:nvPr/>
        </p:nvSpPr>
        <p:spPr>
          <a:xfrm>
            <a:off x="548640" y="1097280"/>
            <a:ext cx="822960" cy="822960"/>
          </a:xfrm>
          <a:prstGeom prst="ellipse">
            <a:avLst/>
          </a:prstGeom>
          <a:solidFill>
            <a:srgbClr val="E67E22"/>
          </a:solidFill>
          <a:ln w="12700">
            <a:solidFill>
              <a:srgbClr val="E67E22"/>
            </a:solidFill>
            <a:prstDash val="solid"/>
          </a:ln>
        </p:spPr>
      </p:sp>
      <p:sp>
        <p:nvSpPr>
          <p:cNvPr id="3" name="Text 1"/>
          <p:cNvSpPr txBox="1"/>
          <p:nvPr/>
        </p:nvSpPr>
        <p:spPr>
          <a:xfrm>
            <a:off x="548640" y="1097280"/>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R1</a:t>
            </a:r>
            <a:endParaRPr lang="en-US" sz="2000" dirty="0"/>
          </a:p>
        </p:txBody>
      </p:sp>
      <p:sp>
        <p:nvSpPr>
          <p:cNvPr id="4" name="Text 2"/>
          <p:cNvSpPr txBox="1"/>
          <p:nvPr/>
        </p:nvSpPr>
        <p:spPr>
          <a:xfrm>
            <a:off x="548640" y="2194560"/>
            <a:ext cx="10058400" cy="1005840"/>
          </a:xfrm>
          <a:prstGeom prst="rect">
            <a:avLst/>
          </a:prstGeom>
          <a:noFill/>
          <a:ln/>
        </p:spPr>
        <p:txBody>
          <a:bodyPr wrap="square" lIns="0" tIns="0" rIns="0" bIns="0" rtlCol="0" anchor="t"/>
          <a:lstStyle/>
          <a:p>
            <a:pPr indent="0" marL="0">
              <a:buNone/>
            </a:pPr>
            <a:r>
              <a:rPr lang="en-US" sz="4800" b="1" dirty="0">
                <a:solidFill>
                  <a:srgbClr val="FFFFFF"/>
                </a:solidFill>
                <a:latin typeface="Arial" pitchFamily="34" charset="0"/>
                <a:ea typeface="Arial" pitchFamily="34" charset="-122"/>
                <a:cs typeface="Arial" pitchFamily="34" charset="-120"/>
              </a:rPr>
              <a:t>Lo que hay detrás de la barra</a:t>
            </a:r>
            <a:endParaRPr lang="en-US" sz="4800" dirty="0"/>
          </a:p>
        </p:txBody>
      </p:sp>
      <p:sp>
        <p:nvSpPr>
          <p:cNvPr id="5" name="Text 3"/>
          <p:cNvSpPr txBox="1"/>
          <p:nvPr/>
        </p:nvSpPr>
        <p:spPr>
          <a:xfrm>
            <a:off x="548640" y="3200400"/>
            <a:ext cx="10058400" cy="548640"/>
          </a:xfrm>
          <a:prstGeom prst="rect">
            <a:avLst/>
          </a:prstGeom>
          <a:noFill/>
          <a:ln/>
        </p:spPr>
        <p:txBody>
          <a:bodyPr wrap="square" lIns="0" tIns="0" rIns="0" bIns="0" rtlCol="0" anchor="t"/>
          <a:lstStyle/>
          <a:p>
            <a:pPr indent="0" marL="0">
              <a:buNone/>
            </a:pPr>
            <a:r>
              <a:rPr lang="en-US" sz="2400" dirty="0">
                <a:solidFill>
                  <a:srgbClr val="E67E22"/>
                </a:solidFill>
                <a:latin typeface="Arial" pitchFamily="34" charset="0"/>
                <a:ea typeface="Arial" pitchFamily="34" charset="-122"/>
                <a:cs typeface="Arial" pitchFamily="34" charset="-120"/>
              </a:rPr>
              <a:t>Análisis del contexto tecnológico de Burglar King</a:t>
            </a:r>
            <a:endParaRPr lang="en-US" sz="2400" dirty="0"/>
          </a:p>
        </p:txBody>
      </p:sp>
      <p:sp>
        <p:nvSpPr>
          <p:cNvPr id="6" name="Text 4"/>
          <p:cNvSpPr txBox="1"/>
          <p:nvPr/>
        </p:nvSpPr>
        <p:spPr>
          <a:xfrm>
            <a:off x="548640" y="5120640"/>
            <a:ext cx="10058400" cy="365760"/>
          </a:xfrm>
          <a:prstGeom prst="rect">
            <a:avLst/>
          </a:prstGeom>
          <a:noFill/>
          <a:ln/>
        </p:spPr>
        <p:txBody>
          <a:bodyPr wrap="square" lIns="0" tIns="0" rIns="0" bIns="0" rtlCol="0" anchor="t"/>
          <a:lstStyle/>
          <a:p>
            <a:pPr indent="0" marL="0">
              <a:buNone/>
            </a:pPr>
            <a:r>
              <a:rPr lang="en-US" sz="1600" dirty="0">
                <a:solidFill>
                  <a:srgbClr val="CCCCCC"/>
                </a:solidFill>
                <a:latin typeface="Arial" pitchFamily="34" charset="0"/>
                <a:ea typeface="Arial" pitchFamily="34" charset="-122"/>
                <a:cs typeface="Arial" pitchFamily="34" charset="-120"/>
              </a:rPr>
              <a:t>Reto 1 · Proyecto Intermodular I · 1.º CFGS ASIR · IES Conselleria</a:t>
            </a:r>
            <a:endParaRPr lang="en-US" sz="1600" dirty="0"/>
          </a:p>
        </p:txBody>
      </p:sp>
      <p:sp>
        <p:nvSpPr>
          <p:cNvPr id="7" name="Text 5"/>
          <p:cNvSpPr txBox="1"/>
          <p:nvPr/>
        </p:nvSpPr>
        <p:spPr>
          <a:xfrm>
            <a:off x="548640" y="5532120"/>
            <a:ext cx="10058400" cy="365760"/>
          </a:xfrm>
          <a:prstGeom prst="rect">
            <a:avLst/>
          </a:prstGeom>
          <a:noFill/>
          <a:ln/>
        </p:spPr>
        <p:txBody>
          <a:bodyPr wrap="square" lIns="0" tIns="0" rIns="0" bIns="0" rtlCol="0" anchor="t"/>
          <a:lstStyle/>
          <a:p>
            <a:pPr indent="0" marL="0">
              <a:buNone/>
            </a:pPr>
            <a:r>
              <a:rPr lang="en-US" sz="1600" dirty="0">
                <a:solidFill>
                  <a:srgbClr val="CCCCCC"/>
                </a:solidFill>
                <a:latin typeface="Arial" pitchFamily="34" charset="0"/>
                <a:ea typeface="Arial" pitchFamily="34" charset="-122"/>
                <a:cs typeface="Arial" pitchFamily="34" charset="-120"/>
              </a:rPr>
              <a:t>Riches Manuel y Roca ·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Burglar King: una hamburguesería de barrio</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2</a:t>
            </a:r>
            <a:endParaRPr lang="en-US" sz="1100" dirty="0"/>
          </a:p>
        </p:txBody>
      </p:sp>
      <p:sp>
        <p:nvSpPr>
          <p:cNvPr id="4" name="Shape 2"/>
          <p:cNvSpPr/>
          <p:nvPr/>
        </p:nvSpPr>
        <p:spPr>
          <a:xfrm>
            <a:off x="548640" y="1554480"/>
            <a:ext cx="2560320" cy="2377440"/>
          </a:xfrm>
          <a:prstGeom prst="roundRect">
            <a:avLst>
              <a:gd name="adj" fmla="val 4615"/>
            </a:avLst>
          </a:prstGeom>
          <a:solidFill>
            <a:srgbClr val="F4F4F4"/>
          </a:solidFill>
          <a:ln w="12700">
            <a:solidFill>
              <a:srgbClr val="F4F4F4"/>
            </a:solidFill>
            <a:prstDash val="solid"/>
          </a:ln>
        </p:spPr>
      </p:sp>
      <p:sp>
        <p:nvSpPr>
          <p:cNvPr id="5" name="Text 3"/>
          <p:cNvSpPr txBox="1"/>
          <p:nvPr/>
        </p:nvSpPr>
        <p:spPr>
          <a:xfrm>
            <a:off x="777240" y="1783080"/>
            <a:ext cx="2194560" cy="1005840"/>
          </a:xfrm>
          <a:prstGeom prst="rect">
            <a:avLst/>
          </a:prstGeom>
          <a:noFill/>
          <a:ln/>
        </p:spPr>
        <p:txBody>
          <a:bodyPr wrap="square" lIns="0" tIns="0" rIns="0" bIns="0" rtlCol="0" anchor="ctr"/>
          <a:lstStyle/>
          <a:p>
            <a:pPr indent="0" marL="0">
              <a:buNone/>
            </a:pPr>
            <a:r>
              <a:rPr lang="en-US" sz="5400" b="1" dirty="0">
                <a:solidFill>
                  <a:srgbClr val="E67E22"/>
                </a:solidFill>
                <a:latin typeface="Arial" pitchFamily="34" charset="0"/>
                <a:ea typeface="Arial" pitchFamily="34" charset="-122"/>
                <a:cs typeface="Arial" pitchFamily="34" charset="-120"/>
              </a:rPr>
              <a:t>13</a:t>
            </a:r>
            <a:endParaRPr lang="en-US" sz="5400" dirty="0"/>
          </a:p>
        </p:txBody>
      </p:sp>
      <p:sp>
        <p:nvSpPr>
          <p:cNvPr id="6" name="Text 4"/>
          <p:cNvSpPr txBox="1"/>
          <p:nvPr/>
        </p:nvSpPr>
        <p:spPr>
          <a:xfrm>
            <a:off x="77724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mesas en sala,</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terraza y barra</a:t>
            </a:r>
            <a:endParaRPr lang="en-US" sz="1600" dirty="0"/>
          </a:p>
        </p:txBody>
      </p:sp>
      <p:sp>
        <p:nvSpPr>
          <p:cNvPr id="7" name="Shape 5"/>
          <p:cNvSpPr/>
          <p:nvPr/>
        </p:nvSpPr>
        <p:spPr>
          <a:xfrm>
            <a:off x="3337560" y="1554480"/>
            <a:ext cx="2560320" cy="2377440"/>
          </a:xfrm>
          <a:prstGeom prst="roundRect">
            <a:avLst>
              <a:gd name="adj" fmla="val 4615"/>
            </a:avLst>
          </a:prstGeom>
          <a:solidFill>
            <a:srgbClr val="F4F4F4"/>
          </a:solidFill>
          <a:ln w="12700">
            <a:solidFill>
              <a:srgbClr val="F4F4F4"/>
            </a:solidFill>
            <a:prstDash val="solid"/>
          </a:ln>
        </p:spPr>
      </p:sp>
      <p:sp>
        <p:nvSpPr>
          <p:cNvPr id="8" name="Text 6"/>
          <p:cNvSpPr txBox="1"/>
          <p:nvPr/>
        </p:nvSpPr>
        <p:spPr>
          <a:xfrm>
            <a:off x="3566160" y="1783080"/>
            <a:ext cx="2194560" cy="1005840"/>
          </a:xfrm>
          <a:prstGeom prst="rect">
            <a:avLst/>
          </a:prstGeom>
          <a:noFill/>
          <a:ln/>
        </p:spPr>
        <p:txBody>
          <a:bodyPr wrap="square" lIns="0" tIns="0" rIns="0" bIns="0" rtlCol="0" anchor="ctr"/>
          <a:lstStyle/>
          <a:p>
            <a:pPr indent="0" marL="0">
              <a:buNone/>
            </a:pPr>
            <a:r>
              <a:rPr lang="en-US" sz="5400" b="1" dirty="0">
                <a:solidFill>
                  <a:srgbClr val="E67E22"/>
                </a:solidFill>
                <a:latin typeface="Arial" pitchFamily="34" charset="0"/>
                <a:ea typeface="Arial" pitchFamily="34" charset="-122"/>
                <a:cs typeface="Arial" pitchFamily="34" charset="-120"/>
              </a:rPr>
              <a:t>4</a:t>
            </a:r>
            <a:endParaRPr lang="en-US" sz="5400" dirty="0"/>
          </a:p>
        </p:txBody>
      </p:sp>
      <p:sp>
        <p:nvSpPr>
          <p:cNvPr id="9" name="Text 7"/>
          <p:cNvSpPr txBox="1"/>
          <p:nvPr/>
        </p:nvSpPr>
        <p:spPr>
          <a:xfrm>
            <a:off x="356616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personas en</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plantilla</a:t>
            </a:r>
            <a:endParaRPr lang="en-US" sz="1600" dirty="0"/>
          </a:p>
        </p:txBody>
      </p:sp>
      <p:sp>
        <p:nvSpPr>
          <p:cNvPr id="10" name="Shape 8"/>
          <p:cNvSpPr/>
          <p:nvPr/>
        </p:nvSpPr>
        <p:spPr>
          <a:xfrm>
            <a:off x="6126480" y="1554480"/>
            <a:ext cx="2560320" cy="2377440"/>
          </a:xfrm>
          <a:prstGeom prst="roundRect">
            <a:avLst>
              <a:gd name="adj" fmla="val 4615"/>
            </a:avLst>
          </a:prstGeom>
          <a:solidFill>
            <a:srgbClr val="F4F4F4"/>
          </a:solidFill>
          <a:ln w="12700">
            <a:solidFill>
              <a:srgbClr val="F4F4F4"/>
            </a:solidFill>
            <a:prstDash val="solid"/>
          </a:ln>
        </p:spPr>
      </p:sp>
      <p:sp>
        <p:nvSpPr>
          <p:cNvPr id="11" name="Text 9"/>
          <p:cNvSpPr txBox="1"/>
          <p:nvPr/>
        </p:nvSpPr>
        <p:spPr>
          <a:xfrm>
            <a:off x="6355080" y="1783080"/>
            <a:ext cx="2194560" cy="1005840"/>
          </a:xfrm>
          <a:prstGeom prst="rect">
            <a:avLst/>
          </a:prstGeom>
          <a:noFill/>
          <a:ln/>
        </p:spPr>
        <p:txBody>
          <a:bodyPr wrap="square" lIns="0" tIns="0" rIns="0" bIns="0" rtlCol="0" anchor="ctr"/>
          <a:lstStyle/>
          <a:p>
            <a:pPr indent="0" marL="0">
              <a:buNone/>
            </a:pPr>
            <a:r>
              <a:rPr lang="en-US" sz="3800" b="1" dirty="0">
                <a:solidFill>
                  <a:srgbClr val="E67E22"/>
                </a:solidFill>
                <a:latin typeface="Arial" pitchFamily="34" charset="0"/>
                <a:ea typeface="Arial" pitchFamily="34" charset="-122"/>
                <a:cs typeface="Arial" pitchFamily="34" charset="-120"/>
              </a:rPr>
              <a:t>15-25 €</a:t>
            </a:r>
            <a:endParaRPr lang="en-US" sz="3800" dirty="0"/>
          </a:p>
        </p:txBody>
      </p:sp>
      <p:sp>
        <p:nvSpPr>
          <p:cNvPr id="12" name="Text 10"/>
          <p:cNvSpPr txBox="1"/>
          <p:nvPr/>
        </p:nvSpPr>
        <p:spPr>
          <a:xfrm>
            <a:off x="635508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ticket medio</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por comensal</a:t>
            </a:r>
            <a:endParaRPr lang="en-US" sz="1600" dirty="0"/>
          </a:p>
        </p:txBody>
      </p:sp>
      <p:sp>
        <p:nvSpPr>
          <p:cNvPr id="13" name="Shape 11"/>
          <p:cNvSpPr/>
          <p:nvPr/>
        </p:nvSpPr>
        <p:spPr>
          <a:xfrm>
            <a:off x="8915400" y="1554480"/>
            <a:ext cx="2560320" cy="2377440"/>
          </a:xfrm>
          <a:prstGeom prst="roundRect">
            <a:avLst>
              <a:gd name="adj" fmla="val 4615"/>
            </a:avLst>
          </a:prstGeom>
          <a:solidFill>
            <a:srgbClr val="F4F4F4"/>
          </a:solidFill>
          <a:ln w="12700">
            <a:solidFill>
              <a:srgbClr val="F4F4F4"/>
            </a:solidFill>
            <a:prstDash val="solid"/>
          </a:ln>
        </p:spPr>
      </p:sp>
      <p:sp>
        <p:nvSpPr>
          <p:cNvPr id="14" name="Text 12"/>
          <p:cNvSpPr txBox="1"/>
          <p:nvPr/>
        </p:nvSpPr>
        <p:spPr>
          <a:xfrm>
            <a:off x="9144000" y="1783080"/>
            <a:ext cx="2194560" cy="1005840"/>
          </a:xfrm>
          <a:prstGeom prst="rect">
            <a:avLst/>
          </a:prstGeom>
          <a:noFill/>
          <a:ln/>
        </p:spPr>
        <p:txBody>
          <a:bodyPr wrap="square" lIns="0" tIns="0" rIns="0" bIns="0" rtlCol="0" anchor="ctr"/>
          <a:lstStyle/>
          <a:p>
            <a:pPr indent="0" marL="0">
              <a:buNone/>
            </a:pPr>
            <a:r>
              <a:rPr lang="en-US" sz="5400" b="1" dirty="0">
                <a:solidFill>
                  <a:srgbClr val="E67E22"/>
                </a:solidFill>
                <a:latin typeface="Arial" pitchFamily="34" charset="0"/>
                <a:ea typeface="Arial" pitchFamily="34" charset="-122"/>
                <a:cs typeface="Arial" pitchFamily="34" charset="-120"/>
              </a:rPr>
              <a:t>4</a:t>
            </a:r>
            <a:endParaRPr lang="en-US" sz="5400" dirty="0"/>
          </a:p>
        </p:txBody>
      </p:sp>
      <p:sp>
        <p:nvSpPr>
          <p:cNvPr id="15" name="Text 13"/>
          <p:cNvSpPr txBox="1"/>
          <p:nvPr/>
        </p:nvSpPr>
        <p:spPr>
          <a:xfrm>
            <a:off x="914400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canales: sala, barra,</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llevar y reparto</a:t>
            </a:r>
            <a:endParaRPr lang="en-US" sz="1600" dirty="0"/>
          </a:p>
        </p:txBody>
      </p:sp>
      <p:sp>
        <p:nvSpPr>
          <p:cNvPr id="16" name="Text 14"/>
          <p:cNvSpPr txBox="1"/>
          <p:nvPr/>
        </p:nvSpPr>
        <p:spPr>
          <a:xfrm>
            <a:off x="548640" y="4389120"/>
            <a:ext cx="10515600" cy="822960"/>
          </a:xfrm>
          <a:prstGeom prst="rect">
            <a:avLst/>
          </a:prstGeom>
          <a:noFill/>
          <a:ln/>
        </p:spPr>
        <p:txBody>
          <a:bodyPr wrap="square" lIns="0" tIns="0" rIns="0" bIns="0" rtlCol="0" anchor="t"/>
          <a:lstStyle/>
          <a:p>
            <a:pPr indent="0" marL="0">
              <a:buNone/>
            </a:pPr>
            <a:r>
              <a:rPr lang="en-US" sz="1800" b="1" dirty="0">
                <a:solidFill>
                  <a:srgbClr val="2B2B2B"/>
                </a:solidFill>
                <a:latin typeface="Arial" pitchFamily="34" charset="0"/>
                <a:ea typeface="Arial" pitchFamily="34" charset="-122"/>
                <a:cs typeface="Arial" pitchFamily="34" charset="-120"/>
              </a:rPr>
              <a:t>Burjassot (València), junto al campus universitario. </a:t>
            </a:r>
            <a:pPr indent="0" marL="0">
              <a:buNone/>
            </a:pPr>
            <a:r>
              <a:rPr lang="en-US" sz="1800" dirty="0">
                <a:solidFill>
                  <a:srgbClr val="2B2B2B"/>
                </a:solidFill>
                <a:latin typeface="Arial" pitchFamily="34" charset="0"/>
                <a:ea typeface="Arial" pitchFamily="34" charset="-122"/>
                <a:cs typeface="Arial" pitchFamily="34" charset="-120"/>
              </a:rPr>
              <a:t>Servicio concentrado en franjas cortas y mucho pedido para llevar: el peor escenario para el papel.</a:t>
            </a:r>
            <a:endParaRPr lang="en-US" sz="1800" dirty="0"/>
          </a:p>
        </p:txBody>
      </p:sp>
      <p:sp>
        <p:nvSpPr>
          <p:cNvPr id="17" name="Text 15"/>
          <p:cNvSpPr txBox="1"/>
          <p:nvPr/>
        </p:nvSpPr>
        <p:spPr>
          <a:xfrm>
            <a:off x="548640" y="5760720"/>
            <a:ext cx="10058400" cy="36576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Empresa ficticia (Burglar King Burjassot, S.L.), construida con datos reales del sector. Restauración independiente, CNAE 56.10.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Una persona lo concentra todo</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3</a:t>
            </a:r>
            <a:endParaRPr lang="en-US" sz="1100" dirty="0"/>
          </a:p>
        </p:txBody>
      </p:sp>
      <p:pic>
        <p:nvPicPr>
          <p:cNvPr id="4" name="Image 0" descr="/home/roca/.tmp_kds_marca/reto1/fig/organigrama.png">    </p:cNvPr>
          <p:cNvPicPr>
            <a:picLocks noChangeAspect="1"/>
          </p:cNvPicPr>
          <p:nvPr/>
        </p:nvPicPr>
        <p:blipFill>
          <a:blip r:embed="rId1"/>
          <a:stretch>
            <a:fillRect/>
          </a:stretch>
        </p:blipFill>
        <p:spPr>
          <a:xfrm>
            <a:off x="548640" y="1325880"/>
            <a:ext cx="6949440" cy="3300984"/>
          </a:xfrm>
          <a:prstGeom prst="rect">
            <a:avLst/>
          </a:prstGeom>
        </p:spPr>
      </p:pic>
      <p:sp>
        <p:nvSpPr>
          <p:cNvPr id="5" name="Shape 2"/>
          <p:cNvSpPr/>
          <p:nvPr/>
        </p:nvSpPr>
        <p:spPr>
          <a:xfrm>
            <a:off x="7955280" y="1463040"/>
            <a:ext cx="3657600" cy="3291840"/>
          </a:xfrm>
          <a:prstGeom prst="roundRect">
            <a:avLst>
              <a:gd name="adj" fmla="val 3333"/>
            </a:avLst>
          </a:prstGeom>
          <a:solidFill>
            <a:srgbClr val="FDEBD9"/>
          </a:solidFill>
          <a:ln w="12700">
            <a:solidFill>
              <a:srgbClr val="FDEBD9"/>
            </a:solidFill>
            <a:prstDash val="solid"/>
          </a:ln>
        </p:spPr>
      </p:sp>
      <p:sp>
        <p:nvSpPr>
          <p:cNvPr id="6" name="Text 3"/>
          <p:cNvSpPr txBox="1"/>
          <p:nvPr/>
        </p:nvSpPr>
        <p:spPr>
          <a:xfrm>
            <a:off x="8229600" y="1691640"/>
            <a:ext cx="3200400" cy="457200"/>
          </a:xfrm>
          <a:prstGeom prst="rect">
            <a:avLst/>
          </a:prstGeom>
          <a:noFill/>
          <a:ln/>
        </p:spPr>
        <p:txBody>
          <a:bodyPr wrap="square" lIns="0" tIns="0" rIns="0" bIns="0" rtlCol="0" anchor="t"/>
          <a:lstStyle/>
          <a:p>
            <a:pPr indent="0" marL="0">
              <a:buNone/>
            </a:pPr>
            <a:r>
              <a:rPr lang="en-US" sz="1800" b="1" dirty="0">
                <a:solidFill>
                  <a:srgbClr val="2B2B2B"/>
                </a:solidFill>
                <a:latin typeface="Arial" pitchFamily="34" charset="0"/>
                <a:ea typeface="Arial" pitchFamily="34" charset="-122"/>
                <a:cs typeface="Arial" pitchFamily="34" charset="-120"/>
              </a:rPr>
              <a:t>El encargado es…</a:t>
            </a:r>
            <a:endParaRPr lang="en-US" sz="1800" dirty="0"/>
          </a:p>
        </p:txBody>
      </p:sp>
      <p:sp>
        <p:nvSpPr>
          <p:cNvPr id="7" name="Text 4"/>
          <p:cNvSpPr txBox="1"/>
          <p:nvPr/>
        </p:nvSpPr>
        <p:spPr>
          <a:xfrm>
            <a:off x="8229600" y="2240280"/>
            <a:ext cx="3200400"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2B2B"/>
                </a:solidFill>
                <a:latin typeface="Arial" pitchFamily="34" charset="0"/>
                <a:ea typeface="Arial" pitchFamily="34" charset="-122"/>
                <a:cs typeface="Arial" pitchFamily="34" charset="-120"/>
              </a:rPr>
              <a:t>dirección y compras</a:t>
            </a:r>
            <a:endParaRPr lang="en-US" sz="1600" dirty="0"/>
          </a:p>
          <a:p>
            <a:pPr marL="342900" indent="-342900">
              <a:spcAft>
                <a:spcPts val="800"/>
              </a:spcAft>
              <a:buSzPct val="100000"/>
              <a:buChar char="•"/>
            </a:pPr>
            <a:r>
              <a:rPr lang="en-US" sz="1600" dirty="0">
                <a:solidFill>
                  <a:srgbClr val="2B2B2B"/>
                </a:solidFill>
                <a:latin typeface="Arial" pitchFamily="34" charset="0"/>
                <a:ea typeface="Arial" pitchFamily="34" charset="-122"/>
                <a:cs typeface="Arial" pitchFamily="34" charset="-120"/>
              </a:rPr>
              <a:t>caja y cierre del día</a:t>
            </a:r>
            <a:endParaRPr lang="en-US" sz="1600" dirty="0"/>
          </a:p>
          <a:p>
            <a:pPr marL="342900" indent="-342900">
              <a:spcAft>
                <a:spcPts val="800"/>
              </a:spcAft>
              <a:buSzPct val="100000"/>
              <a:buChar char="•"/>
            </a:pPr>
            <a:r>
              <a:rPr lang="en-US" sz="1600" dirty="0">
                <a:solidFill>
                  <a:srgbClr val="2B2B2B"/>
                </a:solidFill>
                <a:latin typeface="Arial" pitchFamily="34" charset="0"/>
                <a:ea typeface="Arial" pitchFamily="34" charset="-122"/>
                <a:cs typeface="Arial" pitchFamily="34" charset="-120"/>
              </a:rPr>
              <a:t>relación con la gestoría</a:t>
            </a:r>
            <a:endParaRPr lang="en-US" sz="1600" dirty="0"/>
          </a:p>
          <a:p>
            <a:pPr marL="342900" indent="-342900">
              <a:spcAft>
                <a:spcPts val="800"/>
              </a:spcAft>
              <a:buSzPct val="100000"/>
              <a:buChar char="•"/>
            </a:pPr>
            <a:r>
              <a:rPr lang="en-US" sz="1600" b="1" dirty="0">
                <a:solidFill>
                  <a:srgbClr val="2B2B2B"/>
                </a:solidFill>
                <a:latin typeface="Arial" pitchFamily="34" charset="0"/>
                <a:ea typeface="Arial" pitchFamily="34" charset="-122"/>
                <a:cs typeface="Arial" pitchFamily="34" charset="-120"/>
              </a:rPr>
              <a:t>y, sin quererlo, el informático</a:t>
            </a:r>
            <a:endParaRPr lang="en-US" sz="1600" dirty="0"/>
          </a:p>
        </p:txBody>
      </p:sp>
      <p:sp>
        <p:nvSpPr>
          <p:cNvPr id="8" name="Text 5"/>
          <p:cNvSpPr txBox="1"/>
          <p:nvPr/>
        </p:nvSpPr>
        <p:spPr>
          <a:xfrm>
            <a:off x="548640" y="5120640"/>
            <a:ext cx="10972800" cy="731520"/>
          </a:xfrm>
          <a:prstGeom prst="rect">
            <a:avLst/>
          </a:prstGeom>
          <a:noFill/>
          <a:ln/>
        </p:spPr>
        <p:txBody>
          <a:bodyPr wrap="square" lIns="0" tIns="0" rIns="0" bIns="0" rtlCol="0" anchor="t"/>
          <a:lstStyle/>
          <a:p>
            <a:pPr indent="0" marL="0">
              <a:buNone/>
            </a:pPr>
            <a:r>
              <a:rPr lang="en-US" sz="1800" i="1" dirty="0">
                <a:solidFill>
                  <a:srgbClr val="2B2B2B"/>
                </a:solidFill>
                <a:latin typeface="Arial" pitchFamily="34" charset="0"/>
                <a:ea typeface="Arial" pitchFamily="34" charset="-122"/>
                <a:cs typeface="Arial" pitchFamily="34" charset="-120"/>
              </a:rPr>
              <a:t>Si él falta, nadie sabe reiniciar el router ni recuperar la contraseña del TPV: un punto único de fallo humano.</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El dato llega cuando el cliente ya se va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4</a:t>
            </a:r>
            <a:endParaRPr lang="en-US" sz="1100" dirty="0"/>
          </a:p>
        </p:txBody>
      </p:sp>
      <p:pic>
        <p:nvPicPr>
          <p:cNvPr id="4" name="Image 0" descr="/home/roca/.tmp_kds_marca/reto1/fig/flujo_comanda.png">    </p:cNvPr>
          <p:cNvPicPr>
            <a:picLocks noChangeAspect="1"/>
          </p:cNvPicPr>
          <p:nvPr/>
        </p:nvPicPr>
        <p:blipFill>
          <a:blip r:embed="rId1"/>
          <a:stretch>
            <a:fillRect/>
          </a:stretch>
        </p:blipFill>
        <p:spPr>
          <a:xfrm>
            <a:off x="548640" y="1371600"/>
            <a:ext cx="11064240" cy="3872484"/>
          </a:xfrm>
          <a:prstGeom prst="rect">
            <a:avLst/>
          </a:prstGeom>
        </p:spPr>
      </p:pic>
      <p:sp>
        <p:nvSpPr>
          <p:cNvPr id="5" name="Shape 2"/>
          <p:cNvSpPr/>
          <p:nvPr/>
        </p:nvSpPr>
        <p:spPr>
          <a:xfrm>
            <a:off x="548640" y="5349240"/>
            <a:ext cx="11064240" cy="822960"/>
          </a:xfrm>
          <a:prstGeom prst="roundRect">
            <a:avLst>
              <a:gd name="adj" fmla="val 13333"/>
            </a:avLst>
          </a:prstGeom>
          <a:solidFill>
            <a:srgbClr val="23272B"/>
          </a:solidFill>
          <a:ln w="12700">
            <a:solidFill>
              <a:srgbClr val="23272B"/>
            </a:solidFill>
            <a:prstDash val="solid"/>
          </a:ln>
        </p:spPr>
      </p:sp>
      <p:sp>
        <p:nvSpPr>
          <p:cNvPr id="6" name="Text 3"/>
          <p:cNvSpPr txBox="1"/>
          <p:nvPr/>
        </p:nvSpPr>
        <p:spPr>
          <a:xfrm>
            <a:off x="822960" y="5349240"/>
            <a:ext cx="10515600" cy="8229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Durante el servicio, el local trabaja a ciegas: no sabe qué mesa espera ni cuánto tarda la cocina.</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Inventario: lo que hay, sin diseño</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5</a:t>
            </a:r>
            <a:endParaRPr lang="en-US" sz="1100" dirty="0"/>
          </a:p>
        </p:txBody>
      </p:sp>
      <p:sp>
        <p:nvSpPr>
          <p:cNvPr id="4" name="Shape 2"/>
          <p:cNvSpPr/>
          <p:nvPr/>
        </p:nvSpPr>
        <p:spPr>
          <a:xfrm>
            <a:off x="548640" y="1463040"/>
            <a:ext cx="3474720" cy="1965960"/>
          </a:xfrm>
          <a:prstGeom prst="roundRect">
            <a:avLst>
              <a:gd name="adj" fmla="val 5581"/>
            </a:avLst>
          </a:prstGeom>
          <a:solidFill>
            <a:srgbClr val="F4F4F4"/>
          </a:solidFill>
          <a:ln w="12700">
            <a:solidFill>
              <a:srgbClr val="F4F4F4"/>
            </a:solidFill>
            <a:prstDash val="solid"/>
          </a:ln>
        </p:spPr>
      </p:sp>
      <p:sp>
        <p:nvSpPr>
          <p:cNvPr id="5" name="Shape 3"/>
          <p:cNvSpPr/>
          <p:nvPr/>
        </p:nvSpPr>
        <p:spPr>
          <a:xfrm>
            <a:off x="822960" y="1737360"/>
            <a:ext cx="548640" cy="548640"/>
          </a:xfrm>
          <a:prstGeom prst="ellipse">
            <a:avLst/>
          </a:prstGeom>
          <a:solidFill>
            <a:srgbClr val="E67E22"/>
          </a:solidFill>
          <a:ln w="12700">
            <a:solidFill>
              <a:srgbClr val="E67E22"/>
            </a:solidFill>
            <a:prstDash val="solid"/>
          </a:ln>
        </p:spPr>
      </p:sp>
      <p:sp>
        <p:nvSpPr>
          <p:cNvPr id="6" name="Text 4"/>
          <p:cNvSpPr txBox="1"/>
          <p:nvPr/>
        </p:nvSpPr>
        <p:spPr>
          <a:xfrm>
            <a:off x="82296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508760" y="175564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PC del TPV</a:t>
            </a:r>
            <a:endParaRPr lang="en-US" sz="1800" dirty="0"/>
          </a:p>
        </p:txBody>
      </p:sp>
      <p:sp>
        <p:nvSpPr>
          <p:cNvPr id="8" name="Text 6"/>
          <p:cNvSpPr txBox="1"/>
          <p:nvPr/>
        </p:nvSpPr>
        <p:spPr>
          <a:xfrm>
            <a:off x="822960" y="246888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2015 · Celeron · 4 GB · disco mecánico con sectores dañados</a:t>
            </a:r>
            <a:endParaRPr lang="en-US" sz="1500" dirty="0"/>
          </a:p>
        </p:txBody>
      </p:sp>
      <p:sp>
        <p:nvSpPr>
          <p:cNvPr id="9" name="Shape 7"/>
          <p:cNvSpPr/>
          <p:nvPr/>
        </p:nvSpPr>
        <p:spPr>
          <a:xfrm>
            <a:off x="4297680" y="1463040"/>
            <a:ext cx="3474720" cy="1965960"/>
          </a:xfrm>
          <a:prstGeom prst="roundRect">
            <a:avLst>
              <a:gd name="adj" fmla="val 5581"/>
            </a:avLst>
          </a:prstGeom>
          <a:solidFill>
            <a:srgbClr val="F4F4F4"/>
          </a:solidFill>
          <a:ln w="12700">
            <a:solidFill>
              <a:srgbClr val="F4F4F4"/>
            </a:solidFill>
            <a:prstDash val="solid"/>
          </a:ln>
        </p:spPr>
      </p:sp>
      <p:sp>
        <p:nvSpPr>
          <p:cNvPr id="10" name="Shape 8"/>
          <p:cNvSpPr/>
          <p:nvPr/>
        </p:nvSpPr>
        <p:spPr>
          <a:xfrm>
            <a:off x="4572000" y="1737360"/>
            <a:ext cx="548640" cy="548640"/>
          </a:xfrm>
          <a:prstGeom prst="ellipse">
            <a:avLst/>
          </a:prstGeom>
          <a:solidFill>
            <a:srgbClr val="E67E22"/>
          </a:solidFill>
          <a:ln w="12700">
            <a:solidFill>
              <a:srgbClr val="E67E22"/>
            </a:solidFill>
            <a:prstDash val="solid"/>
          </a:ln>
        </p:spPr>
      </p:sp>
      <p:sp>
        <p:nvSpPr>
          <p:cNvPr id="11" name="Text 9"/>
          <p:cNvSpPr txBox="1"/>
          <p:nvPr/>
        </p:nvSpPr>
        <p:spPr>
          <a:xfrm>
            <a:off x="457200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5257800" y="175564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Sin SAI</a:t>
            </a:r>
            <a:endParaRPr lang="en-US" sz="1800" dirty="0"/>
          </a:p>
        </p:txBody>
      </p:sp>
      <p:sp>
        <p:nvSpPr>
          <p:cNvPr id="13" name="Text 11"/>
          <p:cNvSpPr txBox="1"/>
          <p:nvPr/>
        </p:nvSpPr>
        <p:spPr>
          <a:xfrm>
            <a:off x="4572000" y="246888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un corte de luz apaga la caja de golpe</a:t>
            </a:r>
            <a:endParaRPr lang="en-US" sz="1500" dirty="0"/>
          </a:p>
        </p:txBody>
      </p:sp>
      <p:sp>
        <p:nvSpPr>
          <p:cNvPr id="14" name="Shape 12"/>
          <p:cNvSpPr/>
          <p:nvPr/>
        </p:nvSpPr>
        <p:spPr>
          <a:xfrm>
            <a:off x="8046720" y="1463040"/>
            <a:ext cx="3474720" cy="1965960"/>
          </a:xfrm>
          <a:prstGeom prst="roundRect">
            <a:avLst>
              <a:gd name="adj" fmla="val 5581"/>
            </a:avLst>
          </a:prstGeom>
          <a:solidFill>
            <a:srgbClr val="F4F4F4"/>
          </a:solidFill>
          <a:ln w="12700">
            <a:solidFill>
              <a:srgbClr val="F4F4F4"/>
            </a:solidFill>
            <a:prstDash val="solid"/>
          </a:ln>
        </p:spPr>
      </p:sp>
      <p:sp>
        <p:nvSpPr>
          <p:cNvPr id="15" name="Shape 13"/>
          <p:cNvSpPr/>
          <p:nvPr/>
        </p:nvSpPr>
        <p:spPr>
          <a:xfrm>
            <a:off x="8321040" y="1737360"/>
            <a:ext cx="548640" cy="548640"/>
          </a:xfrm>
          <a:prstGeom prst="ellipse">
            <a:avLst/>
          </a:prstGeom>
          <a:solidFill>
            <a:srgbClr val="E67E22"/>
          </a:solidFill>
          <a:ln w="12700">
            <a:solidFill>
              <a:srgbClr val="E67E22"/>
            </a:solidFill>
            <a:prstDash val="solid"/>
          </a:ln>
        </p:spPr>
      </p:sp>
      <p:sp>
        <p:nvSpPr>
          <p:cNvPr id="16" name="Text 14"/>
          <p:cNvSpPr txBox="1"/>
          <p:nvPr/>
        </p:nvSpPr>
        <p:spPr>
          <a:xfrm>
            <a:off x="832104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006840" y="175564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Router de la operadora</a:t>
            </a:r>
            <a:endParaRPr lang="en-US" sz="1800" dirty="0"/>
          </a:p>
        </p:txBody>
      </p:sp>
      <p:sp>
        <p:nvSpPr>
          <p:cNvPr id="18" name="Text 16"/>
          <p:cNvSpPr txBox="1"/>
          <p:nvPr/>
        </p:nvSpPr>
        <p:spPr>
          <a:xfrm>
            <a:off x="8321040" y="246888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en una balda del almacén, junto a la cámara frigorífica</a:t>
            </a:r>
            <a:endParaRPr lang="en-US" sz="1500" dirty="0"/>
          </a:p>
        </p:txBody>
      </p:sp>
      <p:sp>
        <p:nvSpPr>
          <p:cNvPr id="19" name="Shape 17"/>
          <p:cNvSpPr/>
          <p:nvPr/>
        </p:nvSpPr>
        <p:spPr>
          <a:xfrm>
            <a:off x="548640" y="3703320"/>
            <a:ext cx="3474720" cy="1965960"/>
          </a:xfrm>
          <a:prstGeom prst="roundRect">
            <a:avLst>
              <a:gd name="adj" fmla="val 5581"/>
            </a:avLst>
          </a:prstGeom>
          <a:solidFill>
            <a:srgbClr val="F4F4F4"/>
          </a:solidFill>
          <a:ln w="12700">
            <a:solidFill>
              <a:srgbClr val="F4F4F4"/>
            </a:solidFill>
            <a:prstDash val="solid"/>
          </a:ln>
        </p:spPr>
      </p:sp>
      <p:sp>
        <p:nvSpPr>
          <p:cNvPr id="20" name="Shape 18"/>
          <p:cNvSpPr/>
          <p:nvPr/>
        </p:nvSpPr>
        <p:spPr>
          <a:xfrm>
            <a:off x="822960" y="3977640"/>
            <a:ext cx="548640" cy="548640"/>
          </a:xfrm>
          <a:prstGeom prst="ellipse">
            <a:avLst/>
          </a:prstGeom>
          <a:solidFill>
            <a:srgbClr val="E67E22"/>
          </a:solidFill>
          <a:ln w="12700">
            <a:solidFill>
              <a:srgbClr val="E67E22"/>
            </a:solidFill>
            <a:prstDash val="solid"/>
          </a:ln>
        </p:spPr>
      </p:sp>
      <p:sp>
        <p:nvSpPr>
          <p:cNvPr id="21" name="Text 19"/>
          <p:cNvSpPr txBox="1"/>
          <p:nvPr/>
        </p:nvSpPr>
        <p:spPr>
          <a:xfrm>
            <a:off x="822960" y="3977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1508760" y="399592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Grabador de vídeo</a:t>
            </a:r>
            <a:endParaRPr lang="en-US" sz="1800" dirty="0"/>
          </a:p>
        </p:txBody>
      </p:sp>
      <p:sp>
        <p:nvSpPr>
          <p:cNvPr id="23" name="Text 21"/>
          <p:cNvSpPr txBox="1"/>
          <p:nvPr/>
        </p:nvSpPr>
        <p:spPr>
          <a:xfrm>
            <a:off x="822960" y="470916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firmware de 2019 y contraseña de fábrica</a:t>
            </a:r>
            <a:endParaRPr lang="en-US" sz="1500" dirty="0"/>
          </a:p>
        </p:txBody>
      </p:sp>
      <p:sp>
        <p:nvSpPr>
          <p:cNvPr id="24" name="Shape 22"/>
          <p:cNvSpPr/>
          <p:nvPr/>
        </p:nvSpPr>
        <p:spPr>
          <a:xfrm>
            <a:off x="4297680" y="3703320"/>
            <a:ext cx="3474720" cy="1965960"/>
          </a:xfrm>
          <a:prstGeom prst="roundRect">
            <a:avLst>
              <a:gd name="adj" fmla="val 5581"/>
            </a:avLst>
          </a:prstGeom>
          <a:solidFill>
            <a:srgbClr val="F4F4F4"/>
          </a:solidFill>
          <a:ln w="12700">
            <a:solidFill>
              <a:srgbClr val="F4F4F4"/>
            </a:solidFill>
            <a:prstDash val="solid"/>
          </a:ln>
        </p:spPr>
      </p:sp>
      <p:sp>
        <p:nvSpPr>
          <p:cNvPr id="25" name="Shape 23"/>
          <p:cNvSpPr/>
          <p:nvPr/>
        </p:nvSpPr>
        <p:spPr>
          <a:xfrm>
            <a:off x="4572000" y="3977640"/>
            <a:ext cx="548640" cy="548640"/>
          </a:xfrm>
          <a:prstGeom prst="ellipse">
            <a:avLst/>
          </a:prstGeom>
          <a:solidFill>
            <a:srgbClr val="E67E22"/>
          </a:solidFill>
          <a:ln w="12700">
            <a:solidFill>
              <a:srgbClr val="E67E22"/>
            </a:solidFill>
            <a:prstDash val="solid"/>
          </a:ln>
        </p:spPr>
      </p:sp>
      <p:sp>
        <p:nvSpPr>
          <p:cNvPr id="26" name="Text 24"/>
          <p:cNvSpPr txBox="1"/>
          <p:nvPr/>
        </p:nvSpPr>
        <p:spPr>
          <a:xfrm>
            <a:off x="4572000" y="3977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7" name="Text 25"/>
          <p:cNvSpPr txBox="1"/>
          <p:nvPr/>
        </p:nvSpPr>
        <p:spPr>
          <a:xfrm>
            <a:off x="5257800" y="399592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Tableta de reparto</a:t>
            </a:r>
            <a:endParaRPr lang="en-US" sz="1800" dirty="0"/>
          </a:p>
        </p:txBody>
      </p:sp>
      <p:sp>
        <p:nvSpPr>
          <p:cNvPr id="28" name="Text 26"/>
          <p:cNvSpPr txBox="1"/>
          <p:nvPr/>
        </p:nvSpPr>
        <p:spPr>
          <a:xfrm>
            <a:off x="4572000" y="470916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Android 9, siempre enchufada</a:t>
            </a:r>
            <a:endParaRPr lang="en-US" sz="1500" dirty="0"/>
          </a:p>
        </p:txBody>
      </p:sp>
      <p:sp>
        <p:nvSpPr>
          <p:cNvPr id="29" name="Shape 27"/>
          <p:cNvSpPr/>
          <p:nvPr/>
        </p:nvSpPr>
        <p:spPr>
          <a:xfrm>
            <a:off x="8046720" y="3703320"/>
            <a:ext cx="3474720" cy="1965960"/>
          </a:xfrm>
          <a:prstGeom prst="roundRect">
            <a:avLst>
              <a:gd name="adj" fmla="val 5581"/>
            </a:avLst>
          </a:prstGeom>
          <a:solidFill>
            <a:srgbClr val="F4F4F4"/>
          </a:solidFill>
          <a:ln w="12700">
            <a:solidFill>
              <a:srgbClr val="F4F4F4"/>
            </a:solidFill>
            <a:prstDash val="solid"/>
          </a:ln>
        </p:spPr>
      </p:sp>
      <p:sp>
        <p:nvSpPr>
          <p:cNvPr id="30" name="Shape 28"/>
          <p:cNvSpPr/>
          <p:nvPr/>
        </p:nvSpPr>
        <p:spPr>
          <a:xfrm>
            <a:off x="8321040" y="3977640"/>
            <a:ext cx="548640" cy="548640"/>
          </a:xfrm>
          <a:prstGeom prst="ellipse">
            <a:avLst/>
          </a:prstGeom>
          <a:solidFill>
            <a:srgbClr val="E67E22"/>
          </a:solidFill>
          <a:ln w="12700">
            <a:solidFill>
              <a:srgbClr val="E67E22"/>
            </a:solidFill>
            <a:prstDash val="solid"/>
          </a:ln>
        </p:spPr>
      </p:sp>
      <p:sp>
        <p:nvSpPr>
          <p:cNvPr id="31" name="Text 29"/>
          <p:cNvSpPr txBox="1"/>
          <p:nvPr/>
        </p:nvSpPr>
        <p:spPr>
          <a:xfrm>
            <a:off x="8321040" y="3977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2" name="Text 30"/>
          <p:cNvSpPr txBox="1"/>
          <p:nvPr/>
        </p:nvSpPr>
        <p:spPr>
          <a:xfrm>
            <a:off x="9006840" y="399592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Portátil y móviles</a:t>
            </a:r>
            <a:endParaRPr lang="en-US" sz="1800" dirty="0"/>
          </a:p>
        </p:txBody>
      </p:sp>
      <p:sp>
        <p:nvSpPr>
          <p:cNvPr id="33" name="Text 31"/>
          <p:cNvSpPr txBox="1"/>
          <p:nvPr/>
        </p:nvSpPr>
        <p:spPr>
          <a:xfrm>
            <a:off x="8321040" y="470916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personales: el negocio vive en cuentas privadas</a:t>
            </a:r>
            <a:endParaRPr lang="en-US" sz="1500" dirty="0"/>
          </a:p>
        </p:txBody>
      </p:sp>
      <p:sp>
        <p:nvSpPr>
          <p:cNvPr id="34" name="Text 32"/>
          <p:cNvSpPr txBox="1"/>
          <p:nvPr/>
        </p:nvSpPr>
        <p:spPr>
          <a:xfrm>
            <a:off x="548640" y="6035040"/>
            <a:ext cx="73152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Equipos y estados del escenario ficticio.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Una sola red para todo y para todos</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6</a:t>
            </a:r>
            <a:endParaRPr lang="en-US" sz="1100" dirty="0"/>
          </a:p>
        </p:txBody>
      </p:sp>
      <p:pic>
        <p:nvPicPr>
          <p:cNvPr id="4" name="Image 0" descr="/home/roca/.tmp_kds_marca/reto1/fig/red_actual.png">    </p:cNvPr>
          <p:cNvPicPr>
            <a:picLocks noChangeAspect="1"/>
          </p:cNvPicPr>
          <p:nvPr/>
        </p:nvPicPr>
        <p:blipFill>
          <a:blip r:embed="rId1"/>
          <a:stretch>
            <a:fillRect/>
          </a:stretch>
        </p:blipFill>
        <p:spPr>
          <a:xfrm>
            <a:off x="548640" y="1234440"/>
            <a:ext cx="6766560" cy="4398264"/>
          </a:xfrm>
          <a:prstGeom prst="rect">
            <a:avLst/>
          </a:prstGeom>
        </p:spPr>
      </p:pic>
      <p:sp>
        <p:nvSpPr>
          <p:cNvPr id="5" name="Shape 2"/>
          <p:cNvSpPr/>
          <p:nvPr/>
        </p:nvSpPr>
        <p:spPr>
          <a:xfrm>
            <a:off x="7772400" y="1463040"/>
            <a:ext cx="548640" cy="548640"/>
          </a:xfrm>
          <a:prstGeom prst="ellipse">
            <a:avLst/>
          </a:prstGeom>
          <a:solidFill>
            <a:srgbClr val="C0392B"/>
          </a:solidFill>
          <a:ln w="12700">
            <a:solidFill>
              <a:srgbClr val="C0392B"/>
            </a:solidFill>
            <a:prstDash val="solid"/>
          </a:ln>
        </p:spPr>
      </p:sp>
      <p:sp>
        <p:nvSpPr>
          <p:cNvPr id="6" name="Text 3"/>
          <p:cNvSpPr txBox="1"/>
          <p:nvPr/>
        </p:nvSpPr>
        <p:spPr>
          <a:xfrm>
            <a:off x="7772400" y="14630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4"/>
          <p:cNvSpPr txBox="1"/>
          <p:nvPr/>
        </p:nvSpPr>
        <p:spPr>
          <a:xfrm>
            <a:off x="8503920" y="1417320"/>
            <a:ext cx="3200400" cy="118872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Los móviles de los clientes están en la misma red que la caja, el datáfono y las cámaras.</a:t>
            </a:r>
            <a:endParaRPr lang="en-US" sz="1600" dirty="0"/>
          </a:p>
        </p:txBody>
      </p:sp>
      <p:sp>
        <p:nvSpPr>
          <p:cNvPr id="8" name="Shape 5"/>
          <p:cNvSpPr/>
          <p:nvPr/>
        </p:nvSpPr>
        <p:spPr>
          <a:xfrm>
            <a:off x="7772400" y="2926080"/>
            <a:ext cx="548640" cy="548640"/>
          </a:xfrm>
          <a:prstGeom prst="ellipse">
            <a:avLst/>
          </a:prstGeom>
          <a:solidFill>
            <a:srgbClr val="C0392B"/>
          </a:solidFill>
          <a:ln w="12700">
            <a:solidFill>
              <a:srgbClr val="C0392B"/>
            </a:solidFill>
            <a:prstDash val="solid"/>
          </a:ln>
        </p:spPr>
      </p:sp>
      <p:sp>
        <p:nvSpPr>
          <p:cNvPr id="9" name="Text 6"/>
          <p:cNvSpPr txBox="1"/>
          <p:nvPr/>
        </p:nvSpPr>
        <p:spPr>
          <a:xfrm>
            <a:off x="7772400" y="2926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7"/>
          <p:cNvSpPr txBox="1"/>
          <p:nvPr/>
        </p:nvSpPr>
        <p:spPr>
          <a:xfrm>
            <a:off x="8503920" y="2880360"/>
            <a:ext cx="3200400" cy="118872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La clave del wifi está en la pizarra y la del router, en su etiqueta.</a:t>
            </a:r>
            <a:endParaRPr lang="en-US" sz="1600" dirty="0"/>
          </a:p>
        </p:txBody>
      </p:sp>
      <p:sp>
        <p:nvSpPr>
          <p:cNvPr id="11" name="Shape 8"/>
          <p:cNvSpPr/>
          <p:nvPr/>
        </p:nvSpPr>
        <p:spPr>
          <a:xfrm>
            <a:off x="7772400" y="4389120"/>
            <a:ext cx="548640" cy="548640"/>
          </a:xfrm>
          <a:prstGeom prst="ellipse">
            <a:avLst/>
          </a:prstGeom>
          <a:solidFill>
            <a:srgbClr val="C0392B"/>
          </a:solidFill>
          <a:ln w="12700">
            <a:solidFill>
              <a:srgbClr val="C0392B"/>
            </a:solidFill>
            <a:prstDash val="solid"/>
          </a:ln>
        </p:spPr>
      </p:sp>
      <p:sp>
        <p:nvSpPr>
          <p:cNvPr id="12" name="Text 9"/>
          <p:cNvSpPr txBox="1"/>
          <p:nvPr/>
        </p:nvSpPr>
        <p:spPr>
          <a:xfrm>
            <a:off x="7772400" y="43891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3" name="Text 10"/>
          <p:cNvSpPr txBox="1"/>
          <p:nvPr/>
        </p:nvSpPr>
        <p:spPr>
          <a:xfrm>
            <a:off x="8503920" y="4343400"/>
            <a:ext cx="3200400" cy="118872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El grabador se ve desde internet por un puerto abierto.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La caja funciona con un sistema sin soporte</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7</a:t>
            </a:r>
            <a:endParaRPr lang="en-US" sz="1100" dirty="0"/>
          </a:p>
        </p:txBody>
      </p:sp>
      <p:sp>
        <p:nvSpPr>
          <p:cNvPr id="4" name="Text 2"/>
          <p:cNvSpPr txBox="1"/>
          <p:nvPr/>
        </p:nvSpPr>
        <p:spPr>
          <a:xfrm>
            <a:off x="548640" y="1554480"/>
            <a:ext cx="5486400" cy="1188720"/>
          </a:xfrm>
          <a:prstGeom prst="rect">
            <a:avLst/>
          </a:prstGeom>
          <a:noFill/>
          <a:ln/>
        </p:spPr>
        <p:txBody>
          <a:bodyPr wrap="square" lIns="0" tIns="0" rIns="0" bIns="0" rtlCol="0" anchor="t"/>
          <a:lstStyle/>
          <a:p>
            <a:pPr indent="0" marL="0">
              <a:buNone/>
            </a:pPr>
            <a:r>
              <a:rPr lang="en-US" sz="6600" b="1" dirty="0">
                <a:solidFill>
                  <a:srgbClr val="E67E22"/>
                </a:solidFill>
                <a:latin typeface="Arial" pitchFamily="34" charset="0"/>
                <a:ea typeface="Arial" pitchFamily="34" charset="-122"/>
                <a:cs typeface="Arial" pitchFamily="34" charset="-120"/>
              </a:rPr>
              <a:t>14/10/2025</a:t>
            </a:r>
            <a:endParaRPr lang="en-US" sz="6600" dirty="0"/>
          </a:p>
        </p:txBody>
      </p:sp>
      <p:sp>
        <p:nvSpPr>
          <p:cNvPr id="5" name="Text 3"/>
          <p:cNvSpPr txBox="1"/>
          <p:nvPr/>
        </p:nvSpPr>
        <p:spPr>
          <a:xfrm>
            <a:off x="548640" y="2834640"/>
            <a:ext cx="5212080" cy="1280160"/>
          </a:xfrm>
          <a:prstGeom prst="rect">
            <a:avLst/>
          </a:prstGeom>
          <a:noFill/>
          <a:ln/>
        </p:spPr>
        <p:txBody>
          <a:bodyPr wrap="square" lIns="0" tIns="0" rIns="0" bIns="0" rtlCol="0" anchor="t"/>
          <a:lstStyle/>
          <a:p>
            <a:pPr indent="0" marL="0">
              <a:buNone/>
            </a:pPr>
            <a:r>
              <a:rPr lang="en-US" sz="1800" dirty="0">
                <a:solidFill>
                  <a:srgbClr val="2B2B2B"/>
                </a:solidFill>
                <a:latin typeface="Arial" pitchFamily="34" charset="0"/>
                <a:ea typeface="Arial" pitchFamily="34" charset="-122"/>
                <a:cs typeface="Arial" pitchFamily="34" charset="-120"/>
              </a:rPr>
              <a:t>fin del soporte de Windows 10, el sistema del PC del TPV. Su procesador no admite Windows 11: hay que sustituirlo o cambiar de sistema.</a:t>
            </a:r>
            <a:endParaRPr lang="en-US" sz="1800" dirty="0"/>
          </a:p>
        </p:txBody>
      </p:sp>
      <p:sp>
        <p:nvSpPr>
          <p:cNvPr id="6" name="Text 4"/>
          <p:cNvSpPr txBox="1"/>
          <p:nvPr/>
        </p:nvSpPr>
        <p:spPr>
          <a:xfrm>
            <a:off x="548640" y="4206240"/>
            <a:ext cx="45720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Fuente: Microsoft (2025).</a:t>
            </a:r>
            <a:endParaRPr lang="en-US" sz="1200" dirty="0"/>
          </a:p>
        </p:txBody>
      </p:sp>
      <p:sp>
        <p:nvSpPr>
          <p:cNvPr id="7" name="Shape 5"/>
          <p:cNvSpPr/>
          <p:nvPr/>
        </p:nvSpPr>
        <p:spPr>
          <a:xfrm>
            <a:off x="6400800" y="1554480"/>
            <a:ext cx="5212080" cy="914400"/>
          </a:xfrm>
          <a:prstGeom prst="roundRect">
            <a:avLst>
              <a:gd name="adj" fmla="val 12000"/>
            </a:avLst>
          </a:prstGeom>
          <a:solidFill>
            <a:srgbClr val="F4F4F4"/>
          </a:solidFill>
          <a:ln w="12700">
            <a:solidFill>
              <a:srgbClr val="F4F4F4"/>
            </a:solidFill>
            <a:prstDash val="solid"/>
          </a:ln>
        </p:spPr>
      </p:sp>
      <p:sp>
        <p:nvSpPr>
          <p:cNvPr id="8" name="Text 6"/>
          <p:cNvSpPr txBox="1"/>
          <p:nvPr/>
        </p:nvSpPr>
        <p:spPr>
          <a:xfrm>
            <a:off x="6629400" y="155448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Windows 11 Home</a:t>
            </a:r>
            <a:endParaRPr lang="en-US" sz="1600" dirty="0"/>
          </a:p>
        </p:txBody>
      </p:sp>
      <p:sp>
        <p:nvSpPr>
          <p:cNvPr id="9" name="Text 7"/>
          <p:cNvSpPr txBox="1"/>
          <p:nvPr/>
        </p:nvSpPr>
        <p:spPr>
          <a:xfrm>
            <a:off x="8778240" y="155448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no puede unirse a un dominio ni cifrar con BitLocker</a:t>
            </a:r>
            <a:endParaRPr lang="en-US" sz="1400" dirty="0"/>
          </a:p>
        </p:txBody>
      </p:sp>
      <p:sp>
        <p:nvSpPr>
          <p:cNvPr id="10" name="Shape 8"/>
          <p:cNvSpPr/>
          <p:nvPr/>
        </p:nvSpPr>
        <p:spPr>
          <a:xfrm>
            <a:off x="6400800" y="2651760"/>
            <a:ext cx="5212080" cy="914400"/>
          </a:xfrm>
          <a:prstGeom prst="roundRect">
            <a:avLst>
              <a:gd name="adj" fmla="val 12000"/>
            </a:avLst>
          </a:prstGeom>
          <a:solidFill>
            <a:srgbClr val="F4F4F4"/>
          </a:solidFill>
          <a:ln w="12700">
            <a:solidFill>
              <a:srgbClr val="F4F4F4"/>
            </a:solidFill>
            <a:prstDash val="solid"/>
          </a:ln>
        </p:spPr>
      </p:sp>
      <p:sp>
        <p:nvSpPr>
          <p:cNvPr id="11" name="Text 9"/>
          <p:cNvSpPr txBox="1"/>
          <p:nvPr/>
        </p:nvSpPr>
        <p:spPr>
          <a:xfrm>
            <a:off x="6629400" y="265176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Android 9</a:t>
            </a:r>
            <a:endParaRPr lang="en-US" sz="1600" dirty="0"/>
          </a:p>
        </p:txBody>
      </p:sp>
      <p:sp>
        <p:nvSpPr>
          <p:cNvPr id="12" name="Text 10"/>
          <p:cNvSpPr txBox="1"/>
          <p:nvPr/>
        </p:nvSpPr>
        <p:spPr>
          <a:xfrm>
            <a:off x="8778240" y="265176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sin parches del fabricante</a:t>
            </a:r>
            <a:endParaRPr lang="en-US" sz="1400" dirty="0"/>
          </a:p>
        </p:txBody>
      </p:sp>
      <p:sp>
        <p:nvSpPr>
          <p:cNvPr id="13" name="Shape 11"/>
          <p:cNvSpPr/>
          <p:nvPr/>
        </p:nvSpPr>
        <p:spPr>
          <a:xfrm>
            <a:off x="6400800" y="3749040"/>
            <a:ext cx="5212080" cy="914400"/>
          </a:xfrm>
          <a:prstGeom prst="roundRect">
            <a:avLst>
              <a:gd name="adj" fmla="val 12000"/>
            </a:avLst>
          </a:prstGeom>
          <a:solidFill>
            <a:srgbClr val="F4F4F4"/>
          </a:solidFill>
          <a:ln w="12700">
            <a:solidFill>
              <a:srgbClr val="F4F4F4"/>
            </a:solidFill>
            <a:prstDash val="solid"/>
          </a:ln>
        </p:spPr>
      </p:sp>
      <p:sp>
        <p:nvSpPr>
          <p:cNvPr id="14" name="Text 12"/>
          <p:cNvSpPr txBox="1"/>
          <p:nvPr/>
        </p:nvSpPr>
        <p:spPr>
          <a:xfrm>
            <a:off x="6629400" y="374904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Firmware del grabador</a:t>
            </a:r>
            <a:endParaRPr lang="en-US" sz="1600" dirty="0"/>
          </a:p>
        </p:txBody>
      </p:sp>
      <p:sp>
        <p:nvSpPr>
          <p:cNvPr id="15" name="Text 13"/>
          <p:cNvSpPr txBox="1"/>
          <p:nvPr/>
        </p:nvSpPr>
        <p:spPr>
          <a:xfrm>
            <a:off x="8778240" y="374904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de 2019, sin actualizar</a:t>
            </a:r>
            <a:endParaRPr lang="en-US" sz="1400" dirty="0"/>
          </a:p>
        </p:txBody>
      </p:sp>
      <p:sp>
        <p:nvSpPr>
          <p:cNvPr id="16" name="Shape 14"/>
          <p:cNvSpPr/>
          <p:nvPr/>
        </p:nvSpPr>
        <p:spPr>
          <a:xfrm>
            <a:off x="6400800" y="4846320"/>
            <a:ext cx="5212080" cy="914400"/>
          </a:xfrm>
          <a:prstGeom prst="roundRect">
            <a:avLst>
              <a:gd name="adj" fmla="val 12000"/>
            </a:avLst>
          </a:prstGeom>
          <a:solidFill>
            <a:srgbClr val="F4F4F4"/>
          </a:solidFill>
          <a:ln w="12700">
            <a:solidFill>
              <a:srgbClr val="F4F4F4"/>
            </a:solidFill>
            <a:prstDash val="solid"/>
          </a:ln>
        </p:spPr>
      </p:sp>
      <p:sp>
        <p:nvSpPr>
          <p:cNvPr id="17" name="Text 15"/>
          <p:cNvSpPr txBox="1"/>
          <p:nvPr/>
        </p:nvSpPr>
        <p:spPr>
          <a:xfrm>
            <a:off x="6629400" y="484632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Datos del negocio</a:t>
            </a:r>
            <a:endParaRPr lang="en-US" sz="1600" dirty="0"/>
          </a:p>
        </p:txBody>
      </p:sp>
      <p:sp>
        <p:nvSpPr>
          <p:cNvPr id="18" name="Text 16"/>
          <p:cNvSpPr txBox="1"/>
          <p:nvPr/>
        </p:nvSpPr>
        <p:spPr>
          <a:xfrm>
            <a:off x="8778240" y="484632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repartidos: no hay ningún servidor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Diez riesgos; seis, críticos</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8</a:t>
            </a:r>
            <a:endParaRPr lang="en-US" sz="1100" dirty="0"/>
          </a:p>
        </p:txBody>
      </p:sp>
      <p:sp>
        <p:nvSpPr>
          <p:cNvPr id="4" name="Text 2"/>
          <p:cNvSpPr txBox="1"/>
          <p:nvPr/>
        </p:nvSpPr>
        <p:spPr>
          <a:xfrm>
            <a:off x="548640" y="14173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R1</a:t>
            </a:r>
            <a:endParaRPr lang="en-US" sz="1500" dirty="0"/>
          </a:p>
        </p:txBody>
      </p:sp>
      <p:sp>
        <p:nvSpPr>
          <p:cNvPr id="5" name="Text 3"/>
          <p:cNvSpPr txBox="1"/>
          <p:nvPr/>
        </p:nvSpPr>
        <p:spPr>
          <a:xfrm>
            <a:off x="1188720" y="14173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Grabador accesible desde internet con credenciales de fábrica</a:t>
            </a:r>
            <a:endParaRPr lang="en-US" sz="1500" dirty="0"/>
          </a:p>
        </p:txBody>
      </p:sp>
      <p:sp>
        <p:nvSpPr>
          <p:cNvPr id="6" name="Shape 4"/>
          <p:cNvSpPr/>
          <p:nvPr/>
        </p:nvSpPr>
        <p:spPr>
          <a:xfrm>
            <a:off x="6400800" y="1508760"/>
            <a:ext cx="3456432" cy="347472"/>
          </a:xfrm>
          <a:prstGeom prst="rect">
            <a:avLst/>
          </a:prstGeom>
          <a:solidFill>
            <a:srgbClr val="C0392B"/>
          </a:solidFill>
          <a:ln w="12700">
            <a:solidFill>
              <a:srgbClr val="C0392B"/>
            </a:solidFill>
            <a:prstDash val="solid"/>
          </a:ln>
        </p:spPr>
      </p:sp>
      <p:sp>
        <p:nvSpPr>
          <p:cNvPr id="7" name="Text 5"/>
          <p:cNvSpPr txBox="1"/>
          <p:nvPr/>
        </p:nvSpPr>
        <p:spPr>
          <a:xfrm>
            <a:off x="9948672" y="14173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9</a:t>
            </a:r>
            <a:endParaRPr lang="en-US" sz="1500" dirty="0"/>
          </a:p>
        </p:txBody>
      </p:sp>
      <p:sp>
        <p:nvSpPr>
          <p:cNvPr id="8" name="Text 6"/>
          <p:cNvSpPr txBox="1"/>
          <p:nvPr/>
        </p:nvSpPr>
        <p:spPr>
          <a:xfrm>
            <a:off x="548640" y="21031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R2</a:t>
            </a:r>
            <a:endParaRPr lang="en-US" sz="1500" dirty="0"/>
          </a:p>
        </p:txBody>
      </p:sp>
      <p:sp>
        <p:nvSpPr>
          <p:cNvPr id="9" name="Text 7"/>
          <p:cNvSpPr txBox="1"/>
          <p:nvPr/>
        </p:nvSpPr>
        <p:spPr>
          <a:xfrm>
            <a:off x="1188720" y="21031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Red única: caja, datáfono, cámaras y clientes</a:t>
            </a:r>
            <a:endParaRPr lang="en-US" sz="1500" dirty="0"/>
          </a:p>
        </p:txBody>
      </p:sp>
      <p:sp>
        <p:nvSpPr>
          <p:cNvPr id="10" name="Shape 8"/>
          <p:cNvSpPr/>
          <p:nvPr/>
        </p:nvSpPr>
        <p:spPr>
          <a:xfrm>
            <a:off x="6400800" y="2194560"/>
            <a:ext cx="3456432" cy="347472"/>
          </a:xfrm>
          <a:prstGeom prst="rect">
            <a:avLst/>
          </a:prstGeom>
          <a:solidFill>
            <a:srgbClr val="C0392B"/>
          </a:solidFill>
          <a:ln w="12700">
            <a:solidFill>
              <a:srgbClr val="C0392B"/>
            </a:solidFill>
            <a:prstDash val="solid"/>
          </a:ln>
        </p:spPr>
      </p:sp>
      <p:sp>
        <p:nvSpPr>
          <p:cNvPr id="11" name="Text 9"/>
          <p:cNvSpPr txBox="1"/>
          <p:nvPr/>
        </p:nvSpPr>
        <p:spPr>
          <a:xfrm>
            <a:off x="9948672" y="21031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9</a:t>
            </a:r>
            <a:endParaRPr lang="en-US" sz="1500" dirty="0"/>
          </a:p>
        </p:txBody>
      </p:sp>
      <p:sp>
        <p:nvSpPr>
          <p:cNvPr id="12" name="Text 10"/>
          <p:cNvSpPr txBox="1"/>
          <p:nvPr/>
        </p:nvSpPr>
        <p:spPr>
          <a:xfrm>
            <a:off x="548640" y="27889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R3</a:t>
            </a:r>
            <a:endParaRPr lang="en-US" sz="1500" dirty="0"/>
          </a:p>
        </p:txBody>
      </p:sp>
      <p:sp>
        <p:nvSpPr>
          <p:cNvPr id="13" name="Text 11"/>
          <p:cNvSpPr txBox="1"/>
          <p:nvPr/>
        </p:nvSpPr>
        <p:spPr>
          <a:xfrm>
            <a:off x="1188720" y="27889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Sin copias de la base de datos del TPV</a:t>
            </a:r>
            <a:endParaRPr lang="en-US" sz="1500" dirty="0"/>
          </a:p>
        </p:txBody>
      </p:sp>
      <p:sp>
        <p:nvSpPr>
          <p:cNvPr id="14" name="Shape 12"/>
          <p:cNvSpPr/>
          <p:nvPr/>
        </p:nvSpPr>
        <p:spPr>
          <a:xfrm>
            <a:off x="6400800" y="2880360"/>
            <a:ext cx="2304288" cy="347472"/>
          </a:xfrm>
          <a:prstGeom prst="rect">
            <a:avLst/>
          </a:prstGeom>
          <a:solidFill>
            <a:srgbClr val="E67E22"/>
          </a:solidFill>
          <a:ln w="12700">
            <a:solidFill>
              <a:srgbClr val="E67E22"/>
            </a:solidFill>
            <a:prstDash val="solid"/>
          </a:ln>
        </p:spPr>
      </p:sp>
      <p:sp>
        <p:nvSpPr>
          <p:cNvPr id="15" name="Text 13"/>
          <p:cNvSpPr txBox="1"/>
          <p:nvPr/>
        </p:nvSpPr>
        <p:spPr>
          <a:xfrm>
            <a:off x="8796528" y="27889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16" name="Text 14"/>
          <p:cNvSpPr txBox="1"/>
          <p:nvPr/>
        </p:nvSpPr>
        <p:spPr>
          <a:xfrm>
            <a:off x="548640" y="34747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R4</a:t>
            </a:r>
            <a:endParaRPr lang="en-US" sz="1500" dirty="0"/>
          </a:p>
        </p:txBody>
      </p:sp>
      <p:sp>
        <p:nvSpPr>
          <p:cNvPr id="17" name="Text 15"/>
          <p:cNvSpPr txBox="1"/>
          <p:nvPr/>
        </p:nvSpPr>
        <p:spPr>
          <a:xfrm>
            <a:off x="1188720" y="34747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Sistema operativo sin soporte en la caja</a:t>
            </a:r>
            <a:endParaRPr lang="en-US" sz="1500" dirty="0"/>
          </a:p>
        </p:txBody>
      </p:sp>
      <p:sp>
        <p:nvSpPr>
          <p:cNvPr id="18" name="Shape 16"/>
          <p:cNvSpPr/>
          <p:nvPr/>
        </p:nvSpPr>
        <p:spPr>
          <a:xfrm>
            <a:off x="6400800" y="3566160"/>
            <a:ext cx="2304288" cy="347472"/>
          </a:xfrm>
          <a:prstGeom prst="rect">
            <a:avLst/>
          </a:prstGeom>
          <a:solidFill>
            <a:srgbClr val="E67E22"/>
          </a:solidFill>
          <a:ln w="12700">
            <a:solidFill>
              <a:srgbClr val="E67E22"/>
            </a:solidFill>
            <a:prstDash val="solid"/>
          </a:ln>
        </p:spPr>
      </p:sp>
      <p:sp>
        <p:nvSpPr>
          <p:cNvPr id="19" name="Text 17"/>
          <p:cNvSpPr txBox="1"/>
          <p:nvPr/>
        </p:nvSpPr>
        <p:spPr>
          <a:xfrm>
            <a:off x="8796528" y="34747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20" name="Text 18"/>
          <p:cNvSpPr txBox="1"/>
          <p:nvPr/>
        </p:nvSpPr>
        <p:spPr>
          <a:xfrm>
            <a:off x="548640" y="41605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R5</a:t>
            </a:r>
            <a:endParaRPr lang="en-US" sz="1500" dirty="0"/>
          </a:p>
        </p:txBody>
      </p:sp>
      <p:sp>
        <p:nvSpPr>
          <p:cNvPr id="21" name="Text 19"/>
          <p:cNvSpPr txBox="1"/>
          <p:nvPr/>
        </p:nvSpPr>
        <p:spPr>
          <a:xfrm>
            <a:off x="1188720" y="41605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Cuenta única compartida en el TPV</a:t>
            </a:r>
            <a:endParaRPr lang="en-US" sz="1500" dirty="0"/>
          </a:p>
        </p:txBody>
      </p:sp>
      <p:sp>
        <p:nvSpPr>
          <p:cNvPr id="22" name="Shape 20"/>
          <p:cNvSpPr/>
          <p:nvPr/>
        </p:nvSpPr>
        <p:spPr>
          <a:xfrm>
            <a:off x="6400800" y="4251960"/>
            <a:ext cx="2304288" cy="347472"/>
          </a:xfrm>
          <a:prstGeom prst="rect">
            <a:avLst/>
          </a:prstGeom>
          <a:solidFill>
            <a:srgbClr val="E67E22"/>
          </a:solidFill>
          <a:ln w="12700">
            <a:solidFill>
              <a:srgbClr val="E67E22"/>
            </a:solidFill>
            <a:prstDash val="solid"/>
          </a:ln>
        </p:spPr>
      </p:sp>
      <p:sp>
        <p:nvSpPr>
          <p:cNvPr id="23" name="Text 21"/>
          <p:cNvSpPr txBox="1"/>
          <p:nvPr/>
        </p:nvSpPr>
        <p:spPr>
          <a:xfrm>
            <a:off x="8796528" y="41605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24" name="Text 22"/>
          <p:cNvSpPr txBox="1"/>
          <p:nvPr/>
        </p:nvSpPr>
        <p:spPr>
          <a:xfrm>
            <a:off x="548640" y="48463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R6</a:t>
            </a:r>
            <a:endParaRPr lang="en-US" sz="1500" dirty="0"/>
          </a:p>
        </p:txBody>
      </p:sp>
      <p:sp>
        <p:nvSpPr>
          <p:cNvPr id="25" name="Text 23"/>
          <p:cNvSpPr txBox="1"/>
          <p:nvPr/>
        </p:nvSpPr>
        <p:spPr>
          <a:xfrm>
            <a:off x="1188720" y="48463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Disco dañado y sin SAI</a:t>
            </a:r>
            <a:endParaRPr lang="en-US" sz="1500" dirty="0"/>
          </a:p>
        </p:txBody>
      </p:sp>
      <p:sp>
        <p:nvSpPr>
          <p:cNvPr id="26" name="Shape 24"/>
          <p:cNvSpPr/>
          <p:nvPr/>
        </p:nvSpPr>
        <p:spPr>
          <a:xfrm>
            <a:off x="6400800" y="4937760"/>
            <a:ext cx="2304288" cy="347472"/>
          </a:xfrm>
          <a:prstGeom prst="rect">
            <a:avLst/>
          </a:prstGeom>
          <a:solidFill>
            <a:srgbClr val="E67E22"/>
          </a:solidFill>
          <a:ln w="12700">
            <a:solidFill>
              <a:srgbClr val="E67E22"/>
            </a:solidFill>
            <a:prstDash val="solid"/>
          </a:ln>
        </p:spPr>
      </p:sp>
      <p:sp>
        <p:nvSpPr>
          <p:cNvPr id="27" name="Text 25"/>
          <p:cNvSpPr txBox="1"/>
          <p:nvPr/>
        </p:nvSpPr>
        <p:spPr>
          <a:xfrm>
            <a:off x="8796528" y="48463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28" name="Text 26"/>
          <p:cNvSpPr txBox="1"/>
          <p:nvPr/>
        </p:nvSpPr>
        <p:spPr>
          <a:xfrm>
            <a:off x="548640" y="5623560"/>
            <a:ext cx="10972800" cy="54864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Probabilidad × impacto (1-3 cada uno). Críticos ≥ 6. Hay además cuatro riesgos altos: router de fábrica, datos en cuentas personales, videovigilancia sin cartel y contraseñas a la vista.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El sector: grande, atomizado y con poco margen</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9</a:t>
            </a:r>
            <a:endParaRPr lang="en-US" sz="1100" dirty="0"/>
          </a:p>
        </p:txBody>
      </p:sp>
      <p:sp>
        <p:nvSpPr>
          <p:cNvPr id="4" name="Shape 2"/>
          <p:cNvSpPr/>
          <p:nvPr/>
        </p:nvSpPr>
        <p:spPr>
          <a:xfrm>
            <a:off x="548640" y="1417320"/>
            <a:ext cx="5394960" cy="2011680"/>
          </a:xfrm>
          <a:prstGeom prst="roundRect">
            <a:avLst>
              <a:gd name="adj" fmla="val 5455"/>
            </a:avLst>
          </a:prstGeom>
          <a:solidFill>
            <a:srgbClr val="F4F4F4"/>
          </a:solidFill>
          <a:ln w="12700">
            <a:solidFill>
              <a:srgbClr val="F4F4F4"/>
            </a:solidFill>
            <a:prstDash val="solid"/>
          </a:ln>
        </p:spPr>
      </p:sp>
      <p:sp>
        <p:nvSpPr>
          <p:cNvPr id="5" name="Text 3"/>
          <p:cNvSpPr txBox="1"/>
          <p:nvPr/>
        </p:nvSpPr>
        <p:spPr>
          <a:xfrm>
            <a:off x="868680" y="1645920"/>
            <a:ext cx="4754880" cy="914400"/>
          </a:xfrm>
          <a:prstGeom prst="rect">
            <a:avLst/>
          </a:prstGeom>
          <a:noFill/>
          <a:ln/>
        </p:spPr>
        <p:txBody>
          <a:bodyPr wrap="square" lIns="0" tIns="0" rIns="0" bIns="0" rtlCol="0" anchor="t"/>
          <a:lstStyle/>
          <a:p>
            <a:pPr indent="0" marL="0">
              <a:buNone/>
            </a:pPr>
            <a:r>
              <a:rPr lang="en-US" sz="4800" b="1" dirty="0">
                <a:solidFill>
                  <a:srgbClr val="E67E22"/>
                </a:solidFill>
                <a:latin typeface="Arial" pitchFamily="34" charset="0"/>
                <a:ea typeface="Arial" pitchFamily="34" charset="-122"/>
                <a:cs typeface="Arial" pitchFamily="34" charset="-120"/>
              </a:rPr>
              <a:t>280.403</a:t>
            </a:r>
            <a:endParaRPr lang="en-US" sz="4800" dirty="0"/>
          </a:p>
        </p:txBody>
      </p:sp>
      <p:sp>
        <p:nvSpPr>
          <p:cNvPr id="6" name="Text 4"/>
          <p:cNvSpPr txBox="1"/>
          <p:nvPr/>
        </p:nvSpPr>
        <p:spPr>
          <a:xfrm>
            <a:off x="868680" y="2560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establecimientos de hostelería en España</a:t>
            </a:r>
            <a:endParaRPr lang="en-US" sz="1700" dirty="0"/>
          </a:p>
        </p:txBody>
      </p:sp>
      <p:sp>
        <p:nvSpPr>
          <p:cNvPr id="7" name="Text 5"/>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Profesional Horeca, 2025</a:t>
            </a:r>
            <a:endParaRPr lang="en-US" sz="1200" dirty="0"/>
          </a:p>
        </p:txBody>
      </p:sp>
      <p:sp>
        <p:nvSpPr>
          <p:cNvPr id="8" name="Shape 6"/>
          <p:cNvSpPr/>
          <p:nvPr/>
        </p:nvSpPr>
        <p:spPr>
          <a:xfrm>
            <a:off x="6172200" y="1417320"/>
            <a:ext cx="5394960" cy="2011680"/>
          </a:xfrm>
          <a:prstGeom prst="roundRect">
            <a:avLst>
              <a:gd name="adj" fmla="val 5455"/>
            </a:avLst>
          </a:prstGeom>
          <a:solidFill>
            <a:srgbClr val="F4F4F4"/>
          </a:solidFill>
          <a:ln w="12700">
            <a:solidFill>
              <a:srgbClr val="F4F4F4"/>
            </a:solidFill>
            <a:prstDash val="solid"/>
          </a:ln>
        </p:spPr>
      </p:sp>
      <p:sp>
        <p:nvSpPr>
          <p:cNvPr id="9" name="Text 7"/>
          <p:cNvSpPr txBox="1"/>
          <p:nvPr/>
        </p:nvSpPr>
        <p:spPr>
          <a:xfrm>
            <a:off x="6492240" y="1645920"/>
            <a:ext cx="4754880" cy="914400"/>
          </a:xfrm>
          <a:prstGeom prst="rect">
            <a:avLst/>
          </a:prstGeom>
          <a:noFill/>
          <a:ln/>
        </p:spPr>
        <p:txBody>
          <a:bodyPr wrap="square" lIns="0" tIns="0" rIns="0" bIns="0" rtlCol="0" anchor="t"/>
          <a:lstStyle/>
          <a:p>
            <a:pPr indent="0" marL="0">
              <a:buNone/>
            </a:pPr>
            <a:r>
              <a:rPr lang="en-US" sz="4800" b="1" dirty="0">
                <a:solidFill>
                  <a:srgbClr val="E67E22"/>
                </a:solidFill>
                <a:latin typeface="Arial" pitchFamily="34" charset="0"/>
                <a:ea typeface="Arial" pitchFamily="34" charset="-122"/>
                <a:cs typeface="Arial" pitchFamily="34" charset="-120"/>
              </a:rPr>
              <a:t>93 %</a:t>
            </a:r>
            <a:endParaRPr lang="en-US" sz="4800" dirty="0"/>
          </a:p>
        </p:txBody>
      </p:sp>
      <p:sp>
        <p:nvSpPr>
          <p:cNvPr id="10" name="Text 8"/>
          <p:cNvSpPr txBox="1"/>
          <p:nvPr/>
        </p:nvSpPr>
        <p:spPr>
          <a:xfrm>
            <a:off x="6492240" y="2560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son locales independientes</a:t>
            </a:r>
            <a:endParaRPr lang="en-US" sz="1700" dirty="0"/>
          </a:p>
        </p:txBody>
      </p:sp>
      <p:sp>
        <p:nvSpPr>
          <p:cNvPr id="11" name="Text 9"/>
          <p:cNvSpPr txBox="1"/>
          <p:nvPr/>
        </p:nvSpPr>
        <p:spPr>
          <a:xfrm>
            <a:off x="6492240" y="2971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Profesional Horeca, 2025</a:t>
            </a:r>
            <a:endParaRPr lang="en-US" sz="1200" dirty="0"/>
          </a:p>
        </p:txBody>
      </p:sp>
      <p:sp>
        <p:nvSpPr>
          <p:cNvPr id="12" name="Shape 10"/>
          <p:cNvSpPr/>
          <p:nvPr/>
        </p:nvSpPr>
        <p:spPr>
          <a:xfrm>
            <a:off x="548640" y="3703320"/>
            <a:ext cx="5394960" cy="2011680"/>
          </a:xfrm>
          <a:prstGeom prst="roundRect">
            <a:avLst>
              <a:gd name="adj" fmla="val 5455"/>
            </a:avLst>
          </a:prstGeom>
          <a:solidFill>
            <a:srgbClr val="F4F4F4"/>
          </a:solidFill>
          <a:ln w="12700">
            <a:solidFill>
              <a:srgbClr val="F4F4F4"/>
            </a:solidFill>
            <a:prstDash val="solid"/>
          </a:ln>
        </p:spPr>
      </p:sp>
      <p:sp>
        <p:nvSpPr>
          <p:cNvPr id="13" name="Text 11"/>
          <p:cNvSpPr txBox="1"/>
          <p:nvPr/>
        </p:nvSpPr>
        <p:spPr>
          <a:xfrm>
            <a:off x="868680" y="3931920"/>
            <a:ext cx="4754880" cy="914400"/>
          </a:xfrm>
          <a:prstGeom prst="rect">
            <a:avLst/>
          </a:prstGeom>
          <a:noFill/>
          <a:ln/>
        </p:spPr>
        <p:txBody>
          <a:bodyPr wrap="square" lIns="0" tIns="0" rIns="0" bIns="0" rtlCol="0" anchor="t"/>
          <a:lstStyle/>
          <a:p>
            <a:pPr indent="0" marL="0">
              <a:buNone/>
            </a:pPr>
            <a:r>
              <a:rPr lang="en-US" sz="4800" b="1" dirty="0">
                <a:solidFill>
                  <a:srgbClr val="C0392B"/>
                </a:solidFill>
                <a:latin typeface="Arial" pitchFamily="34" charset="0"/>
                <a:ea typeface="Arial" pitchFamily="34" charset="-122"/>
                <a:cs typeface="Arial" pitchFamily="34" charset="-120"/>
              </a:rPr>
              <a:t>−0,9 %</a:t>
            </a:r>
            <a:endParaRPr lang="en-US" sz="4800" dirty="0"/>
          </a:p>
        </p:txBody>
      </p:sp>
      <p:sp>
        <p:nvSpPr>
          <p:cNvPr id="14" name="Text 12"/>
          <p:cNvSpPr txBox="1"/>
          <p:nvPr/>
        </p:nvSpPr>
        <p:spPr>
          <a:xfrm>
            <a:off x="868680" y="4846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rentabilidad de la restauración en 2025</a:t>
            </a:r>
            <a:endParaRPr lang="en-US" sz="1700" dirty="0"/>
          </a:p>
        </p:txBody>
      </p:sp>
      <p:sp>
        <p:nvSpPr>
          <p:cNvPr id="15" name="Text 13"/>
          <p:cNvSpPr txBox="1"/>
          <p:nvPr/>
        </p:nvSpPr>
        <p:spPr>
          <a:xfrm>
            <a:off x="868680" y="5257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Hosteltur, 2026</a:t>
            </a:r>
            <a:endParaRPr lang="en-US" sz="1200" dirty="0"/>
          </a:p>
        </p:txBody>
      </p:sp>
      <p:sp>
        <p:nvSpPr>
          <p:cNvPr id="16" name="Shape 14"/>
          <p:cNvSpPr/>
          <p:nvPr/>
        </p:nvSpPr>
        <p:spPr>
          <a:xfrm>
            <a:off x="6172200" y="3703320"/>
            <a:ext cx="5394960" cy="2011680"/>
          </a:xfrm>
          <a:prstGeom prst="roundRect">
            <a:avLst>
              <a:gd name="adj" fmla="val 5455"/>
            </a:avLst>
          </a:prstGeom>
          <a:solidFill>
            <a:srgbClr val="F4F4F4"/>
          </a:solidFill>
          <a:ln w="12700">
            <a:solidFill>
              <a:srgbClr val="F4F4F4"/>
            </a:solidFill>
            <a:prstDash val="solid"/>
          </a:ln>
        </p:spPr>
      </p:sp>
      <p:sp>
        <p:nvSpPr>
          <p:cNvPr id="17" name="Text 15"/>
          <p:cNvSpPr txBox="1"/>
          <p:nvPr/>
        </p:nvSpPr>
        <p:spPr>
          <a:xfrm>
            <a:off x="6492240" y="3931920"/>
            <a:ext cx="4754880" cy="914400"/>
          </a:xfrm>
          <a:prstGeom prst="rect">
            <a:avLst/>
          </a:prstGeom>
          <a:noFill/>
          <a:ln/>
        </p:spPr>
        <p:txBody>
          <a:bodyPr wrap="square" lIns="0" tIns="0" rIns="0" bIns="0" rtlCol="0" anchor="t"/>
          <a:lstStyle/>
          <a:p>
            <a:pPr indent="0" marL="0">
              <a:buNone/>
            </a:pPr>
            <a:r>
              <a:rPr lang="en-US" sz="4800" b="1" dirty="0">
                <a:solidFill>
                  <a:srgbClr val="E67E22"/>
                </a:solidFill>
                <a:latin typeface="Arial" pitchFamily="34" charset="0"/>
                <a:ea typeface="Arial" pitchFamily="34" charset="-122"/>
                <a:cs typeface="Arial" pitchFamily="34" charset="-120"/>
              </a:rPr>
              <a:t>31.186</a:t>
            </a:r>
            <a:endParaRPr lang="en-US" sz="4800" dirty="0"/>
          </a:p>
        </p:txBody>
      </p:sp>
      <p:sp>
        <p:nvSpPr>
          <p:cNvPr id="18" name="Text 16"/>
          <p:cNvSpPr txBox="1"/>
          <p:nvPr/>
        </p:nvSpPr>
        <p:spPr>
          <a:xfrm>
            <a:off x="6492240" y="4846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bares y restaurantes en la Comunitat Valenciana</a:t>
            </a:r>
            <a:endParaRPr lang="en-US" sz="1700" dirty="0"/>
          </a:p>
        </p:txBody>
      </p:sp>
      <p:sp>
        <p:nvSpPr>
          <p:cNvPr id="19" name="Text 17"/>
          <p:cNvSpPr txBox="1"/>
          <p:nvPr/>
        </p:nvSpPr>
        <p:spPr>
          <a:xfrm>
            <a:off x="6492240" y="5257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El Periòdic, 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PESTEL: lo que no controla, pero le condiciona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10</a:t>
            </a:r>
            <a:endParaRPr lang="en-US" sz="1100" dirty="0"/>
          </a:p>
        </p:txBody>
      </p:sp>
      <p:sp>
        <p:nvSpPr>
          <p:cNvPr id="4" name="Shape 2"/>
          <p:cNvSpPr/>
          <p:nvPr/>
        </p:nvSpPr>
        <p:spPr>
          <a:xfrm>
            <a:off x="548640" y="1463040"/>
            <a:ext cx="3474720" cy="1965960"/>
          </a:xfrm>
          <a:prstGeom prst="roundRect">
            <a:avLst>
              <a:gd name="adj" fmla="val 5581"/>
            </a:avLst>
          </a:prstGeom>
          <a:solidFill>
            <a:srgbClr val="FDEBD9"/>
          </a:solidFill>
          <a:ln w="12700">
            <a:solidFill>
              <a:srgbClr val="FDEBD9"/>
            </a:solidFill>
            <a:prstDash val="solid"/>
          </a:ln>
        </p:spPr>
      </p:sp>
      <p:sp>
        <p:nvSpPr>
          <p:cNvPr id="5" name="Shape 3"/>
          <p:cNvSpPr/>
          <p:nvPr/>
        </p:nvSpPr>
        <p:spPr>
          <a:xfrm>
            <a:off x="822960" y="1737360"/>
            <a:ext cx="640080" cy="640080"/>
          </a:xfrm>
          <a:prstGeom prst="ellipse">
            <a:avLst/>
          </a:prstGeom>
          <a:solidFill>
            <a:srgbClr val="E67E22"/>
          </a:solidFill>
          <a:ln w="12700">
            <a:solidFill>
              <a:srgbClr val="E67E22"/>
            </a:solidFill>
            <a:prstDash val="solid"/>
          </a:ln>
        </p:spPr>
      </p:sp>
      <p:sp>
        <p:nvSpPr>
          <p:cNvPr id="6" name="Text 4"/>
          <p:cNvSpPr txBox="1"/>
          <p:nvPr/>
        </p:nvSpPr>
        <p:spPr>
          <a:xfrm>
            <a:off x="82296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P</a:t>
            </a:r>
            <a:endParaRPr lang="en-US" sz="2200" dirty="0"/>
          </a:p>
        </p:txBody>
      </p:sp>
      <p:sp>
        <p:nvSpPr>
          <p:cNvPr id="7" name="Text 5"/>
          <p:cNvSpPr txBox="1"/>
          <p:nvPr/>
        </p:nvSpPr>
        <p:spPr>
          <a:xfrm>
            <a:off x="1600200" y="173736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Político</a:t>
            </a:r>
            <a:endParaRPr lang="en-US" sz="1800" dirty="0"/>
          </a:p>
        </p:txBody>
      </p:sp>
      <p:sp>
        <p:nvSpPr>
          <p:cNvPr id="8" name="Text 6"/>
          <p:cNvSpPr txBox="1"/>
          <p:nvPr/>
        </p:nvSpPr>
        <p:spPr>
          <a:xfrm>
            <a:off x="822960" y="251460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Verifactu aplazado: 1/1/2027 para sociedades</a:t>
            </a:r>
            <a:endParaRPr lang="en-US" sz="1500" dirty="0"/>
          </a:p>
        </p:txBody>
      </p:sp>
      <p:sp>
        <p:nvSpPr>
          <p:cNvPr id="9" name="Shape 7"/>
          <p:cNvSpPr/>
          <p:nvPr/>
        </p:nvSpPr>
        <p:spPr>
          <a:xfrm>
            <a:off x="4297680" y="1463040"/>
            <a:ext cx="3474720" cy="1965960"/>
          </a:xfrm>
          <a:prstGeom prst="roundRect">
            <a:avLst>
              <a:gd name="adj" fmla="val 5581"/>
            </a:avLst>
          </a:prstGeom>
          <a:solidFill>
            <a:srgbClr val="F4F4F4"/>
          </a:solidFill>
          <a:ln w="12700">
            <a:solidFill>
              <a:srgbClr val="F4F4F4"/>
            </a:solidFill>
            <a:prstDash val="solid"/>
          </a:ln>
        </p:spPr>
      </p:sp>
      <p:sp>
        <p:nvSpPr>
          <p:cNvPr id="10" name="Shape 8"/>
          <p:cNvSpPr/>
          <p:nvPr/>
        </p:nvSpPr>
        <p:spPr>
          <a:xfrm>
            <a:off x="4572000" y="1737360"/>
            <a:ext cx="640080" cy="640080"/>
          </a:xfrm>
          <a:prstGeom prst="ellipse">
            <a:avLst/>
          </a:prstGeom>
          <a:solidFill>
            <a:srgbClr val="E67E22"/>
          </a:solidFill>
          <a:ln w="12700">
            <a:solidFill>
              <a:srgbClr val="E67E22"/>
            </a:solidFill>
            <a:prstDash val="solid"/>
          </a:ln>
        </p:spPr>
      </p:sp>
      <p:sp>
        <p:nvSpPr>
          <p:cNvPr id="11" name="Text 9"/>
          <p:cNvSpPr txBox="1"/>
          <p:nvPr/>
        </p:nvSpPr>
        <p:spPr>
          <a:xfrm>
            <a:off x="457200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E</a:t>
            </a:r>
            <a:endParaRPr lang="en-US" sz="2200" dirty="0"/>
          </a:p>
        </p:txBody>
      </p:sp>
      <p:sp>
        <p:nvSpPr>
          <p:cNvPr id="12" name="Text 10"/>
          <p:cNvSpPr txBox="1"/>
          <p:nvPr/>
        </p:nvSpPr>
        <p:spPr>
          <a:xfrm>
            <a:off x="5349240" y="173736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Económico</a:t>
            </a:r>
            <a:endParaRPr lang="en-US" sz="1800" dirty="0"/>
          </a:p>
        </p:txBody>
      </p:sp>
      <p:sp>
        <p:nvSpPr>
          <p:cNvPr id="13" name="Text 11"/>
          <p:cNvSpPr txBox="1"/>
          <p:nvPr/>
        </p:nvSpPr>
        <p:spPr>
          <a:xfrm>
            <a:off x="4572000" y="251460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Factura más, gana menos: cada euro cuenta</a:t>
            </a:r>
            <a:endParaRPr lang="en-US" sz="1500" dirty="0"/>
          </a:p>
        </p:txBody>
      </p:sp>
      <p:sp>
        <p:nvSpPr>
          <p:cNvPr id="14" name="Shape 12"/>
          <p:cNvSpPr/>
          <p:nvPr/>
        </p:nvSpPr>
        <p:spPr>
          <a:xfrm>
            <a:off x="8046720" y="1463040"/>
            <a:ext cx="3474720" cy="1965960"/>
          </a:xfrm>
          <a:prstGeom prst="roundRect">
            <a:avLst>
              <a:gd name="adj" fmla="val 5581"/>
            </a:avLst>
          </a:prstGeom>
          <a:solidFill>
            <a:srgbClr val="F4F4F4"/>
          </a:solidFill>
          <a:ln w="12700">
            <a:solidFill>
              <a:srgbClr val="F4F4F4"/>
            </a:solidFill>
            <a:prstDash val="solid"/>
          </a:ln>
        </p:spPr>
      </p:sp>
      <p:sp>
        <p:nvSpPr>
          <p:cNvPr id="15" name="Shape 13"/>
          <p:cNvSpPr/>
          <p:nvPr/>
        </p:nvSpPr>
        <p:spPr>
          <a:xfrm>
            <a:off x="8321040" y="1737360"/>
            <a:ext cx="640080" cy="640080"/>
          </a:xfrm>
          <a:prstGeom prst="ellipse">
            <a:avLst/>
          </a:prstGeom>
          <a:solidFill>
            <a:srgbClr val="E67E22"/>
          </a:solidFill>
          <a:ln w="12700">
            <a:solidFill>
              <a:srgbClr val="E67E22"/>
            </a:solidFill>
            <a:prstDash val="solid"/>
          </a:ln>
        </p:spPr>
      </p:sp>
      <p:sp>
        <p:nvSpPr>
          <p:cNvPr id="16" name="Text 14"/>
          <p:cNvSpPr txBox="1"/>
          <p:nvPr/>
        </p:nvSpPr>
        <p:spPr>
          <a:xfrm>
            <a:off x="832104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S</a:t>
            </a:r>
            <a:endParaRPr lang="en-US" sz="2200" dirty="0"/>
          </a:p>
        </p:txBody>
      </p:sp>
      <p:sp>
        <p:nvSpPr>
          <p:cNvPr id="17" name="Text 15"/>
          <p:cNvSpPr txBox="1"/>
          <p:nvPr/>
        </p:nvSpPr>
        <p:spPr>
          <a:xfrm>
            <a:off x="9098280" y="173736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Social</a:t>
            </a:r>
            <a:endParaRPr lang="en-US" sz="1800" dirty="0"/>
          </a:p>
        </p:txBody>
      </p:sp>
      <p:sp>
        <p:nvSpPr>
          <p:cNvPr id="18" name="Text 16"/>
          <p:cNvSpPr txBox="1"/>
          <p:nvPr/>
        </p:nvSpPr>
        <p:spPr>
          <a:xfrm>
            <a:off x="8321040" y="251460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Cliente joven que paga con móvil y espera wifi</a:t>
            </a:r>
            <a:endParaRPr lang="en-US" sz="1500" dirty="0"/>
          </a:p>
        </p:txBody>
      </p:sp>
      <p:sp>
        <p:nvSpPr>
          <p:cNvPr id="19" name="Shape 17"/>
          <p:cNvSpPr/>
          <p:nvPr/>
        </p:nvSpPr>
        <p:spPr>
          <a:xfrm>
            <a:off x="548640" y="3703320"/>
            <a:ext cx="3474720" cy="1965960"/>
          </a:xfrm>
          <a:prstGeom prst="roundRect">
            <a:avLst>
              <a:gd name="adj" fmla="val 5581"/>
            </a:avLst>
          </a:prstGeom>
          <a:solidFill>
            <a:srgbClr val="F4F4F4"/>
          </a:solidFill>
          <a:ln w="12700">
            <a:solidFill>
              <a:srgbClr val="F4F4F4"/>
            </a:solidFill>
            <a:prstDash val="solid"/>
          </a:ln>
        </p:spPr>
      </p:sp>
      <p:sp>
        <p:nvSpPr>
          <p:cNvPr id="20" name="Shape 18"/>
          <p:cNvSpPr/>
          <p:nvPr/>
        </p:nvSpPr>
        <p:spPr>
          <a:xfrm>
            <a:off x="822960" y="3977640"/>
            <a:ext cx="640080" cy="640080"/>
          </a:xfrm>
          <a:prstGeom prst="ellipse">
            <a:avLst/>
          </a:prstGeom>
          <a:solidFill>
            <a:srgbClr val="E67E22"/>
          </a:solidFill>
          <a:ln w="12700">
            <a:solidFill>
              <a:srgbClr val="E67E22"/>
            </a:solidFill>
            <a:prstDash val="solid"/>
          </a:ln>
        </p:spPr>
      </p:sp>
      <p:sp>
        <p:nvSpPr>
          <p:cNvPr id="21" name="Text 19"/>
          <p:cNvSpPr txBox="1"/>
          <p:nvPr/>
        </p:nvSpPr>
        <p:spPr>
          <a:xfrm>
            <a:off x="82296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T</a:t>
            </a:r>
            <a:endParaRPr lang="en-US" sz="2200" dirty="0"/>
          </a:p>
        </p:txBody>
      </p:sp>
      <p:sp>
        <p:nvSpPr>
          <p:cNvPr id="22" name="Text 20"/>
          <p:cNvSpPr txBox="1"/>
          <p:nvPr/>
        </p:nvSpPr>
        <p:spPr>
          <a:xfrm>
            <a:off x="1600200" y="397764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Tecnológico</a:t>
            </a:r>
            <a:endParaRPr lang="en-US" sz="1800" dirty="0"/>
          </a:p>
        </p:txBody>
      </p:sp>
      <p:sp>
        <p:nvSpPr>
          <p:cNvPr id="23" name="Text 21"/>
          <p:cNvSpPr txBox="1"/>
          <p:nvPr/>
        </p:nvSpPr>
        <p:spPr>
          <a:xfrm>
            <a:off x="822960" y="475488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Fin de Windows 10; la cocina sigue en papel</a:t>
            </a:r>
            <a:endParaRPr lang="en-US" sz="1500" dirty="0"/>
          </a:p>
        </p:txBody>
      </p:sp>
      <p:sp>
        <p:nvSpPr>
          <p:cNvPr id="24" name="Shape 22"/>
          <p:cNvSpPr/>
          <p:nvPr/>
        </p:nvSpPr>
        <p:spPr>
          <a:xfrm>
            <a:off x="4297680" y="3703320"/>
            <a:ext cx="3474720" cy="1965960"/>
          </a:xfrm>
          <a:prstGeom prst="roundRect">
            <a:avLst>
              <a:gd name="adj" fmla="val 5581"/>
            </a:avLst>
          </a:prstGeom>
          <a:solidFill>
            <a:srgbClr val="F4F4F4"/>
          </a:solidFill>
          <a:ln w="12700">
            <a:solidFill>
              <a:srgbClr val="F4F4F4"/>
            </a:solidFill>
            <a:prstDash val="solid"/>
          </a:ln>
        </p:spPr>
      </p:sp>
      <p:sp>
        <p:nvSpPr>
          <p:cNvPr id="25" name="Shape 23"/>
          <p:cNvSpPr/>
          <p:nvPr/>
        </p:nvSpPr>
        <p:spPr>
          <a:xfrm>
            <a:off x="4572000" y="3977640"/>
            <a:ext cx="640080" cy="640080"/>
          </a:xfrm>
          <a:prstGeom prst="ellipse">
            <a:avLst/>
          </a:prstGeom>
          <a:solidFill>
            <a:srgbClr val="E67E22"/>
          </a:solidFill>
          <a:ln w="12700">
            <a:solidFill>
              <a:srgbClr val="E67E22"/>
            </a:solidFill>
            <a:prstDash val="solid"/>
          </a:ln>
        </p:spPr>
      </p:sp>
      <p:sp>
        <p:nvSpPr>
          <p:cNvPr id="26" name="Text 24"/>
          <p:cNvSpPr txBox="1"/>
          <p:nvPr/>
        </p:nvSpPr>
        <p:spPr>
          <a:xfrm>
            <a:off x="457200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E</a:t>
            </a:r>
            <a:endParaRPr lang="en-US" sz="2200" dirty="0"/>
          </a:p>
        </p:txBody>
      </p:sp>
      <p:sp>
        <p:nvSpPr>
          <p:cNvPr id="27" name="Text 25"/>
          <p:cNvSpPr txBox="1"/>
          <p:nvPr/>
        </p:nvSpPr>
        <p:spPr>
          <a:xfrm>
            <a:off x="5349240" y="397764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Ambiental</a:t>
            </a:r>
            <a:endParaRPr lang="en-US" sz="1800" dirty="0"/>
          </a:p>
        </p:txBody>
      </p:sp>
      <p:sp>
        <p:nvSpPr>
          <p:cNvPr id="28" name="Text 26"/>
          <p:cNvSpPr txBox="1"/>
          <p:nvPr/>
        </p:nvSpPr>
        <p:spPr>
          <a:xfrm>
            <a:off x="4572000" y="475488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Bisfenol A en el papel térmico; equipos viejos como RAEE</a:t>
            </a:r>
            <a:endParaRPr lang="en-US" sz="1500" dirty="0"/>
          </a:p>
        </p:txBody>
      </p:sp>
      <p:sp>
        <p:nvSpPr>
          <p:cNvPr id="29" name="Shape 27"/>
          <p:cNvSpPr/>
          <p:nvPr/>
        </p:nvSpPr>
        <p:spPr>
          <a:xfrm>
            <a:off x="8046720" y="3703320"/>
            <a:ext cx="3474720" cy="1965960"/>
          </a:xfrm>
          <a:prstGeom prst="roundRect">
            <a:avLst>
              <a:gd name="adj" fmla="val 5581"/>
            </a:avLst>
          </a:prstGeom>
          <a:solidFill>
            <a:srgbClr val="F4F4F4"/>
          </a:solidFill>
          <a:ln w="12700">
            <a:solidFill>
              <a:srgbClr val="F4F4F4"/>
            </a:solidFill>
            <a:prstDash val="solid"/>
          </a:ln>
        </p:spPr>
      </p:sp>
      <p:sp>
        <p:nvSpPr>
          <p:cNvPr id="30" name="Shape 28"/>
          <p:cNvSpPr/>
          <p:nvPr/>
        </p:nvSpPr>
        <p:spPr>
          <a:xfrm>
            <a:off x="8321040" y="3977640"/>
            <a:ext cx="640080" cy="640080"/>
          </a:xfrm>
          <a:prstGeom prst="ellipse">
            <a:avLst/>
          </a:prstGeom>
          <a:solidFill>
            <a:srgbClr val="E67E22"/>
          </a:solidFill>
          <a:ln w="12700">
            <a:solidFill>
              <a:srgbClr val="E67E22"/>
            </a:solidFill>
            <a:prstDash val="solid"/>
          </a:ln>
        </p:spPr>
      </p:sp>
      <p:sp>
        <p:nvSpPr>
          <p:cNvPr id="31" name="Text 29"/>
          <p:cNvSpPr txBox="1"/>
          <p:nvPr/>
        </p:nvSpPr>
        <p:spPr>
          <a:xfrm>
            <a:off x="83210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L</a:t>
            </a:r>
            <a:endParaRPr lang="en-US" sz="2200" dirty="0"/>
          </a:p>
        </p:txBody>
      </p:sp>
      <p:sp>
        <p:nvSpPr>
          <p:cNvPr id="32" name="Text 30"/>
          <p:cNvSpPr txBox="1"/>
          <p:nvPr/>
        </p:nvSpPr>
        <p:spPr>
          <a:xfrm>
            <a:off x="9098280" y="397764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Legal</a:t>
            </a:r>
            <a:endParaRPr lang="en-US" sz="1800" dirty="0"/>
          </a:p>
        </p:txBody>
      </p:sp>
      <p:sp>
        <p:nvSpPr>
          <p:cNvPr id="33" name="Text 31"/>
          <p:cNvSpPr txBox="1"/>
          <p:nvPr/>
        </p:nvSpPr>
        <p:spPr>
          <a:xfrm>
            <a:off x="8321040" y="475488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Ley antifraude, RGPD, alérgenos, registro de jornada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Clientes, proveedores y competencia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11</a:t>
            </a:r>
            <a:endParaRPr lang="en-US" sz="1100" dirty="0"/>
          </a:p>
        </p:txBody>
      </p:sp>
      <p:sp>
        <p:nvSpPr>
          <p:cNvPr id="4" name="Shape 2"/>
          <p:cNvSpPr/>
          <p:nvPr/>
        </p:nvSpPr>
        <p:spPr>
          <a:xfrm>
            <a:off x="548640" y="1417320"/>
            <a:ext cx="3474720" cy="3566160"/>
          </a:xfrm>
          <a:prstGeom prst="roundRect">
            <a:avLst>
              <a:gd name="adj" fmla="val 3158"/>
            </a:avLst>
          </a:prstGeom>
          <a:solidFill>
            <a:srgbClr val="F4F4F4"/>
          </a:solidFill>
          <a:ln w="12700">
            <a:solidFill>
              <a:srgbClr val="F4F4F4"/>
            </a:solidFill>
            <a:prstDash val="solid"/>
          </a:ln>
        </p:spPr>
      </p:sp>
      <p:sp>
        <p:nvSpPr>
          <p:cNvPr id="5" name="Text 3"/>
          <p:cNvSpPr txBox="1"/>
          <p:nvPr/>
        </p:nvSpPr>
        <p:spPr>
          <a:xfrm>
            <a:off x="822960" y="1645920"/>
            <a:ext cx="2926080" cy="457200"/>
          </a:xfrm>
          <a:prstGeom prst="rect">
            <a:avLst/>
          </a:prstGeom>
          <a:noFill/>
          <a:ln/>
        </p:spPr>
        <p:txBody>
          <a:bodyPr wrap="square" lIns="0" tIns="0" rIns="0" bIns="0" rtlCol="0" anchor="t"/>
          <a:lstStyle/>
          <a:p>
            <a:pPr indent="0" marL="0">
              <a:buNone/>
            </a:pPr>
            <a:r>
              <a:rPr lang="en-US" sz="2000" b="1" dirty="0">
                <a:solidFill>
                  <a:srgbClr val="2B2B2B"/>
                </a:solidFill>
                <a:latin typeface="Arial" pitchFamily="34" charset="0"/>
                <a:ea typeface="Arial" pitchFamily="34" charset="-122"/>
                <a:cs typeface="Arial" pitchFamily="34" charset="-120"/>
              </a:rPr>
              <a:t>Clientes</a:t>
            </a:r>
            <a:endParaRPr lang="en-US" sz="2000" dirty="0"/>
          </a:p>
        </p:txBody>
      </p:sp>
      <p:sp>
        <p:nvSpPr>
          <p:cNvPr id="6" name="Text 4"/>
          <p:cNvSpPr txBox="1"/>
          <p:nvPr/>
        </p:nvSpPr>
        <p:spPr>
          <a:xfrm>
            <a:off x="822960" y="2286000"/>
            <a:ext cx="297180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Estudiantes: rapidez y pago con móvil</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Familias: cuenta dividida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Para llevar: saber cuándo está listo</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Reparto: que no se pierda el pedido</a:t>
            </a:r>
            <a:endParaRPr lang="en-US" sz="1600" dirty="0"/>
          </a:p>
        </p:txBody>
      </p:sp>
      <p:sp>
        <p:nvSpPr>
          <p:cNvPr id="7" name="Shape 5"/>
          <p:cNvSpPr/>
          <p:nvPr/>
        </p:nvSpPr>
        <p:spPr>
          <a:xfrm>
            <a:off x="4297680" y="1417320"/>
            <a:ext cx="3474720" cy="3566160"/>
          </a:xfrm>
          <a:prstGeom prst="roundRect">
            <a:avLst>
              <a:gd name="adj" fmla="val 3158"/>
            </a:avLst>
          </a:prstGeom>
          <a:solidFill>
            <a:srgbClr val="F4F4F4"/>
          </a:solidFill>
          <a:ln w="12700">
            <a:solidFill>
              <a:srgbClr val="F4F4F4"/>
            </a:solidFill>
            <a:prstDash val="solid"/>
          </a:ln>
        </p:spPr>
      </p:sp>
      <p:sp>
        <p:nvSpPr>
          <p:cNvPr id="8" name="Text 6"/>
          <p:cNvSpPr txBox="1"/>
          <p:nvPr/>
        </p:nvSpPr>
        <p:spPr>
          <a:xfrm>
            <a:off x="4572000" y="1645920"/>
            <a:ext cx="2926080" cy="457200"/>
          </a:xfrm>
          <a:prstGeom prst="rect">
            <a:avLst/>
          </a:prstGeom>
          <a:noFill/>
          <a:ln/>
        </p:spPr>
        <p:txBody>
          <a:bodyPr wrap="square" lIns="0" tIns="0" rIns="0" bIns="0" rtlCol="0" anchor="t"/>
          <a:lstStyle/>
          <a:p>
            <a:pPr indent="0" marL="0">
              <a:buNone/>
            </a:pPr>
            <a:r>
              <a:rPr lang="en-US" sz="2000" b="1" dirty="0">
                <a:solidFill>
                  <a:srgbClr val="2B2B2B"/>
                </a:solidFill>
                <a:latin typeface="Arial" pitchFamily="34" charset="0"/>
                <a:ea typeface="Arial" pitchFamily="34" charset="-122"/>
                <a:cs typeface="Arial" pitchFamily="34" charset="-120"/>
              </a:rPr>
              <a:t>Proveedores TIC</a:t>
            </a:r>
            <a:endParaRPr lang="en-US" sz="2000" dirty="0"/>
          </a:p>
        </p:txBody>
      </p:sp>
      <p:sp>
        <p:nvSpPr>
          <p:cNvPr id="9" name="Text 7"/>
          <p:cNvSpPr txBox="1"/>
          <p:nvPr/>
        </p:nvSpPr>
        <p:spPr>
          <a:xfrm>
            <a:off x="4572000" y="2286000"/>
            <a:ext cx="297180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Operadora: una sola línea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Banco: datáfono por wifi</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TPV de 2016 sin mantenimiento</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Plataformas: pedidos fuera del TPV</a:t>
            </a:r>
            <a:endParaRPr lang="en-US" sz="1600" dirty="0"/>
          </a:p>
        </p:txBody>
      </p:sp>
      <p:sp>
        <p:nvSpPr>
          <p:cNvPr id="10" name="Shape 8"/>
          <p:cNvSpPr/>
          <p:nvPr/>
        </p:nvSpPr>
        <p:spPr>
          <a:xfrm>
            <a:off x="8046720" y="1417320"/>
            <a:ext cx="3474720" cy="3566160"/>
          </a:xfrm>
          <a:prstGeom prst="roundRect">
            <a:avLst>
              <a:gd name="adj" fmla="val 3158"/>
            </a:avLst>
          </a:prstGeom>
          <a:solidFill>
            <a:srgbClr val="FDEBD9"/>
          </a:solidFill>
          <a:ln w="12700">
            <a:solidFill>
              <a:srgbClr val="FDEBD9"/>
            </a:solidFill>
            <a:prstDash val="solid"/>
          </a:ln>
        </p:spPr>
      </p:sp>
      <p:sp>
        <p:nvSpPr>
          <p:cNvPr id="11" name="Text 9"/>
          <p:cNvSpPr txBox="1"/>
          <p:nvPr/>
        </p:nvSpPr>
        <p:spPr>
          <a:xfrm>
            <a:off x="8321040" y="1645920"/>
            <a:ext cx="2926080" cy="457200"/>
          </a:xfrm>
          <a:prstGeom prst="rect">
            <a:avLst/>
          </a:prstGeom>
          <a:noFill/>
          <a:ln/>
        </p:spPr>
        <p:txBody>
          <a:bodyPr wrap="square" lIns="0" tIns="0" rIns="0" bIns="0" rtlCol="0" anchor="t"/>
          <a:lstStyle/>
          <a:p>
            <a:pPr indent="0" marL="0">
              <a:buNone/>
            </a:pPr>
            <a:r>
              <a:rPr lang="en-US" sz="2000" b="1" dirty="0">
                <a:solidFill>
                  <a:srgbClr val="2B2B2B"/>
                </a:solidFill>
                <a:latin typeface="Arial" pitchFamily="34" charset="0"/>
                <a:ea typeface="Arial" pitchFamily="34" charset="-122"/>
                <a:cs typeface="Arial" pitchFamily="34" charset="-120"/>
              </a:rPr>
              <a:t>Competencia</a:t>
            </a:r>
            <a:endParaRPr lang="en-US" sz="2000" dirty="0"/>
          </a:p>
        </p:txBody>
      </p:sp>
      <p:sp>
        <p:nvSpPr>
          <p:cNvPr id="12" name="Text 10"/>
          <p:cNvSpPr txBox="1"/>
          <p:nvPr/>
        </p:nvSpPr>
        <p:spPr>
          <a:xfrm>
            <a:off x="8321040" y="2286000"/>
            <a:ext cx="297180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Cadenas con la comanda en pantalla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TPV de mercado: cobran por terminal</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Cada pantalla de cocina es otra cuota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Hueco: pantallas sin licencia</a:t>
            </a:r>
            <a:endParaRPr lang="en-US" sz="1600" dirty="0"/>
          </a:p>
        </p:txBody>
      </p:sp>
      <p:sp>
        <p:nvSpPr>
          <p:cNvPr id="13" name="Text 11"/>
          <p:cNvSpPr txBox="1"/>
          <p:nvPr/>
        </p:nvSpPr>
        <p:spPr>
          <a:xfrm>
            <a:off x="548640" y="5257800"/>
            <a:ext cx="91440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Competencia tecnológica: estudio de mercado del proyecto (Riches Manuel y Roca, 2026).</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Necesidades, por orden de urgencia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12</a:t>
            </a:r>
            <a:endParaRPr lang="en-US" sz="1100" dirty="0"/>
          </a:p>
        </p:txBody>
      </p:sp>
      <p:sp>
        <p:nvSpPr>
          <p:cNvPr id="4" name="Shape 2"/>
          <p:cNvSpPr/>
          <p:nvPr/>
        </p:nvSpPr>
        <p:spPr>
          <a:xfrm>
            <a:off x="548640" y="1463040"/>
            <a:ext cx="640080" cy="640080"/>
          </a:xfrm>
          <a:prstGeom prst="ellipse">
            <a:avLst/>
          </a:prstGeom>
          <a:solidFill>
            <a:srgbClr val="E67E22"/>
          </a:solidFill>
          <a:ln w="12700">
            <a:solidFill>
              <a:srgbClr val="E67E22"/>
            </a:solidFill>
            <a:prstDash val="solid"/>
          </a:ln>
        </p:spPr>
      </p:sp>
      <p:sp>
        <p:nvSpPr>
          <p:cNvPr id="5" name="Text 3"/>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417320" y="146304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Separar la red: negocio, cocina, cámaras e invitados</a:t>
            </a:r>
            <a:endParaRPr lang="en-US" sz="1700" dirty="0"/>
          </a:p>
        </p:txBody>
      </p:sp>
      <p:sp>
        <p:nvSpPr>
          <p:cNvPr id="7" name="Shape 5"/>
          <p:cNvSpPr/>
          <p:nvPr/>
        </p:nvSpPr>
        <p:spPr>
          <a:xfrm>
            <a:off x="548640" y="2514600"/>
            <a:ext cx="640080" cy="640080"/>
          </a:xfrm>
          <a:prstGeom prst="ellipse">
            <a:avLst/>
          </a:prstGeom>
          <a:solidFill>
            <a:srgbClr val="E67E22"/>
          </a:solidFill>
          <a:ln w="12700">
            <a:solidFill>
              <a:srgbClr val="E67E22"/>
            </a:solidFill>
            <a:prstDash val="solid"/>
          </a:ln>
        </p:spPr>
      </p:sp>
      <p:sp>
        <p:nvSpPr>
          <p:cNvPr id="8" name="Text 6"/>
          <p:cNvSpPr txBox="1"/>
          <p:nvPr/>
        </p:nvSpPr>
        <p:spPr>
          <a:xfrm>
            <a:off x="548640" y="251460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417320" y="251460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Copias automáticas verificadas y un SAI</a:t>
            </a:r>
            <a:endParaRPr lang="en-US" sz="1700" dirty="0"/>
          </a:p>
        </p:txBody>
      </p:sp>
      <p:sp>
        <p:nvSpPr>
          <p:cNvPr id="10" name="Shape 8"/>
          <p:cNvSpPr/>
          <p:nvPr/>
        </p:nvSpPr>
        <p:spPr>
          <a:xfrm>
            <a:off x="548640" y="3566160"/>
            <a:ext cx="640080" cy="640080"/>
          </a:xfrm>
          <a:prstGeom prst="ellipse">
            <a:avLst/>
          </a:prstGeom>
          <a:solidFill>
            <a:srgbClr val="E67E22"/>
          </a:solidFill>
          <a:ln w="12700">
            <a:solidFill>
              <a:srgbClr val="E67E22"/>
            </a:solidFill>
            <a:prstDash val="solid"/>
          </a:ln>
        </p:spPr>
      </p:sp>
      <p:sp>
        <p:nvSpPr>
          <p:cNvPr id="11" name="Text 9"/>
          <p:cNvSpPr txBox="1"/>
          <p:nvPr/>
        </p:nvSpPr>
        <p:spPr>
          <a:xfrm>
            <a:off x="548640" y="356616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2" name="Text 10"/>
          <p:cNvSpPr txBox="1"/>
          <p:nvPr/>
        </p:nvSpPr>
        <p:spPr>
          <a:xfrm>
            <a:off x="1417320" y="356616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Caja con soporte y adaptable a Verifactu</a:t>
            </a:r>
            <a:endParaRPr lang="en-US" sz="1700" dirty="0"/>
          </a:p>
        </p:txBody>
      </p:sp>
      <p:sp>
        <p:nvSpPr>
          <p:cNvPr id="13" name="Shape 11"/>
          <p:cNvSpPr/>
          <p:nvPr/>
        </p:nvSpPr>
        <p:spPr>
          <a:xfrm>
            <a:off x="548640" y="4617720"/>
            <a:ext cx="640080" cy="640080"/>
          </a:xfrm>
          <a:prstGeom prst="ellipse">
            <a:avLst/>
          </a:prstGeom>
          <a:solidFill>
            <a:srgbClr val="33383D"/>
          </a:solidFill>
          <a:ln w="12700">
            <a:solidFill>
              <a:srgbClr val="33383D"/>
            </a:solidFill>
            <a:prstDash val="solid"/>
          </a:ln>
        </p:spPr>
      </p:sp>
      <p:sp>
        <p:nvSpPr>
          <p:cNvPr id="14" name="Text 12"/>
          <p:cNvSpPr txBox="1"/>
          <p:nvPr/>
        </p:nvSpPr>
        <p:spPr>
          <a:xfrm>
            <a:off x="548640" y="461772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5" name="Text 13"/>
          <p:cNvSpPr txBox="1"/>
          <p:nvPr/>
        </p:nvSpPr>
        <p:spPr>
          <a:xfrm>
            <a:off x="1417320" y="461772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Comanda en pantalla de cocina con tiempos</a:t>
            </a:r>
            <a:endParaRPr lang="en-US" sz="1700" dirty="0"/>
          </a:p>
        </p:txBody>
      </p:sp>
      <p:sp>
        <p:nvSpPr>
          <p:cNvPr id="16" name="Shape 14"/>
          <p:cNvSpPr/>
          <p:nvPr/>
        </p:nvSpPr>
        <p:spPr>
          <a:xfrm>
            <a:off x="6217920" y="1463040"/>
            <a:ext cx="640080" cy="640080"/>
          </a:xfrm>
          <a:prstGeom prst="ellipse">
            <a:avLst/>
          </a:prstGeom>
          <a:solidFill>
            <a:srgbClr val="33383D"/>
          </a:solidFill>
          <a:ln w="12700">
            <a:solidFill>
              <a:srgbClr val="33383D"/>
            </a:solidFill>
            <a:prstDash val="solid"/>
          </a:ln>
        </p:spPr>
      </p:sp>
      <p:sp>
        <p:nvSpPr>
          <p:cNvPr id="17" name="Text 15"/>
          <p:cNvSpPr txBox="1"/>
          <p:nvPr/>
        </p:nvSpPr>
        <p:spPr>
          <a:xfrm>
            <a:off x="621792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18" name="Text 16"/>
          <p:cNvSpPr txBox="1"/>
          <p:nvPr/>
        </p:nvSpPr>
        <p:spPr>
          <a:xfrm>
            <a:off x="7086600" y="146304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Cuentas individuales y datos fuera de lo personal</a:t>
            </a:r>
            <a:endParaRPr lang="en-US" sz="1700" dirty="0"/>
          </a:p>
        </p:txBody>
      </p:sp>
      <p:sp>
        <p:nvSpPr>
          <p:cNvPr id="19" name="Shape 17"/>
          <p:cNvSpPr/>
          <p:nvPr/>
        </p:nvSpPr>
        <p:spPr>
          <a:xfrm>
            <a:off x="6217920" y="2514600"/>
            <a:ext cx="640080" cy="640080"/>
          </a:xfrm>
          <a:prstGeom prst="ellipse">
            <a:avLst/>
          </a:prstGeom>
          <a:solidFill>
            <a:srgbClr val="33383D"/>
          </a:solidFill>
          <a:ln w="12700">
            <a:solidFill>
              <a:srgbClr val="33383D"/>
            </a:solidFill>
            <a:prstDash val="solid"/>
          </a:ln>
        </p:spPr>
      </p:sp>
      <p:sp>
        <p:nvSpPr>
          <p:cNvPr id="20" name="Text 18"/>
          <p:cNvSpPr txBox="1"/>
          <p:nvPr/>
        </p:nvSpPr>
        <p:spPr>
          <a:xfrm>
            <a:off x="6217920" y="251460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1" name="Text 19"/>
          <p:cNvSpPr txBox="1"/>
          <p:nvPr/>
        </p:nvSpPr>
        <p:spPr>
          <a:xfrm>
            <a:off x="7086600" y="251460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Wifi profesional en sala, terraza y cocina</a:t>
            </a:r>
            <a:endParaRPr lang="en-US" sz="1700" dirty="0"/>
          </a:p>
        </p:txBody>
      </p:sp>
      <p:sp>
        <p:nvSpPr>
          <p:cNvPr id="22" name="Shape 20"/>
          <p:cNvSpPr/>
          <p:nvPr/>
        </p:nvSpPr>
        <p:spPr>
          <a:xfrm>
            <a:off x="6217920" y="3566160"/>
            <a:ext cx="640080" cy="640080"/>
          </a:xfrm>
          <a:prstGeom prst="ellipse">
            <a:avLst/>
          </a:prstGeom>
          <a:solidFill>
            <a:srgbClr val="33383D"/>
          </a:solidFill>
          <a:ln w="12700">
            <a:solidFill>
              <a:srgbClr val="33383D"/>
            </a:solidFill>
            <a:prstDash val="solid"/>
          </a:ln>
        </p:spPr>
      </p:sp>
      <p:sp>
        <p:nvSpPr>
          <p:cNvPr id="23" name="Text 21"/>
          <p:cNvSpPr txBox="1"/>
          <p:nvPr/>
        </p:nvSpPr>
        <p:spPr>
          <a:xfrm>
            <a:off x="6217920" y="356616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24" name="Text 22"/>
          <p:cNvSpPr txBox="1"/>
          <p:nvPr/>
        </p:nvSpPr>
        <p:spPr>
          <a:xfrm>
            <a:off x="7086600" y="356616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Videovigilancia conforme al RGPD</a:t>
            </a:r>
            <a:endParaRPr lang="en-US" sz="1700" dirty="0"/>
          </a:p>
        </p:txBody>
      </p:sp>
      <p:sp>
        <p:nvSpPr>
          <p:cNvPr id="25" name="Shape 23"/>
          <p:cNvSpPr/>
          <p:nvPr/>
        </p:nvSpPr>
        <p:spPr>
          <a:xfrm>
            <a:off x="6217920" y="4617720"/>
            <a:ext cx="5394960" cy="1280160"/>
          </a:xfrm>
          <a:prstGeom prst="roundRect">
            <a:avLst>
              <a:gd name="adj" fmla="val 8571"/>
            </a:avLst>
          </a:prstGeom>
          <a:solidFill>
            <a:srgbClr val="FDEBD9"/>
          </a:solidFill>
          <a:ln w="12700">
            <a:solidFill>
              <a:srgbClr val="FDEBD9"/>
            </a:solidFill>
            <a:prstDash val="solid"/>
          </a:ln>
        </p:spPr>
      </p:sp>
      <p:sp>
        <p:nvSpPr>
          <p:cNvPr id="26" name="Text 24"/>
          <p:cNvSpPr txBox="1"/>
          <p:nvPr/>
        </p:nvSpPr>
        <p:spPr>
          <a:xfrm>
            <a:off x="6446520" y="4709160"/>
            <a:ext cx="4937760" cy="109728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Proyecto de implantación: red segmentada, servidor local con el KDS+TPV, puestos de sala y cocina, copias y supervisión.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Lo que el proyecto tendrá que cumplir</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13</a:t>
            </a:r>
            <a:endParaRPr lang="en-US" sz="1100" dirty="0"/>
          </a:p>
        </p:txBody>
      </p:sp>
      <p:sp>
        <p:nvSpPr>
          <p:cNvPr id="4" name="Shape 2"/>
          <p:cNvSpPr/>
          <p:nvPr/>
        </p:nvSpPr>
        <p:spPr>
          <a:xfrm>
            <a:off x="548640" y="1417320"/>
            <a:ext cx="2194560" cy="1600200"/>
          </a:xfrm>
          <a:prstGeom prst="roundRect">
            <a:avLst>
              <a:gd name="adj" fmla="val 6857"/>
            </a:avLst>
          </a:prstGeom>
          <a:solidFill>
            <a:srgbClr val="F4F4F4"/>
          </a:solidFill>
          <a:ln w="12700">
            <a:solidFill>
              <a:srgbClr val="F4F4F4"/>
            </a:solidFill>
            <a:prstDash val="solid"/>
          </a:ln>
        </p:spPr>
      </p:sp>
      <p:sp>
        <p:nvSpPr>
          <p:cNvPr id="5" name="Text 3"/>
          <p:cNvSpPr txBox="1"/>
          <p:nvPr/>
        </p:nvSpPr>
        <p:spPr>
          <a:xfrm>
            <a:off x="731520" y="16002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Sin internet</a:t>
            </a:r>
            <a:endParaRPr lang="en-US" sz="2400" dirty="0"/>
          </a:p>
        </p:txBody>
      </p:sp>
      <p:sp>
        <p:nvSpPr>
          <p:cNvPr id="6" name="Text 4"/>
          <p:cNvSpPr txBox="1"/>
          <p:nvPr/>
        </p:nvSpPr>
        <p:spPr>
          <a:xfrm>
            <a:off x="731520" y="22402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se sigue tomando nota y cobrando</a:t>
            </a:r>
            <a:endParaRPr lang="en-US" sz="1300" dirty="0"/>
          </a:p>
        </p:txBody>
      </p:sp>
      <p:sp>
        <p:nvSpPr>
          <p:cNvPr id="7" name="Shape 5"/>
          <p:cNvSpPr/>
          <p:nvPr/>
        </p:nvSpPr>
        <p:spPr>
          <a:xfrm>
            <a:off x="2926080" y="1417320"/>
            <a:ext cx="2194560" cy="1600200"/>
          </a:xfrm>
          <a:prstGeom prst="roundRect">
            <a:avLst>
              <a:gd name="adj" fmla="val 6857"/>
            </a:avLst>
          </a:prstGeom>
          <a:solidFill>
            <a:srgbClr val="F4F4F4"/>
          </a:solidFill>
          <a:ln w="12700">
            <a:solidFill>
              <a:srgbClr val="F4F4F4"/>
            </a:solidFill>
            <a:prstDash val="solid"/>
          </a:ln>
        </p:spPr>
      </p:sp>
      <p:sp>
        <p:nvSpPr>
          <p:cNvPr id="8" name="Text 6"/>
          <p:cNvSpPr txBox="1"/>
          <p:nvPr/>
        </p:nvSpPr>
        <p:spPr>
          <a:xfrm>
            <a:off x="3108960" y="16002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4 redes</a:t>
            </a:r>
            <a:endParaRPr lang="en-US" sz="2400" dirty="0"/>
          </a:p>
        </p:txBody>
      </p:sp>
      <p:sp>
        <p:nvSpPr>
          <p:cNvPr id="9" name="Text 7"/>
          <p:cNvSpPr txBox="1"/>
          <p:nvPr/>
        </p:nvSpPr>
        <p:spPr>
          <a:xfrm>
            <a:off x="3108960" y="22402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desde invitados no se ve el negocio</a:t>
            </a:r>
            <a:endParaRPr lang="en-US" sz="1300" dirty="0"/>
          </a:p>
        </p:txBody>
      </p:sp>
      <p:sp>
        <p:nvSpPr>
          <p:cNvPr id="10" name="Shape 8"/>
          <p:cNvSpPr/>
          <p:nvPr/>
        </p:nvSpPr>
        <p:spPr>
          <a:xfrm>
            <a:off x="5303520" y="1417320"/>
            <a:ext cx="2194560" cy="1600200"/>
          </a:xfrm>
          <a:prstGeom prst="roundRect">
            <a:avLst>
              <a:gd name="adj" fmla="val 6857"/>
            </a:avLst>
          </a:prstGeom>
          <a:solidFill>
            <a:srgbClr val="F4F4F4"/>
          </a:solidFill>
          <a:ln w="12700">
            <a:solidFill>
              <a:srgbClr val="F4F4F4"/>
            </a:solidFill>
            <a:prstDash val="solid"/>
          </a:ln>
        </p:spPr>
      </p:sp>
      <p:sp>
        <p:nvSpPr>
          <p:cNvPr id="11" name="Text 9"/>
          <p:cNvSpPr txBox="1"/>
          <p:nvPr/>
        </p:nvSpPr>
        <p:spPr>
          <a:xfrm>
            <a:off x="5486400" y="16002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HTTPS</a:t>
            </a:r>
            <a:endParaRPr lang="en-US" sz="2400" dirty="0"/>
          </a:p>
        </p:txBody>
      </p:sp>
      <p:sp>
        <p:nvSpPr>
          <p:cNvPr id="12" name="Text 10"/>
          <p:cNvSpPr txBox="1"/>
          <p:nvPr/>
        </p:nvSpPr>
        <p:spPr>
          <a:xfrm>
            <a:off x="5486400" y="22402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en todo el tráfico</a:t>
            </a:r>
            <a:endParaRPr lang="en-US" sz="1300" dirty="0"/>
          </a:p>
        </p:txBody>
      </p:sp>
      <p:sp>
        <p:nvSpPr>
          <p:cNvPr id="13" name="Shape 11"/>
          <p:cNvSpPr/>
          <p:nvPr/>
        </p:nvSpPr>
        <p:spPr>
          <a:xfrm>
            <a:off x="548640" y="3246120"/>
            <a:ext cx="2194560" cy="1600200"/>
          </a:xfrm>
          <a:prstGeom prst="roundRect">
            <a:avLst>
              <a:gd name="adj" fmla="val 6857"/>
            </a:avLst>
          </a:prstGeom>
          <a:solidFill>
            <a:srgbClr val="F4F4F4"/>
          </a:solidFill>
          <a:ln w="12700">
            <a:solidFill>
              <a:srgbClr val="F4F4F4"/>
            </a:solidFill>
            <a:prstDash val="solid"/>
          </a:ln>
        </p:spPr>
      </p:sp>
      <p:sp>
        <p:nvSpPr>
          <p:cNvPr id="14" name="Text 12"/>
          <p:cNvSpPr txBox="1"/>
          <p:nvPr/>
        </p:nvSpPr>
        <p:spPr>
          <a:xfrm>
            <a:off x="731520" y="34290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&lt; 1 hora</a:t>
            </a:r>
            <a:endParaRPr lang="en-US" sz="2400" dirty="0"/>
          </a:p>
        </p:txBody>
      </p:sp>
      <p:sp>
        <p:nvSpPr>
          <p:cNvPr id="15" name="Text 13"/>
          <p:cNvSpPr txBox="1"/>
          <p:nvPr/>
        </p:nvSpPr>
        <p:spPr>
          <a:xfrm>
            <a:off x="731520" y="40690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para restaurar todo el sistema</a:t>
            </a:r>
            <a:endParaRPr lang="en-US" sz="1300" dirty="0"/>
          </a:p>
        </p:txBody>
      </p:sp>
      <p:sp>
        <p:nvSpPr>
          <p:cNvPr id="16" name="Shape 14"/>
          <p:cNvSpPr/>
          <p:nvPr/>
        </p:nvSpPr>
        <p:spPr>
          <a:xfrm>
            <a:off x="2926080" y="3246120"/>
            <a:ext cx="2194560" cy="1600200"/>
          </a:xfrm>
          <a:prstGeom prst="roundRect">
            <a:avLst>
              <a:gd name="adj" fmla="val 6857"/>
            </a:avLst>
          </a:prstGeom>
          <a:solidFill>
            <a:srgbClr val="F4F4F4"/>
          </a:solidFill>
          <a:ln w="12700">
            <a:solidFill>
              <a:srgbClr val="F4F4F4"/>
            </a:solidFill>
            <a:prstDash val="solid"/>
          </a:ln>
        </p:spPr>
      </p:sp>
      <p:sp>
        <p:nvSpPr>
          <p:cNvPr id="17" name="Text 15"/>
          <p:cNvSpPr txBox="1"/>
          <p:nvPr/>
        </p:nvSpPr>
        <p:spPr>
          <a:xfrm>
            <a:off x="3108960" y="34290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1 PIN</a:t>
            </a:r>
            <a:endParaRPr lang="en-US" sz="2400" dirty="0"/>
          </a:p>
        </p:txBody>
      </p:sp>
      <p:sp>
        <p:nvSpPr>
          <p:cNvPr id="18" name="Text 16"/>
          <p:cNvSpPr txBox="1"/>
          <p:nvPr/>
        </p:nvSpPr>
        <p:spPr>
          <a:xfrm>
            <a:off x="3108960" y="40690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por persona: cada cobro tiene autor</a:t>
            </a:r>
            <a:endParaRPr lang="en-US" sz="1300" dirty="0"/>
          </a:p>
        </p:txBody>
      </p:sp>
      <p:sp>
        <p:nvSpPr>
          <p:cNvPr id="19" name="Shape 17"/>
          <p:cNvSpPr/>
          <p:nvPr/>
        </p:nvSpPr>
        <p:spPr>
          <a:xfrm>
            <a:off x="5303520" y="3246120"/>
            <a:ext cx="2194560" cy="1600200"/>
          </a:xfrm>
          <a:prstGeom prst="roundRect">
            <a:avLst>
              <a:gd name="adj" fmla="val 6857"/>
            </a:avLst>
          </a:prstGeom>
          <a:solidFill>
            <a:srgbClr val="F4F4F4"/>
          </a:solidFill>
          <a:ln w="12700">
            <a:solidFill>
              <a:srgbClr val="F4F4F4"/>
            </a:solidFill>
            <a:prstDash val="solid"/>
          </a:ln>
        </p:spPr>
      </p:sp>
      <p:sp>
        <p:nvSpPr>
          <p:cNvPr id="20" name="Text 18"/>
          <p:cNvSpPr txBox="1"/>
          <p:nvPr/>
        </p:nvSpPr>
        <p:spPr>
          <a:xfrm>
            <a:off x="5486400" y="34290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0 €</a:t>
            </a:r>
            <a:endParaRPr lang="en-US" sz="2400" dirty="0"/>
          </a:p>
        </p:txBody>
      </p:sp>
      <p:sp>
        <p:nvSpPr>
          <p:cNvPr id="21" name="Text 19"/>
          <p:cNvSpPr txBox="1"/>
          <p:nvPr/>
        </p:nvSpPr>
        <p:spPr>
          <a:xfrm>
            <a:off x="5486400" y="40690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por terminal o por pantalla</a:t>
            </a:r>
            <a:endParaRPr lang="en-US" sz="1300" dirty="0"/>
          </a:p>
        </p:txBody>
      </p:sp>
      <p:sp>
        <p:nvSpPr>
          <p:cNvPr id="22" name="Shape 20"/>
          <p:cNvSpPr/>
          <p:nvPr/>
        </p:nvSpPr>
        <p:spPr>
          <a:xfrm>
            <a:off x="7863840" y="1417320"/>
            <a:ext cx="3749040" cy="3429000"/>
          </a:xfrm>
          <a:prstGeom prst="roundRect">
            <a:avLst>
              <a:gd name="adj" fmla="val 3200"/>
            </a:avLst>
          </a:prstGeom>
          <a:solidFill>
            <a:srgbClr val="23272B"/>
          </a:solidFill>
          <a:ln w="12700">
            <a:solidFill>
              <a:srgbClr val="23272B"/>
            </a:solidFill>
            <a:prstDash val="solid"/>
          </a:ln>
        </p:spPr>
      </p:sp>
      <p:sp>
        <p:nvSpPr>
          <p:cNvPr id="23" name="Text 21"/>
          <p:cNvSpPr txBox="1"/>
          <p:nvPr/>
        </p:nvSpPr>
        <p:spPr>
          <a:xfrm>
            <a:off x="8092440" y="1600200"/>
            <a:ext cx="3291840" cy="4572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Fechas que obligan</a:t>
            </a:r>
            <a:endParaRPr lang="en-US" sz="1800" dirty="0"/>
          </a:p>
        </p:txBody>
      </p:sp>
      <p:sp>
        <p:nvSpPr>
          <p:cNvPr id="24" name="Text 22"/>
          <p:cNvSpPr txBox="1"/>
          <p:nvPr/>
        </p:nvSpPr>
        <p:spPr>
          <a:xfrm>
            <a:off x="8092440" y="2148840"/>
            <a:ext cx="3291840" cy="2377440"/>
          </a:xfrm>
          <a:prstGeom prst="rect">
            <a:avLst/>
          </a:prstGeom>
          <a:noFill/>
          <a:ln/>
        </p:spPr>
        <p:txBody>
          <a:bodyPr wrap="square" lIns="0" tIns="0" rIns="0" bIns="0" rtlCol="0" anchor="t"/>
          <a:lstStyle/>
          <a:p>
            <a:pPr indent="0" marL="0">
              <a:buNone/>
            </a:pPr>
            <a:r>
              <a:rPr lang="en-US" sz="1800" b="1" dirty="0">
                <a:solidFill>
                  <a:srgbClr val="E67E22"/>
                </a:solidFill>
                <a:latin typeface="Arial" pitchFamily="34" charset="0"/>
                <a:ea typeface="Arial" pitchFamily="34" charset="-122"/>
                <a:cs typeface="Arial" pitchFamily="34" charset="-120"/>
              </a:rPr>
              <a:t>1/1/2027</a:t>
            </a:r>
            <a:endParaRPr lang="en-US" sz="1800" dirty="0"/>
          </a:p>
          <a:p>
            <a:pPr indent="0" marL="0">
              <a:buNone/>
            </a:pPr>
            <a:r>
              <a:rPr lang="en-US" sz="1800" dirty="0">
                <a:solidFill>
                  <a:srgbClr val="FFFFFF"/>
                </a:solidFill>
                <a:latin typeface="Arial" pitchFamily="34" charset="0"/>
                <a:ea typeface="Arial" pitchFamily="34" charset="-122"/>
                <a:cs typeface="Arial" pitchFamily="34" charset="-120"/>
              </a:rPr>
              <a:t>Verifactu para sociedades</a:t>
            </a:r>
            <a:endParaRPr lang="en-US" sz="1800" dirty="0"/>
          </a:p>
          <a:p>
            <a:pPr indent="0" marL="0">
              <a:buNone/>
            </a:pPr>
            <a:r>
              <a:rPr lang="en-US" sz="800" dirty="0">
                <a:solidFill>
                  <a:srgbClr val="2B2B2B"/>
                </a:solidFill>
                <a:latin typeface="Arial" pitchFamily="34" charset="0"/>
                <a:ea typeface="Arial" pitchFamily="34" charset="-122"/>
                <a:cs typeface="Arial" pitchFamily="34" charset="-120"/>
              </a:rPr>
              <a:t> </a:t>
            </a:r>
            <a:endParaRPr lang="en-US" sz="1800" dirty="0"/>
          </a:p>
          <a:p>
            <a:pPr indent="0" marL="0">
              <a:buNone/>
            </a:pPr>
            <a:r>
              <a:rPr lang="en-US" sz="1800" b="1" dirty="0">
                <a:solidFill>
                  <a:srgbClr val="E67E22"/>
                </a:solidFill>
                <a:latin typeface="Arial" pitchFamily="34" charset="0"/>
                <a:ea typeface="Arial" pitchFamily="34" charset="-122"/>
                <a:cs typeface="Arial" pitchFamily="34" charset="-120"/>
              </a:rPr>
              <a:t>1/7/2027</a:t>
            </a:r>
            <a:endParaRPr lang="en-US" sz="1800" dirty="0"/>
          </a:p>
          <a:p>
            <a:pPr indent="0" marL="0">
              <a:buNone/>
            </a:pPr>
            <a:r>
              <a:rPr lang="en-US" sz="1800" dirty="0">
                <a:solidFill>
                  <a:srgbClr val="FFFFFF"/>
                </a:solidFill>
                <a:latin typeface="Arial" pitchFamily="34" charset="0"/>
                <a:ea typeface="Arial" pitchFamily="34" charset="-122"/>
                <a:cs typeface="Arial" pitchFamily="34" charset="-120"/>
              </a:rPr>
              <a:t>Verifactu para el resto</a:t>
            </a:r>
            <a:endParaRPr lang="en-US" sz="1800" dirty="0"/>
          </a:p>
        </p:txBody>
      </p:sp>
      <p:sp>
        <p:nvSpPr>
          <p:cNvPr id="25" name="Text 23"/>
          <p:cNvSpPr txBox="1"/>
          <p:nvPr/>
        </p:nvSpPr>
        <p:spPr>
          <a:xfrm>
            <a:off x="548640" y="5212080"/>
            <a:ext cx="11064240" cy="822960"/>
          </a:xfrm>
          <a:prstGeom prst="rect">
            <a:avLst/>
          </a:prstGeom>
          <a:noFill/>
          <a:ln/>
        </p:spPr>
        <p:txBody>
          <a:bodyPr wrap="square" lIns="0" tIns="0" rIns="0" bIns="0" rtlCol="0" anchor="t"/>
          <a:lstStyle/>
          <a:p>
            <a:pPr indent="0" marL="0">
              <a:buNone/>
            </a:pPr>
            <a:r>
              <a:rPr lang="en-US" sz="1400" dirty="0">
                <a:solidFill>
                  <a:srgbClr val="2B2B2B"/>
                </a:solidFill>
                <a:latin typeface="Arial" pitchFamily="34" charset="0"/>
                <a:ea typeface="Arial" pitchFamily="34" charset="-122"/>
                <a:cs typeface="Arial" pitchFamily="34" charset="-120"/>
              </a:rPr>
              <a:t>Obligaciones: IVA del 10 % y facturación, registro de jornada, prevención de riesgos con pantallas y RGPD. Ayudas: Kit Digital (Red.es) y líneas del IVACE+i, según convocatoria abierta; el presupuesto se hará sin contar con ellas.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3272B"/>
        </a:solidFill>
      </p:bgPr>
    </p:bg>
    <p:spTree>
      <p:nvGrpSpPr>
        <p:cNvPr id="1" name=""/>
        <p:cNvGrpSpPr/>
        <p:nvPr/>
      </p:nvGrpSpPr>
      <p:grpSpPr>
        <a:xfrm>
          <a:off x="0" y="0"/>
          <a:ext cx="0" cy="0"/>
          <a:chOff x="0" y="0"/>
          <a:chExt cx="0" cy="0"/>
        </a:xfrm>
      </p:grpSpPr>
      <p:sp>
        <p:nvSpPr>
          <p:cNvPr id="2" name="Text 0"/>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AAAAAA"/>
                </a:solidFill>
                <a:latin typeface="Arial" pitchFamily="34" charset="0"/>
                <a:ea typeface="Arial" pitchFamily="34" charset="-122"/>
                <a:cs typeface="Arial" pitchFamily="34" charset="-120"/>
              </a:rPr>
              <a:t>14</a:t>
            </a:r>
            <a:endParaRPr lang="en-US" sz="1100" dirty="0"/>
          </a:p>
        </p:txBody>
      </p:sp>
      <p:sp>
        <p:nvSpPr>
          <p:cNvPr id="3" name="Text 1"/>
          <p:cNvSpPr txBox="1"/>
          <p:nvPr/>
        </p:nvSpPr>
        <p:spPr>
          <a:xfrm>
            <a:off x="548640" y="1188720"/>
            <a:ext cx="10972800" cy="91440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No falta dinero.</a:t>
            </a:r>
            <a:endParaRPr lang="en-US" sz="4400" dirty="0"/>
          </a:p>
        </p:txBody>
      </p:sp>
      <p:sp>
        <p:nvSpPr>
          <p:cNvPr id="4" name="Text 2"/>
          <p:cNvSpPr txBox="1"/>
          <p:nvPr/>
        </p:nvSpPr>
        <p:spPr>
          <a:xfrm>
            <a:off x="548640" y="2103120"/>
            <a:ext cx="10515600" cy="1097280"/>
          </a:xfrm>
          <a:prstGeom prst="rect">
            <a:avLst/>
          </a:prstGeom>
          <a:noFill/>
          <a:ln/>
        </p:spPr>
        <p:txBody>
          <a:bodyPr wrap="square" lIns="0" tIns="0" rIns="0" bIns="0" rtlCol="0" anchor="t"/>
          <a:lstStyle/>
          <a:p>
            <a:pPr indent="0" marL="0">
              <a:buNone/>
            </a:pPr>
            <a:r>
              <a:rPr lang="en-US" sz="2800" dirty="0">
                <a:solidFill>
                  <a:srgbClr val="E67E22"/>
                </a:solidFill>
                <a:latin typeface="Arial" pitchFamily="34" charset="0"/>
                <a:ea typeface="Arial" pitchFamily="34" charset="-122"/>
                <a:cs typeface="Arial" pitchFamily="34" charset="-120"/>
              </a:rPr>
              <a:t>Falta alguien que diseñe la infraestructura y la deje funcionando sola.</a:t>
            </a:r>
            <a:endParaRPr lang="en-US" sz="2800" dirty="0"/>
          </a:p>
        </p:txBody>
      </p:sp>
      <p:sp>
        <p:nvSpPr>
          <p:cNvPr id="5" name="Shape 3"/>
          <p:cNvSpPr/>
          <p:nvPr/>
        </p:nvSpPr>
        <p:spPr>
          <a:xfrm>
            <a:off x="960120" y="4526280"/>
            <a:ext cx="9509760" cy="0"/>
          </a:xfrm>
          <a:prstGeom prst="line">
            <a:avLst/>
          </a:prstGeom>
          <a:noFill/>
          <a:ln w="25400">
            <a:solidFill>
              <a:srgbClr val="666666"/>
            </a:solidFill>
            <a:prstDash val="solid"/>
          </a:ln>
        </p:spPr>
      </p:sp>
      <p:sp>
        <p:nvSpPr>
          <p:cNvPr id="6" name="Shape 4"/>
          <p:cNvSpPr/>
          <p:nvPr/>
        </p:nvSpPr>
        <p:spPr>
          <a:xfrm>
            <a:off x="548640" y="4114800"/>
            <a:ext cx="822960" cy="822960"/>
          </a:xfrm>
          <a:prstGeom prst="ellipse">
            <a:avLst/>
          </a:prstGeom>
          <a:solidFill>
            <a:srgbClr val="E67E22"/>
          </a:solidFill>
          <a:ln w="12700">
            <a:solidFill>
              <a:srgbClr val="E67E22"/>
            </a:solidFill>
            <a:prstDash val="solid"/>
          </a:ln>
        </p:spPr>
      </p:sp>
      <p:sp>
        <p:nvSpPr>
          <p:cNvPr id="7" name="Text 5"/>
          <p:cNvSpPr txBox="1"/>
          <p:nvPr/>
        </p:nvSpPr>
        <p:spPr>
          <a:xfrm>
            <a:off x="54864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R2</a:t>
            </a:r>
            <a:endParaRPr lang="en-US" sz="1800" dirty="0"/>
          </a:p>
        </p:txBody>
      </p:sp>
      <p:sp>
        <p:nvSpPr>
          <p:cNvPr id="8" name="Text 6"/>
          <p:cNvSpPr txBox="1"/>
          <p:nvPr/>
        </p:nvSpPr>
        <p:spPr>
          <a:xfrm>
            <a:off x="9144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Diseño</a:t>
            </a:r>
            <a:endParaRPr lang="en-US" sz="1500" dirty="0"/>
          </a:p>
        </p:txBody>
      </p:sp>
      <p:sp>
        <p:nvSpPr>
          <p:cNvPr id="9" name="Shape 7"/>
          <p:cNvSpPr/>
          <p:nvPr/>
        </p:nvSpPr>
        <p:spPr>
          <a:xfrm>
            <a:off x="2926080" y="4114800"/>
            <a:ext cx="822960" cy="822960"/>
          </a:xfrm>
          <a:prstGeom prst="ellipse">
            <a:avLst/>
          </a:prstGeom>
          <a:solidFill>
            <a:srgbClr val="E67E22"/>
          </a:solidFill>
          <a:ln w="12700">
            <a:solidFill>
              <a:srgbClr val="E67E22"/>
            </a:solidFill>
            <a:prstDash val="solid"/>
          </a:ln>
        </p:spPr>
      </p:sp>
      <p:sp>
        <p:nvSpPr>
          <p:cNvPr id="10" name="Text 8"/>
          <p:cNvSpPr txBox="1"/>
          <p:nvPr/>
        </p:nvSpPr>
        <p:spPr>
          <a:xfrm>
            <a:off x="292608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R3</a:t>
            </a:r>
            <a:endParaRPr lang="en-US" sz="1800" dirty="0"/>
          </a:p>
        </p:txBody>
      </p:sp>
      <p:sp>
        <p:nvSpPr>
          <p:cNvPr id="11" name="Text 9"/>
          <p:cNvSpPr txBox="1"/>
          <p:nvPr/>
        </p:nvSpPr>
        <p:spPr>
          <a:xfrm>
            <a:off x="246888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Viabilidad</a:t>
            </a:r>
            <a:endParaRPr lang="en-US" sz="1500" dirty="0"/>
          </a:p>
        </p:txBody>
      </p:sp>
      <p:sp>
        <p:nvSpPr>
          <p:cNvPr id="12" name="Shape 10"/>
          <p:cNvSpPr/>
          <p:nvPr/>
        </p:nvSpPr>
        <p:spPr>
          <a:xfrm>
            <a:off x="5303520" y="4114800"/>
            <a:ext cx="822960" cy="822960"/>
          </a:xfrm>
          <a:prstGeom prst="ellipse">
            <a:avLst/>
          </a:prstGeom>
          <a:solidFill>
            <a:srgbClr val="E67E22"/>
          </a:solidFill>
          <a:ln w="12700">
            <a:solidFill>
              <a:srgbClr val="E67E22"/>
            </a:solidFill>
            <a:prstDash val="solid"/>
          </a:ln>
        </p:spPr>
      </p:sp>
      <p:sp>
        <p:nvSpPr>
          <p:cNvPr id="13" name="Text 11"/>
          <p:cNvSpPr txBox="1"/>
          <p:nvPr/>
        </p:nvSpPr>
        <p:spPr>
          <a:xfrm>
            <a:off x="530352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R4</a:t>
            </a:r>
            <a:endParaRPr lang="en-US" sz="1800" dirty="0"/>
          </a:p>
        </p:txBody>
      </p:sp>
      <p:sp>
        <p:nvSpPr>
          <p:cNvPr id="14" name="Text 12"/>
          <p:cNvSpPr txBox="1"/>
          <p:nvPr/>
        </p:nvSpPr>
        <p:spPr>
          <a:xfrm>
            <a:off x="484632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Presupuesto</a:t>
            </a:r>
            <a:endParaRPr lang="en-US" sz="1500" dirty="0"/>
          </a:p>
        </p:txBody>
      </p:sp>
      <p:sp>
        <p:nvSpPr>
          <p:cNvPr id="15" name="Shape 13"/>
          <p:cNvSpPr/>
          <p:nvPr/>
        </p:nvSpPr>
        <p:spPr>
          <a:xfrm>
            <a:off x="7680960" y="4114800"/>
            <a:ext cx="822960" cy="822960"/>
          </a:xfrm>
          <a:prstGeom prst="ellipse">
            <a:avLst/>
          </a:prstGeom>
          <a:solidFill>
            <a:srgbClr val="E67E22"/>
          </a:solidFill>
          <a:ln w="12700">
            <a:solidFill>
              <a:srgbClr val="E67E22"/>
            </a:solidFill>
            <a:prstDash val="solid"/>
          </a:ln>
        </p:spPr>
      </p:sp>
      <p:sp>
        <p:nvSpPr>
          <p:cNvPr id="16" name="Text 14"/>
          <p:cNvSpPr txBox="1"/>
          <p:nvPr/>
        </p:nvSpPr>
        <p:spPr>
          <a:xfrm>
            <a:off x="768096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R5</a:t>
            </a:r>
            <a:endParaRPr lang="en-US" sz="1800" dirty="0"/>
          </a:p>
        </p:txBody>
      </p:sp>
      <p:sp>
        <p:nvSpPr>
          <p:cNvPr id="17" name="Text 15"/>
          <p:cNvSpPr txBox="1"/>
          <p:nvPr/>
        </p:nvSpPr>
        <p:spPr>
          <a:xfrm>
            <a:off x="722376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Documentación</a:t>
            </a:r>
            <a:endParaRPr lang="en-US" sz="1500" dirty="0"/>
          </a:p>
        </p:txBody>
      </p:sp>
      <p:sp>
        <p:nvSpPr>
          <p:cNvPr id="18" name="Shape 16"/>
          <p:cNvSpPr/>
          <p:nvPr/>
        </p:nvSpPr>
        <p:spPr>
          <a:xfrm>
            <a:off x="10058400" y="4114800"/>
            <a:ext cx="822960" cy="822960"/>
          </a:xfrm>
          <a:prstGeom prst="ellipse">
            <a:avLst/>
          </a:prstGeom>
          <a:solidFill>
            <a:srgbClr val="E67E22"/>
          </a:solidFill>
          <a:ln w="12700">
            <a:solidFill>
              <a:srgbClr val="E67E22"/>
            </a:solidFill>
            <a:prstDash val="solid"/>
          </a:ln>
        </p:spPr>
      </p:sp>
      <p:sp>
        <p:nvSpPr>
          <p:cNvPr id="19" name="Text 17"/>
          <p:cNvSpPr txBox="1"/>
          <p:nvPr/>
        </p:nvSpPr>
        <p:spPr>
          <a:xfrm>
            <a:off x="1005840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R6</a:t>
            </a:r>
            <a:endParaRPr lang="en-US" sz="1800" dirty="0"/>
          </a:p>
        </p:txBody>
      </p:sp>
      <p:sp>
        <p:nvSpPr>
          <p:cNvPr id="20" name="Text 18"/>
          <p:cNvSpPr txBox="1"/>
          <p:nvPr/>
        </p:nvSpPr>
        <p:spPr>
          <a:xfrm>
            <a:off x="960120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Plan de intervención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72B"/>
        </a:solidFill>
      </p:bgPr>
    </p:bg>
    <p:spTree>
      <p:nvGrpSpPr>
        <p:cNvPr id="1" name=""/>
        <p:cNvGrpSpPr/>
        <p:nvPr/>
      </p:nvGrpSpPr>
      <p:grpSpPr>
        <a:xfrm>
          <a:off x="0" y="0"/>
          <a:ext cx="0" cy="0"/>
          <a:chOff x="0" y="0"/>
          <a:chExt cx="0" cy="0"/>
        </a:xfrm>
      </p:grpSpPr>
      <p:sp>
        <p:nvSpPr>
          <p:cNvPr id="2" name="Text 0"/>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AAAAAA"/>
                </a:solidFill>
                <a:latin typeface="Arial" pitchFamily="34" charset="0"/>
                <a:ea typeface="Arial" pitchFamily="34" charset="-122"/>
                <a:cs typeface="Arial" pitchFamily="34" charset="-120"/>
              </a:rPr>
              <a:t>15</a:t>
            </a:r>
            <a:endParaRPr lang="en-US" sz="1100" dirty="0"/>
          </a:p>
        </p:txBody>
      </p:sp>
      <p:sp>
        <p:nvSpPr>
          <p:cNvPr id="3" name="Text 1"/>
          <p:cNvSpPr txBox="1"/>
          <p:nvPr/>
        </p:nvSpPr>
        <p:spPr>
          <a:xfrm>
            <a:off x="548640" y="2011680"/>
            <a:ext cx="10972800" cy="1097280"/>
          </a:xfrm>
          <a:prstGeom prst="rect">
            <a:avLst/>
          </a:prstGeom>
          <a:noFill/>
          <a:ln/>
        </p:spPr>
        <p:txBody>
          <a:bodyPr wrap="square" lIns="0" tIns="0" rIns="0" bIns="0" rtlCol="0" anchor="t"/>
          <a:lstStyle/>
          <a:p>
            <a:pPr indent="0" marL="0">
              <a:buNone/>
            </a:pPr>
            <a:r>
              <a:rPr lang="en-US" sz="5400" b="1" dirty="0">
                <a:solidFill>
                  <a:srgbClr val="FFFFFF"/>
                </a:solidFill>
                <a:latin typeface="Arial" pitchFamily="34" charset="0"/>
                <a:ea typeface="Arial" pitchFamily="34" charset="-122"/>
                <a:cs typeface="Arial" pitchFamily="34" charset="-120"/>
              </a:rPr>
              <a:t>¿Preguntas?</a:t>
            </a:r>
            <a:endParaRPr lang="en-US" sz="5400" dirty="0"/>
          </a:p>
        </p:txBody>
      </p:sp>
      <p:sp>
        <p:nvSpPr>
          <p:cNvPr id="4" name="Text 2"/>
          <p:cNvSpPr txBox="1"/>
          <p:nvPr/>
        </p:nvSpPr>
        <p:spPr>
          <a:xfrm>
            <a:off x="548640" y="3291840"/>
            <a:ext cx="10972800" cy="457200"/>
          </a:xfrm>
          <a:prstGeom prst="rect">
            <a:avLst/>
          </a:prstGeom>
          <a:noFill/>
          <a:ln/>
        </p:spPr>
        <p:txBody>
          <a:bodyPr wrap="square" lIns="0" tIns="0" rIns="0" bIns="0" rtlCol="0" anchor="t"/>
          <a:lstStyle/>
          <a:p>
            <a:pPr indent="0" marL="0">
              <a:buNone/>
            </a:pPr>
            <a:r>
              <a:rPr lang="en-US" sz="1800" dirty="0">
                <a:solidFill>
                  <a:srgbClr val="E67E22"/>
                </a:solidFill>
                <a:latin typeface="Arial" pitchFamily="34" charset="0"/>
                <a:ea typeface="Arial" pitchFamily="34" charset="-122"/>
                <a:cs typeface="Arial" pitchFamily="34" charset="-120"/>
              </a:rPr>
              <a:t>Informe completo: «Análisis del contexto tecnológico de Burglar King» (Reto 1).</a:t>
            </a:r>
            <a:endParaRPr lang="en-US" sz="1800" dirty="0"/>
          </a:p>
        </p:txBody>
      </p:sp>
      <p:sp>
        <p:nvSpPr>
          <p:cNvPr id="5" name="Text 3"/>
          <p:cNvSpPr txBox="1"/>
          <p:nvPr/>
        </p:nvSpPr>
        <p:spPr>
          <a:xfrm>
            <a:off x="548640" y="4937760"/>
            <a:ext cx="10972800" cy="822960"/>
          </a:xfrm>
          <a:prstGeom prst="rect">
            <a:avLst/>
          </a:prstGeom>
          <a:noFill/>
          <a:ln/>
        </p:spPr>
        <p:txBody>
          <a:bodyPr wrap="square" lIns="0" tIns="0" rIns="0" bIns="0" rtlCol="0" anchor="t"/>
          <a:lstStyle/>
          <a:p>
            <a:pPr indent="0" marL="0">
              <a:buNone/>
            </a:pPr>
            <a:r>
              <a:rPr lang="en-US" sz="1300" dirty="0">
                <a:solidFill>
                  <a:srgbClr val="BBBBBB"/>
                </a:solidFill>
                <a:latin typeface="Arial" pitchFamily="34" charset="0"/>
                <a:ea typeface="Arial" pitchFamily="34" charset="-122"/>
                <a:cs typeface="Arial" pitchFamily="34" charset="-120"/>
              </a:rPr>
              <a:t>Fuentes principales: INE (2025), Profesional Horeca (2025), Hosteltur (2026), El Periòdic (2025), Microsoft (2025), Garrigues (2025), Red.es (s.f.), normativa del BOE y del DOUE. Referencias completas en formato APA en el informe.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del contexto tecnológico de Burglar King</dc:title>
  <dc:subject>PptxGenJS Presentation</dc:subject>
  <dc:creator>Riches Manuel y Roca</dc:creator>
  <cp:lastModifiedBy>Riches Manuel y Roca</cp:lastModifiedBy>
  <cp:revision>1</cp:revision>
  <dcterms:created xsi:type="dcterms:W3CDTF">2026-10-05T11:34:17Z</dcterms:created>
  <dcterms:modified xsi:type="dcterms:W3CDTF">2026-10-05T11:34:17Z</dcterms:modified>
</cp:coreProperties>
</file>