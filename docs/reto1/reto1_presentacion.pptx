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análisis del contexto tecnológico de La Plancha, la empresa para la que estamos desarrollando el TPV con pantallas de cocina. El objetivo del reto es entender qué tecnología tiene hoy la empresa, en qué entorno se mueve y qué necesita, antes de proponer nada. El título lo resume: vamos a mirar lo que hay detrás de la barra.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Plancha es una hamburguesería de barrio en Burjassot, al lado del campus de la Universitat de València. Tiene trece mesas y cuatro personas: el encargado, dos camareros y una cocinera. Es una empresa ficticia, como permite el enunciado, pero la hemos construido con datos reales del sector. Pertenece al grupo más numeroso de la hostelería: el local independiente, que es el 93 por ciento de los establecimientos. Lo importante es que el servicio se concentra en franjas cortas, y ahí es donde la tecnología no puede fallar.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estructura es plana: sala, cocina y una persona que lo concentra todo. Ese es el primer hallazgo: el encargado es dirección, compras, caja, administración y, en la práctica, el único responsable de informática. Si él falta un día, nadie sabe reiniciar el router ni recuperar la contraseña del TPV. Igual que hay puntos únicos de fallo técnicos, aquí hay uno humano.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la información del proceso central, la comanda. Nace en un comandero de papel, viaja a la cocina pinchada y a voz, se prepara de memoria, sale al pase con un grito y solo entra en un sistema informático en el último paso, cuando el camarero la teclea en el TPV para cobrar. Es decir, el dato llega cuando el cliente ya se va. En cada paso hay un problema: letra ilegible, sin hora, nadie ve el retraso, platos fríos, y el doble tecleo que acaba en descuadres.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inventario. El único equipo que guarda datos del negocio, el PC del TPV, es el más viejo y el que tiene el disco en peor estado. No hay SAI. El router y el grabador están en una balda del almacén, con calor y grasa: no hace falta un CPD, pero sí cuidar las condiciones del equipamiento. El grabador tiene la contraseña de fábrica. Y lo más delicado: los datos del negocio están en el portátil y en el móvil personales del encargado. Además hay cableado cruzando la barra y equipos viejos que deben ir al punto limpio como RAEE.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es la que dejó la operadora: un router que hace de módem, cortafuegos, DHCP y punto de acceso. Es una estrella con un único dispositivo de interconexión y una sola subred, la 192.168.1.0/24, sin VLAN. Eso significa que el móvil de cualquier cliente está en el mismo dominio de difusión que la caja, el datáfono y el grabador. La clave del wifi está escrita en la pizarra, la del router es la de fábrica y el grabador está expuesto a internet. Además, la cobertura en terraza es mala y el datáfono se desconecta.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sistemas operativos hay un dato con fecha: el 14 de octubre de 2025 terminó el soporte de Windows 10, que es el sistema del ordenador de cobro. Su procesador no está en la lista de Windows 11, así que no se puede actualizar: hay que sustituirlo o cambiar de sistema. El portátil lleva Windows 11 Home, que no se puede unir a un dominio. Y la información está dispersa: no hay ningún servidor que centralice datos, cuentas ni copias. Para cuatro personas un dominio completo no tiene sentido, pero un servidor local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Valoramos cada riesgo con probabilidad por impacto, de 1 a 3. Salen diez riesgos y seis son críticos. Los dos peores, con un 9: el grabador expuesto en internet con la contraseña de fábrica, y la red única compartida con los clientes. Les siguen la falta de copias, el sistema sin soporte, la cuenta compartida en el TPV, que impide saber quién cobra o anula, y el disco dañado sin SAI. Lo interesante es que casi ninguno exige dinero: separar redes, cambiar contraseñas y hacer copias cuesta muy poco. Falta conocimiento, no presupuesto.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entorno. La hostelería española tiene más de 280.000 establecimientos y el 93 por ciento son independientes, como La Plancha. En la Comunitat Valenciana hay más de 31.000 bares y restaurantes, uno por cada 174 habitantes. Y el dato clave: el sector factura más, pero la restauración tuvo rentabilidad negativa en 2025. Conclusión para el proyecto: cualquier inversión se mide en euros ahorrados, no en funciones.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PESTEL. En lo político y legal, lo que más pesa es Verifactu: desde el 1 de enero de 2027 una sociedad como La Plancha necesita un sistema de facturación adaptado, y su TPV de 2016 sin mantenimiento no lo estará. En lo económico, márgenes estrechos. En lo social, un cliente joven que paga con el móvil, así que el datáfono tiene que funcionar también en la terraza. En lo tecnológico, el fin de Windows 10 y una digitalización que se ha quedado en el cobro y no ha llegado a la cocina. En lo ambiental, el papel térmico y los residuos electrónicos. Y en lo legal, además, protección de datos con las cámaras, alérgenos y registro de jornada.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microentorno. Los clientes se concentran en franjas cortas: estudiantes que quieren rapidez, familias que dividen la cuenta, pedidos para llevar y reparto. Los proveedores que más importan son los tecnológicos: una operadora con una sola línea, el banco con su datáfono, el fabricante del TPV que ya no da mantenimiento y las plataformas, cuyos pedidos no llegan al TPV. En competencia hay dos planos: las cadenas, que ya llevan la comanda a la cocina en pantalla, y los TPV del mercado, que casi todos cobran por terminal. Nuestro estudio de trece productos lo confirma: añadir una pantalla de cocina es pagar otra licencia. Ahí está el hueco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Cruzando lo interno con el entorno salen siete necesidades. Las tres primeras son las urgentes: separar la red, hacer copias con un SAI y cambiar la caja por un sistema con soporte y adaptable a Verifactu. Después, llevar la comanda a la cocina en pantalla, que es el corazón del negocio; cuentas individuales; wifi profesional y adecuar las cámaras al RGPD. El tipo de proyecto que responde a esto es una implantación de infraestructura: red segmentada, un servidor local con nuestro TPV y KDS, los puestos de sala y cocina, y copias y supervisión.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necesidades salen las características que tendrá que cumplir el proyecto, y que servirán para evaluarlo: funcionar sin internet, al menos cuatro redes separadas, todo el tráfico cifrado, restaurar el sistema en menos de una hora, un PIN por persona para que cada cobro tenga autor, y cero euros de cuota por pantalla. Hay fechas que obligan: Verifactu el 1 de enero de 2027 para sociedades. También recogemos las obligaciones fiscales, laborales y de prevención, y las ayudas posibles, como el Kit Digital; como dependen de convocatorias, el presupuesto se hará sin contar con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La Plancha tiene tres problemas de fondo: trabaja a ciegas durante el servicio, guarda sus datos en un equipo sin soporte y sin copias, y comparte una red plana con sus clientes. El entorno añade una fecha, Verifactu, y una oportunidad, el hardware barato y un software sin cuotas por pantalla. Y la conclusión que más nos ha sorprendido: las medidas más urgentes casi no cuestan dinero. No falta dinero; falta alguien que diseñe la infraestructura y la deje funcionando sola. Eso es lo que haremos en los próximos retos: diseño, viabilidad, presupuesto, documentación y plan de intervención.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Quedamos abiertos a preguntas. Todas las fuentes están citadas en formato APA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72B"/>
        </a:solidFill>
      </p:bgPr>
    </p:bg>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E67E22"/>
          </a:solidFill>
          <a:ln w="12700">
            <a:solidFill>
              <a:srgbClr val="E67E22"/>
            </a:solidFill>
            <a:prstDash val="solid"/>
          </a:ln>
        </p:spPr>
      </p:sp>
      <p:sp>
        <p:nvSpPr>
          <p:cNvPr id="3" name="Text 1"/>
          <p:cNvSpPr txBox="1"/>
          <p:nvPr/>
        </p:nvSpPr>
        <p:spPr>
          <a:xfrm>
            <a:off x="548640" y="109728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R1</a:t>
            </a:r>
            <a:endParaRPr lang="en-US" sz="2000" dirty="0"/>
          </a:p>
        </p:txBody>
      </p:sp>
      <p:sp>
        <p:nvSpPr>
          <p:cNvPr id="4" name="Text 2"/>
          <p:cNvSpPr txBox="1"/>
          <p:nvPr/>
        </p:nvSpPr>
        <p:spPr>
          <a:xfrm>
            <a:off x="548640" y="2194560"/>
            <a:ext cx="10058400" cy="100584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Lo que hay detrás de la barra</a:t>
            </a:r>
            <a:endParaRPr lang="en-US" sz="4800" dirty="0"/>
          </a:p>
        </p:txBody>
      </p:sp>
      <p:sp>
        <p:nvSpPr>
          <p:cNvPr id="5" name="Text 3"/>
          <p:cNvSpPr txBox="1"/>
          <p:nvPr/>
        </p:nvSpPr>
        <p:spPr>
          <a:xfrm>
            <a:off x="548640" y="3200400"/>
            <a:ext cx="10058400" cy="548640"/>
          </a:xfrm>
          <a:prstGeom prst="rect">
            <a:avLst/>
          </a:prstGeom>
          <a:noFill/>
          <a:ln/>
        </p:spPr>
        <p:txBody>
          <a:bodyPr wrap="square" lIns="0" tIns="0" rIns="0" bIns="0" rtlCol="0" anchor="t"/>
          <a:lstStyle/>
          <a:p>
            <a:pPr indent="0" marL="0">
              <a:buNone/>
            </a:pPr>
            <a:r>
              <a:rPr lang="en-US" sz="2400" dirty="0">
                <a:solidFill>
                  <a:srgbClr val="E67E22"/>
                </a:solidFill>
                <a:latin typeface="Arial" pitchFamily="34" charset="0"/>
                <a:ea typeface="Arial" pitchFamily="34" charset="-122"/>
                <a:cs typeface="Arial" pitchFamily="34" charset="-120"/>
              </a:rPr>
              <a:t>Análisis del contexto tecnológico de La Plancha</a:t>
            </a:r>
            <a:endParaRPr lang="en-US" sz="2400" dirty="0"/>
          </a:p>
        </p:txBody>
      </p:sp>
      <p:sp>
        <p:nvSpPr>
          <p:cNvPr id="6" name="Text 4"/>
          <p:cNvSpPr txBox="1"/>
          <p:nvPr/>
        </p:nvSpPr>
        <p:spPr>
          <a:xfrm>
            <a:off x="548640" y="5120640"/>
            <a:ext cx="10058400" cy="365760"/>
          </a:xfrm>
          <a:prstGeom prst="rect">
            <a:avLst/>
          </a:prstGeom>
          <a:noFill/>
          <a:ln/>
        </p:spPr>
        <p:txBody>
          <a:bodyPr wrap="square" lIns="0" tIns="0" rIns="0" bIns="0" rtlCol="0" anchor="t"/>
          <a:lstStyle/>
          <a:p>
            <a:pPr indent="0" marL="0">
              <a:buNone/>
            </a:pPr>
            <a:r>
              <a:rPr lang="en-US" sz="1600" dirty="0">
                <a:solidFill>
                  <a:srgbClr val="CCCCCC"/>
                </a:solidFill>
                <a:latin typeface="Arial" pitchFamily="34" charset="0"/>
                <a:ea typeface="Arial" pitchFamily="34" charset="-122"/>
                <a:cs typeface="Arial" pitchFamily="34" charset="-120"/>
              </a:rPr>
              <a:t>Reto 1 · Proyecto Intermodular I · 1.º CFGS ASIR · IES Conselleria</a:t>
            </a:r>
            <a:endParaRPr lang="en-US" sz="1600" dirty="0"/>
          </a:p>
        </p:txBody>
      </p:sp>
      <p:sp>
        <p:nvSpPr>
          <p:cNvPr id="7" name="Text 5"/>
          <p:cNvSpPr txBox="1"/>
          <p:nvPr/>
        </p:nvSpPr>
        <p:spPr>
          <a:xfrm>
            <a:off x="548640" y="5532120"/>
            <a:ext cx="10058400" cy="365760"/>
          </a:xfrm>
          <a:prstGeom prst="rect">
            <a:avLst/>
          </a:prstGeom>
          <a:noFill/>
          <a:ln/>
        </p:spPr>
        <p:txBody>
          <a:bodyPr wrap="square" lIns="0" tIns="0" rIns="0" bIns="0" rtlCol="0" anchor="t"/>
          <a:lstStyle/>
          <a:p>
            <a:pPr indent="0" marL="0">
              <a:buNone/>
            </a:pPr>
            <a:r>
              <a:rPr lang="en-US" sz="1600" dirty="0">
                <a:solidFill>
                  <a:srgbClr val="CCCCCC"/>
                </a:solidFill>
                <a:latin typeface="Arial" pitchFamily="34" charset="0"/>
                <a:ea typeface="Arial" pitchFamily="34" charset="-122"/>
                <a:cs typeface="Arial" pitchFamily="34" charset="-120"/>
              </a:rPr>
              <a:t>Riches Manuel y Roca · octubre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La Plancha: una hamburguesería de barrio</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2</a:t>
            </a:r>
            <a:endParaRPr lang="en-US" sz="1100" dirty="0"/>
          </a:p>
        </p:txBody>
      </p:sp>
      <p:sp>
        <p:nvSpPr>
          <p:cNvPr id="4" name="Shape 2"/>
          <p:cNvSpPr/>
          <p:nvPr/>
        </p:nvSpPr>
        <p:spPr>
          <a:xfrm>
            <a:off x="548640" y="1554480"/>
            <a:ext cx="2560320" cy="2377440"/>
          </a:xfrm>
          <a:prstGeom prst="roundRect">
            <a:avLst>
              <a:gd name="adj" fmla="val 4615"/>
            </a:avLst>
          </a:prstGeom>
          <a:solidFill>
            <a:srgbClr val="F4F4F4"/>
          </a:solidFill>
          <a:ln w="12700">
            <a:solidFill>
              <a:srgbClr val="F4F4F4"/>
            </a:solidFill>
            <a:prstDash val="solid"/>
          </a:ln>
        </p:spPr>
      </p:sp>
      <p:sp>
        <p:nvSpPr>
          <p:cNvPr id="5" name="Text 3"/>
          <p:cNvSpPr txBox="1"/>
          <p:nvPr/>
        </p:nvSpPr>
        <p:spPr>
          <a:xfrm>
            <a:off x="777240" y="1783080"/>
            <a:ext cx="2194560" cy="1005840"/>
          </a:xfrm>
          <a:prstGeom prst="rect">
            <a:avLst/>
          </a:prstGeom>
          <a:noFill/>
          <a:ln/>
        </p:spPr>
        <p:txBody>
          <a:bodyPr wrap="square" lIns="0" tIns="0" rIns="0" bIns="0" rtlCol="0" anchor="ctr"/>
          <a:lstStyle/>
          <a:p>
            <a:pPr indent="0" marL="0">
              <a:buNone/>
            </a:pPr>
            <a:r>
              <a:rPr lang="en-US" sz="5400" b="1" dirty="0">
                <a:solidFill>
                  <a:srgbClr val="E67E22"/>
                </a:solidFill>
                <a:latin typeface="Arial" pitchFamily="34" charset="0"/>
                <a:ea typeface="Arial" pitchFamily="34" charset="-122"/>
                <a:cs typeface="Arial" pitchFamily="34" charset="-120"/>
              </a:rPr>
              <a:t>13</a:t>
            </a:r>
            <a:endParaRPr lang="en-US" sz="5400" dirty="0"/>
          </a:p>
        </p:txBody>
      </p:sp>
      <p:sp>
        <p:nvSpPr>
          <p:cNvPr id="6" name="Text 4"/>
          <p:cNvSpPr txBox="1"/>
          <p:nvPr/>
        </p:nvSpPr>
        <p:spPr>
          <a:xfrm>
            <a:off x="777240" y="2880360"/>
            <a:ext cx="2103120" cy="82296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mesas en sala,</a:t>
            </a:r>
            <a:endParaRPr lang="en-US" sz="1600" dirty="0"/>
          </a:p>
          <a:p>
            <a:pPr indent="0" marL="0">
              <a:buNone/>
            </a:pPr>
            <a:r>
              <a:rPr lang="en-US" sz="1600" dirty="0">
                <a:solidFill>
                  <a:srgbClr val="2B2B2B"/>
                </a:solidFill>
                <a:latin typeface="Arial" pitchFamily="34" charset="0"/>
                <a:ea typeface="Arial" pitchFamily="34" charset="-122"/>
                <a:cs typeface="Arial" pitchFamily="34" charset="-120"/>
              </a:rPr>
              <a:t>terraza y barra</a:t>
            </a:r>
            <a:endParaRPr lang="en-US" sz="1600" dirty="0"/>
          </a:p>
        </p:txBody>
      </p:sp>
      <p:sp>
        <p:nvSpPr>
          <p:cNvPr id="7" name="Shape 5"/>
          <p:cNvSpPr/>
          <p:nvPr/>
        </p:nvSpPr>
        <p:spPr>
          <a:xfrm>
            <a:off x="3337560" y="1554480"/>
            <a:ext cx="2560320" cy="2377440"/>
          </a:xfrm>
          <a:prstGeom prst="roundRect">
            <a:avLst>
              <a:gd name="adj" fmla="val 4615"/>
            </a:avLst>
          </a:prstGeom>
          <a:solidFill>
            <a:srgbClr val="F4F4F4"/>
          </a:solidFill>
          <a:ln w="12700">
            <a:solidFill>
              <a:srgbClr val="F4F4F4"/>
            </a:solidFill>
            <a:prstDash val="solid"/>
          </a:ln>
        </p:spPr>
      </p:sp>
      <p:sp>
        <p:nvSpPr>
          <p:cNvPr id="8" name="Text 6"/>
          <p:cNvSpPr txBox="1"/>
          <p:nvPr/>
        </p:nvSpPr>
        <p:spPr>
          <a:xfrm>
            <a:off x="3566160" y="1783080"/>
            <a:ext cx="2194560" cy="1005840"/>
          </a:xfrm>
          <a:prstGeom prst="rect">
            <a:avLst/>
          </a:prstGeom>
          <a:noFill/>
          <a:ln/>
        </p:spPr>
        <p:txBody>
          <a:bodyPr wrap="square" lIns="0" tIns="0" rIns="0" bIns="0" rtlCol="0" anchor="ctr"/>
          <a:lstStyle/>
          <a:p>
            <a:pPr indent="0" marL="0">
              <a:buNone/>
            </a:pPr>
            <a:r>
              <a:rPr lang="en-US" sz="5400" b="1" dirty="0">
                <a:solidFill>
                  <a:srgbClr val="E67E22"/>
                </a:solidFill>
                <a:latin typeface="Arial" pitchFamily="34" charset="0"/>
                <a:ea typeface="Arial" pitchFamily="34" charset="-122"/>
                <a:cs typeface="Arial" pitchFamily="34" charset="-120"/>
              </a:rPr>
              <a:t>4</a:t>
            </a:r>
            <a:endParaRPr lang="en-US" sz="5400" dirty="0"/>
          </a:p>
        </p:txBody>
      </p:sp>
      <p:sp>
        <p:nvSpPr>
          <p:cNvPr id="9" name="Text 7"/>
          <p:cNvSpPr txBox="1"/>
          <p:nvPr/>
        </p:nvSpPr>
        <p:spPr>
          <a:xfrm>
            <a:off x="3566160" y="2880360"/>
            <a:ext cx="2103120" cy="82296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personas en</a:t>
            </a:r>
            <a:endParaRPr lang="en-US" sz="1600" dirty="0"/>
          </a:p>
          <a:p>
            <a:pPr indent="0" marL="0">
              <a:buNone/>
            </a:pPr>
            <a:r>
              <a:rPr lang="en-US" sz="1600" dirty="0">
                <a:solidFill>
                  <a:srgbClr val="2B2B2B"/>
                </a:solidFill>
                <a:latin typeface="Arial" pitchFamily="34" charset="0"/>
                <a:ea typeface="Arial" pitchFamily="34" charset="-122"/>
                <a:cs typeface="Arial" pitchFamily="34" charset="-120"/>
              </a:rPr>
              <a:t>plantilla</a:t>
            </a:r>
            <a:endParaRPr lang="en-US" sz="1600" dirty="0"/>
          </a:p>
        </p:txBody>
      </p:sp>
      <p:sp>
        <p:nvSpPr>
          <p:cNvPr id="10" name="Shape 8"/>
          <p:cNvSpPr/>
          <p:nvPr/>
        </p:nvSpPr>
        <p:spPr>
          <a:xfrm>
            <a:off x="6126480" y="1554480"/>
            <a:ext cx="2560320" cy="2377440"/>
          </a:xfrm>
          <a:prstGeom prst="roundRect">
            <a:avLst>
              <a:gd name="adj" fmla="val 4615"/>
            </a:avLst>
          </a:prstGeom>
          <a:solidFill>
            <a:srgbClr val="F4F4F4"/>
          </a:solidFill>
          <a:ln w="12700">
            <a:solidFill>
              <a:srgbClr val="F4F4F4"/>
            </a:solidFill>
            <a:prstDash val="solid"/>
          </a:ln>
        </p:spPr>
      </p:sp>
      <p:sp>
        <p:nvSpPr>
          <p:cNvPr id="11" name="Text 9"/>
          <p:cNvSpPr txBox="1"/>
          <p:nvPr/>
        </p:nvSpPr>
        <p:spPr>
          <a:xfrm>
            <a:off x="6355080" y="1783080"/>
            <a:ext cx="2194560" cy="1005840"/>
          </a:xfrm>
          <a:prstGeom prst="rect">
            <a:avLst/>
          </a:prstGeom>
          <a:noFill/>
          <a:ln/>
        </p:spPr>
        <p:txBody>
          <a:bodyPr wrap="square" lIns="0" tIns="0" rIns="0" bIns="0" rtlCol="0" anchor="ctr"/>
          <a:lstStyle/>
          <a:p>
            <a:pPr indent="0" marL="0">
              <a:buNone/>
            </a:pPr>
            <a:r>
              <a:rPr lang="en-US" sz="3800" b="1" dirty="0">
                <a:solidFill>
                  <a:srgbClr val="E67E22"/>
                </a:solidFill>
                <a:latin typeface="Arial" pitchFamily="34" charset="0"/>
                <a:ea typeface="Arial" pitchFamily="34" charset="-122"/>
                <a:cs typeface="Arial" pitchFamily="34" charset="-120"/>
              </a:rPr>
              <a:t>15-25 €</a:t>
            </a:r>
            <a:endParaRPr lang="en-US" sz="3800" dirty="0"/>
          </a:p>
        </p:txBody>
      </p:sp>
      <p:sp>
        <p:nvSpPr>
          <p:cNvPr id="12" name="Text 10"/>
          <p:cNvSpPr txBox="1"/>
          <p:nvPr/>
        </p:nvSpPr>
        <p:spPr>
          <a:xfrm>
            <a:off x="6355080" y="2880360"/>
            <a:ext cx="2103120" cy="82296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ticket medio</a:t>
            </a:r>
            <a:endParaRPr lang="en-US" sz="1600" dirty="0"/>
          </a:p>
          <a:p>
            <a:pPr indent="0" marL="0">
              <a:buNone/>
            </a:pPr>
            <a:r>
              <a:rPr lang="en-US" sz="1600" dirty="0">
                <a:solidFill>
                  <a:srgbClr val="2B2B2B"/>
                </a:solidFill>
                <a:latin typeface="Arial" pitchFamily="34" charset="0"/>
                <a:ea typeface="Arial" pitchFamily="34" charset="-122"/>
                <a:cs typeface="Arial" pitchFamily="34" charset="-120"/>
              </a:rPr>
              <a:t>por comensal</a:t>
            </a:r>
            <a:endParaRPr lang="en-US" sz="1600" dirty="0"/>
          </a:p>
        </p:txBody>
      </p:sp>
      <p:sp>
        <p:nvSpPr>
          <p:cNvPr id="13" name="Shape 11"/>
          <p:cNvSpPr/>
          <p:nvPr/>
        </p:nvSpPr>
        <p:spPr>
          <a:xfrm>
            <a:off x="8915400" y="1554480"/>
            <a:ext cx="2560320" cy="2377440"/>
          </a:xfrm>
          <a:prstGeom prst="roundRect">
            <a:avLst>
              <a:gd name="adj" fmla="val 4615"/>
            </a:avLst>
          </a:prstGeom>
          <a:solidFill>
            <a:srgbClr val="F4F4F4"/>
          </a:solidFill>
          <a:ln w="12700">
            <a:solidFill>
              <a:srgbClr val="F4F4F4"/>
            </a:solidFill>
            <a:prstDash val="solid"/>
          </a:ln>
        </p:spPr>
      </p:sp>
      <p:sp>
        <p:nvSpPr>
          <p:cNvPr id="14" name="Text 12"/>
          <p:cNvSpPr txBox="1"/>
          <p:nvPr/>
        </p:nvSpPr>
        <p:spPr>
          <a:xfrm>
            <a:off x="9144000" y="1783080"/>
            <a:ext cx="2194560" cy="1005840"/>
          </a:xfrm>
          <a:prstGeom prst="rect">
            <a:avLst/>
          </a:prstGeom>
          <a:noFill/>
          <a:ln/>
        </p:spPr>
        <p:txBody>
          <a:bodyPr wrap="square" lIns="0" tIns="0" rIns="0" bIns="0" rtlCol="0" anchor="ctr"/>
          <a:lstStyle/>
          <a:p>
            <a:pPr indent="0" marL="0">
              <a:buNone/>
            </a:pPr>
            <a:r>
              <a:rPr lang="en-US" sz="5400" b="1" dirty="0">
                <a:solidFill>
                  <a:srgbClr val="E67E22"/>
                </a:solidFill>
                <a:latin typeface="Arial" pitchFamily="34" charset="0"/>
                <a:ea typeface="Arial" pitchFamily="34" charset="-122"/>
                <a:cs typeface="Arial" pitchFamily="34" charset="-120"/>
              </a:rPr>
              <a:t>4</a:t>
            </a:r>
            <a:endParaRPr lang="en-US" sz="5400" dirty="0"/>
          </a:p>
        </p:txBody>
      </p:sp>
      <p:sp>
        <p:nvSpPr>
          <p:cNvPr id="15" name="Text 13"/>
          <p:cNvSpPr txBox="1"/>
          <p:nvPr/>
        </p:nvSpPr>
        <p:spPr>
          <a:xfrm>
            <a:off x="9144000" y="2880360"/>
            <a:ext cx="2103120" cy="82296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canales: sala, barra,</a:t>
            </a:r>
            <a:endParaRPr lang="en-US" sz="1600" dirty="0"/>
          </a:p>
          <a:p>
            <a:pPr indent="0" marL="0">
              <a:buNone/>
            </a:pPr>
            <a:r>
              <a:rPr lang="en-US" sz="1600" dirty="0">
                <a:solidFill>
                  <a:srgbClr val="2B2B2B"/>
                </a:solidFill>
                <a:latin typeface="Arial" pitchFamily="34" charset="0"/>
                <a:ea typeface="Arial" pitchFamily="34" charset="-122"/>
                <a:cs typeface="Arial" pitchFamily="34" charset="-120"/>
              </a:rPr>
              <a:t>llevar y reparto</a:t>
            </a:r>
            <a:endParaRPr lang="en-US" sz="1600" dirty="0"/>
          </a:p>
        </p:txBody>
      </p:sp>
      <p:sp>
        <p:nvSpPr>
          <p:cNvPr id="16" name="Text 14"/>
          <p:cNvSpPr txBox="1"/>
          <p:nvPr/>
        </p:nvSpPr>
        <p:spPr>
          <a:xfrm>
            <a:off x="548640" y="4389120"/>
            <a:ext cx="10515600" cy="822960"/>
          </a:xfrm>
          <a:prstGeom prst="rect">
            <a:avLst/>
          </a:prstGeom>
          <a:noFill/>
          <a:ln/>
        </p:spPr>
        <p:txBody>
          <a:bodyPr wrap="square" lIns="0" tIns="0" rIns="0" bIns="0" rtlCol="0" anchor="t"/>
          <a:lstStyle/>
          <a:p>
            <a:pPr indent="0" marL="0">
              <a:buNone/>
            </a:pPr>
            <a:r>
              <a:rPr lang="en-US" sz="1800" b="1" dirty="0">
                <a:solidFill>
                  <a:srgbClr val="2B2B2B"/>
                </a:solidFill>
                <a:latin typeface="Arial" pitchFamily="34" charset="0"/>
                <a:ea typeface="Arial" pitchFamily="34" charset="-122"/>
                <a:cs typeface="Arial" pitchFamily="34" charset="-120"/>
              </a:rPr>
              <a:t>Burjassot (València), junto al campus universitario. </a:t>
            </a:r>
            <a:pPr indent="0" marL="0">
              <a:buNone/>
            </a:pPr>
            <a:r>
              <a:rPr lang="en-US" sz="1800" dirty="0">
                <a:solidFill>
                  <a:srgbClr val="2B2B2B"/>
                </a:solidFill>
                <a:latin typeface="Arial" pitchFamily="34" charset="0"/>
                <a:ea typeface="Arial" pitchFamily="34" charset="-122"/>
                <a:cs typeface="Arial" pitchFamily="34" charset="-120"/>
              </a:rPr>
              <a:t>Servicio concentrado en franjas cortas y mucho pedido para llevar: el peor escenario para el papel.</a:t>
            </a:r>
            <a:endParaRPr lang="en-US" sz="1800" dirty="0"/>
          </a:p>
        </p:txBody>
      </p:sp>
      <p:sp>
        <p:nvSpPr>
          <p:cNvPr id="17" name="Text 15"/>
          <p:cNvSpPr txBox="1"/>
          <p:nvPr/>
        </p:nvSpPr>
        <p:spPr>
          <a:xfrm>
            <a:off x="548640" y="5760720"/>
            <a:ext cx="10058400" cy="36576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Empresa ficticia (La Plancha Burjassot, S.L.), construida con datos reales del sector. Restauración independiente, CNAE 56.10.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Una persona lo concentra todo</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3</a:t>
            </a:r>
            <a:endParaRPr lang="en-US" sz="1100" dirty="0"/>
          </a:p>
        </p:txBody>
      </p:sp>
      <p:pic>
        <p:nvPicPr>
          <p:cNvPr id="4" name="Image 0" descr="/home/roca/kds_tpv/docs/reto1/fig/organigrama.png">    </p:cNvPr>
          <p:cNvPicPr>
            <a:picLocks noChangeAspect="1"/>
          </p:cNvPicPr>
          <p:nvPr/>
        </p:nvPicPr>
        <p:blipFill>
          <a:blip r:embed="rId1"/>
          <a:stretch>
            <a:fillRect/>
          </a:stretch>
        </p:blipFill>
        <p:spPr>
          <a:xfrm>
            <a:off x="548640" y="1325880"/>
            <a:ext cx="6949440" cy="3300984"/>
          </a:xfrm>
          <a:prstGeom prst="rect">
            <a:avLst/>
          </a:prstGeom>
        </p:spPr>
      </p:pic>
      <p:sp>
        <p:nvSpPr>
          <p:cNvPr id="5" name="Shape 2"/>
          <p:cNvSpPr/>
          <p:nvPr/>
        </p:nvSpPr>
        <p:spPr>
          <a:xfrm>
            <a:off x="7955280" y="1463040"/>
            <a:ext cx="3657600" cy="3291840"/>
          </a:xfrm>
          <a:prstGeom prst="roundRect">
            <a:avLst>
              <a:gd name="adj" fmla="val 3333"/>
            </a:avLst>
          </a:prstGeom>
          <a:solidFill>
            <a:srgbClr val="FDEBD9"/>
          </a:solidFill>
          <a:ln w="12700">
            <a:solidFill>
              <a:srgbClr val="FDEBD9"/>
            </a:solidFill>
            <a:prstDash val="solid"/>
          </a:ln>
        </p:spPr>
      </p:sp>
      <p:sp>
        <p:nvSpPr>
          <p:cNvPr id="6" name="Text 3"/>
          <p:cNvSpPr txBox="1"/>
          <p:nvPr/>
        </p:nvSpPr>
        <p:spPr>
          <a:xfrm>
            <a:off x="8229600" y="1691640"/>
            <a:ext cx="3200400" cy="457200"/>
          </a:xfrm>
          <a:prstGeom prst="rect">
            <a:avLst/>
          </a:prstGeom>
          <a:noFill/>
          <a:ln/>
        </p:spPr>
        <p:txBody>
          <a:bodyPr wrap="square" lIns="0" tIns="0" rIns="0" bIns="0" rtlCol="0" anchor="t"/>
          <a:lstStyle/>
          <a:p>
            <a:pPr indent="0" marL="0">
              <a:buNone/>
            </a:pPr>
            <a:r>
              <a:rPr lang="en-US" sz="1800" b="1" dirty="0">
                <a:solidFill>
                  <a:srgbClr val="2B2B2B"/>
                </a:solidFill>
                <a:latin typeface="Arial" pitchFamily="34" charset="0"/>
                <a:ea typeface="Arial" pitchFamily="34" charset="-122"/>
                <a:cs typeface="Arial" pitchFamily="34" charset="-120"/>
              </a:rPr>
              <a:t>El encargado es…</a:t>
            </a:r>
            <a:endParaRPr lang="en-US" sz="1800" dirty="0"/>
          </a:p>
        </p:txBody>
      </p:sp>
      <p:sp>
        <p:nvSpPr>
          <p:cNvPr id="7" name="Text 4"/>
          <p:cNvSpPr txBox="1"/>
          <p:nvPr/>
        </p:nvSpPr>
        <p:spPr>
          <a:xfrm>
            <a:off x="8229600" y="2240280"/>
            <a:ext cx="32004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Arial" pitchFamily="34" charset="0"/>
                <a:ea typeface="Arial" pitchFamily="34" charset="-122"/>
                <a:cs typeface="Arial" pitchFamily="34" charset="-120"/>
              </a:rPr>
              <a:t>dirección y compras</a:t>
            </a:r>
            <a:endParaRPr lang="en-US" sz="1600" dirty="0"/>
          </a:p>
          <a:p>
            <a:pPr marL="342900" indent="-342900">
              <a:spcAft>
                <a:spcPts val="800"/>
              </a:spcAft>
              <a:buSzPct val="100000"/>
              <a:buChar char="•"/>
            </a:pPr>
            <a:r>
              <a:rPr lang="en-US" sz="1600" dirty="0">
                <a:solidFill>
                  <a:srgbClr val="2B2B2B"/>
                </a:solidFill>
                <a:latin typeface="Arial" pitchFamily="34" charset="0"/>
                <a:ea typeface="Arial" pitchFamily="34" charset="-122"/>
                <a:cs typeface="Arial" pitchFamily="34" charset="-120"/>
              </a:rPr>
              <a:t>caja y cierre del día</a:t>
            </a:r>
            <a:endParaRPr lang="en-US" sz="1600" dirty="0"/>
          </a:p>
          <a:p>
            <a:pPr marL="342900" indent="-342900">
              <a:spcAft>
                <a:spcPts val="800"/>
              </a:spcAft>
              <a:buSzPct val="100000"/>
              <a:buChar char="•"/>
            </a:pPr>
            <a:r>
              <a:rPr lang="en-US" sz="1600" dirty="0">
                <a:solidFill>
                  <a:srgbClr val="2B2B2B"/>
                </a:solidFill>
                <a:latin typeface="Arial" pitchFamily="34" charset="0"/>
                <a:ea typeface="Arial" pitchFamily="34" charset="-122"/>
                <a:cs typeface="Arial" pitchFamily="34" charset="-120"/>
              </a:rPr>
              <a:t>relación con la gestoría</a:t>
            </a:r>
            <a:endParaRPr lang="en-US" sz="1600" dirty="0"/>
          </a:p>
          <a:p>
            <a:pPr marL="342900" indent="-342900">
              <a:spcAft>
                <a:spcPts val="800"/>
              </a:spcAft>
              <a:buSzPct val="100000"/>
              <a:buChar char="•"/>
            </a:pPr>
            <a:r>
              <a:rPr lang="en-US" sz="1600" b="1" dirty="0">
                <a:solidFill>
                  <a:srgbClr val="2B2B2B"/>
                </a:solidFill>
                <a:latin typeface="Arial" pitchFamily="34" charset="0"/>
                <a:ea typeface="Arial" pitchFamily="34" charset="-122"/>
                <a:cs typeface="Arial" pitchFamily="34" charset="-120"/>
              </a:rPr>
              <a:t>y, sin quererlo, el informático</a:t>
            </a:r>
            <a:endParaRPr lang="en-US" sz="1600" dirty="0"/>
          </a:p>
        </p:txBody>
      </p:sp>
      <p:sp>
        <p:nvSpPr>
          <p:cNvPr id="8" name="Text 5"/>
          <p:cNvSpPr txBox="1"/>
          <p:nvPr/>
        </p:nvSpPr>
        <p:spPr>
          <a:xfrm>
            <a:off x="548640" y="5120640"/>
            <a:ext cx="10972800" cy="731520"/>
          </a:xfrm>
          <a:prstGeom prst="rect">
            <a:avLst/>
          </a:prstGeom>
          <a:noFill/>
          <a:ln/>
        </p:spPr>
        <p:txBody>
          <a:bodyPr wrap="square" lIns="0" tIns="0" rIns="0" bIns="0" rtlCol="0" anchor="t"/>
          <a:lstStyle/>
          <a:p>
            <a:pPr indent="0" marL="0">
              <a:buNone/>
            </a:pPr>
            <a:r>
              <a:rPr lang="en-US" sz="1800" i="1" dirty="0">
                <a:solidFill>
                  <a:srgbClr val="2B2B2B"/>
                </a:solidFill>
                <a:latin typeface="Arial" pitchFamily="34" charset="0"/>
                <a:ea typeface="Arial" pitchFamily="34" charset="-122"/>
                <a:cs typeface="Arial" pitchFamily="34" charset="-120"/>
              </a:rPr>
              <a:t>Si él falta, nadie sabe reiniciar el router ni recuperar la contraseña del TPV: un punto único de fallo humano.</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El dato llega cuando el cliente ya se va</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4</a:t>
            </a:r>
            <a:endParaRPr lang="en-US" sz="1100" dirty="0"/>
          </a:p>
        </p:txBody>
      </p:sp>
      <p:pic>
        <p:nvPicPr>
          <p:cNvPr id="4" name="Image 0" descr="/home/roca/kds_tpv/docs/reto1/fig/flujo_comanda.png">    </p:cNvPr>
          <p:cNvPicPr>
            <a:picLocks noChangeAspect="1"/>
          </p:cNvPicPr>
          <p:nvPr/>
        </p:nvPicPr>
        <p:blipFill>
          <a:blip r:embed="rId1"/>
          <a:stretch>
            <a:fillRect/>
          </a:stretch>
        </p:blipFill>
        <p:spPr>
          <a:xfrm>
            <a:off x="548640" y="1371600"/>
            <a:ext cx="11064240" cy="3872484"/>
          </a:xfrm>
          <a:prstGeom prst="rect">
            <a:avLst/>
          </a:prstGeom>
        </p:spPr>
      </p:pic>
      <p:sp>
        <p:nvSpPr>
          <p:cNvPr id="5" name="Shape 2"/>
          <p:cNvSpPr/>
          <p:nvPr/>
        </p:nvSpPr>
        <p:spPr>
          <a:xfrm>
            <a:off x="548640" y="5349240"/>
            <a:ext cx="11064240" cy="822960"/>
          </a:xfrm>
          <a:prstGeom prst="roundRect">
            <a:avLst>
              <a:gd name="adj" fmla="val 13333"/>
            </a:avLst>
          </a:prstGeom>
          <a:solidFill>
            <a:srgbClr val="23272B"/>
          </a:solidFill>
          <a:ln w="12700">
            <a:solidFill>
              <a:srgbClr val="23272B"/>
            </a:solidFill>
            <a:prstDash val="solid"/>
          </a:ln>
        </p:spPr>
      </p:sp>
      <p:sp>
        <p:nvSpPr>
          <p:cNvPr id="6" name="Text 3"/>
          <p:cNvSpPr txBox="1"/>
          <p:nvPr/>
        </p:nvSpPr>
        <p:spPr>
          <a:xfrm>
            <a:off x="822960" y="5349240"/>
            <a:ext cx="10515600" cy="8229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Durante el servicio, el local trabaja a ciegas: no sabe qué mesa espera ni cuánto tarda la cocina.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Inventario: lo que hay, sin diseño</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5</a:t>
            </a:r>
            <a:endParaRPr lang="en-US" sz="1100" dirty="0"/>
          </a:p>
        </p:txBody>
      </p:sp>
      <p:sp>
        <p:nvSpPr>
          <p:cNvPr id="4" name="Shape 2"/>
          <p:cNvSpPr/>
          <p:nvPr/>
        </p:nvSpPr>
        <p:spPr>
          <a:xfrm>
            <a:off x="548640" y="1463040"/>
            <a:ext cx="3474720" cy="1965960"/>
          </a:xfrm>
          <a:prstGeom prst="roundRect">
            <a:avLst>
              <a:gd name="adj" fmla="val 5581"/>
            </a:avLst>
          </a:prstGeom>
          <a:solidFill>
            <a:srgbClr val="F4F4F4"/>
          </a:solidFill>
          <a:ln w="12700">
            <a:solidFill>
              <a:srgbClr val="F4F4F4"/>
            </a:solidFill>
            <a:prstDash val="solid"/>
          </a:ln>
        </p:spPr>
      </p:sp>
      <p:sp>
        <p:nvSpPr>
          <p:cNvPr id="5" name="Shape 3"/>
          <p:cNvSpPr/>
          <p:nvPr/>
        </p:nvSpPr>
        <p:spPr>
          <a:xfrm>
            <a:off x="822960" y="1737360"/>
            <a:ext cx="548640" cy="548640"/>
          </a:xfrm>
          <a:prstGeom prst="ellipse">
            <a:avLst/>
          </a:prstGeom>
          <a:solidFill>
            <a:srgbClr val="E67E22"/>
          </a:solidFill>
          <a:ln w="12700">
            <a:solidFill>
              <a:srgbClr val="E67E22"/>
            </a:solidFill>
            <a:prstDash val="solid"/>
          </a:ln>
        </p:spPr>
      </p:sp>
      <p:sp>
        <p:nvSpPr>
          <p:cNvPr id="6" name="Text 4"/>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508760" y="175564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PC del TPV</a:t>
            </a:r>
            <a:endParaRPr lang="en-US" sz="1800" dirty="0"/>
          </a:p>
        </p:txBody>
      </p:sp>
      <p:sp>
        <p:nvSpPr>
          <p:cNvPr id="8" name="Text 6"/>
          <p:cNvSpPr txBox="1"/>
          <p:nvPr/>
        </p:nvSpPr>
        <p:spPr>
          <a:xfrm>
            <a:off x="822960" y="246888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2015 · Celeron · 4 GB · disco mecánico con sectores dañados</a:t>
            </a:r>
            <a:endParaRPr lang="en-US" sz="1500" dirty="0"/>
          </a:p>
        </p:txBody>
      </p:sp>
      <p:sp>
        <p:nvSpPr>
          <p:cNvPr id="9" name="Shape 7"/>
          <p:cNvSpPr/>
          <p:nvPr/>
        </p:nvSpPr>
        <p:spPr>
          <a:xfrm>
            <a:off x="4297680" y="1463040"/>
            <a:ext cx="3474720" cy="1965960"/>
          </a:xfrm>
          <a:prstGeom prst="roundRect">
            <a:avLst>
              <a:gd name="adj" fmla="val 5581"/>
            </a:avLst>
          </a:prstGeom>
          <a:solidFill>
            <a:srgbClr val="F4F4F4"/>
          </a:solidFill>
          <a:ln w="12700">
            <a:solidFill>
              <a:srgbClr val="F4F4F4"/>
            </a:solidFill>
            <a:prstDash val="solid"/>
          </a:ln>
        </p:spPr>
      </p:sp>
      <p:sp>
        <p:nvSpPr>
          <p:cNvPr id="10" name="Shape 8"/>
          <p:cNvSpPr/>
          <p:nvPr/>
        </p:nvSpPr>
        <p:spPr>
          <a:xfrm>
            <a:off x="4572000" y="1737360"/>
            <a:ext cx="548640" cy="548640"/>
          </a:xfrm>
          <a:prstGeom prst="ellipse">
            <a:avLst/>
          </a:prstGeom>
          <a:solidFill>
            <a:srgbClr val="E67E22"/>
          </a:solidFill>
          <a:ln w="12700">
            <a:solidFill>
              <a:srgbClr val="E67E22"/>
            </a:solidFill>
            <a:prstDash val="solid"/>
          </a:ln>
        </p:spPr>
      </p:sp>
      <p:sp>
        <p:nvSpPr>
          <p:cNvPr id="11" name="Text 9"/>
          <p:cNvSpPr txBox="1"/>
          <p:nvPr/>
        </p:nvSpPr>
        <p:spPr>
          <a:xfrm>
            <a:off x="457200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5257800" y="175564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Sin SAI</a:t>
            </a:r>
            <a:endParaRPr lang="en-US" sz="1800" dirty="0"/>
          </a:p>
        </p:txBody>
      </p:sp>
      <p:sp>
        <p:nvSpPr>
          <p:cNvPr id="13" name="Text 11"/>
          <p:cNvSpPr txBox="1"/>
          <p:nvPr/>
        </p:nvSpPr>
        <p:spPr>
          <a:xfrm>
            <a:off x="4572000" y="246888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un corte de luz apaga la caja de golpe</a:t>
            </a:r>
            <a:endParaRPr lang="en-US" sz="1500" dirty="0"/>
          </a:p>
        </p:txBody>
      </p:sp>
      <p:sp>
        <p:nvSpPr>
          <p:cNvPr id="14" name="Shape 12"/>
          <p:cNvSpPr/>
          <p:nvPr/>
        </p:nvSpPr>
        <p:spPr>
          <a:xfrm>
            <a:off x="8046720" y="1463040"/>
            <a:ext cx="3474720" cy="1965960"/>
          </a:xfrm>
          <a:prstGeom prst="roundRect">
            <a:avLst>
              <a:gd name="adj" fmla="val 5581"/>
            </a:avLst>
          </a:prstGeom>
          <a:solidFill>
            <a:srgbClr val="F4F4F4"/>
          </a:solidFill>
          <a:ln w="12700">
            <a:solidFill>
              <a:srgbClr val="F4F4F4"/>
            </a:solidFill>
            <a:prstDash val="solid"/>
          </a:ln>
        </p:spPr>
      </p:sp>
      <p:sp>
        <p:nvSpPr>
          <p:cNvPr id="15" name="Shape 13"/>
          <p:cNvSpPr/>
          <p:nvPr/>
        </p:nvSpPr>
        <p:spPr>
          <a:xfrm>
            <a:off x="8321040" y="1737360"/>
            <a:ext cx="548640" cy="548640"/>
          </a:xfrm>
          <a:prstGeom prst="ellipse">
            <a:avLst/>
          </a:prstGeom>
          <a:solidFill>
            <a:srgbClr val="E67E22"/>
          </a:solidFill>
          <a:ln w="12700">
            <a:solidFill>
              <a:srgbClr val="E67E22"/>
            </a:solidFill>
            <a:prstDash val="solid"/>
          </a:ln>
        </p:spPr>
      </p:sp>
      <p:sp>
        <p:nvSpPr>
          <p:cNvPr id="16" name="Text 14"/>
          <p:cNvSpPr txBox="1"/>
          <p:nvPr/>
        </p:nvSpPr>
        <p:spPr>
          <a:xfrm>
            <a:off x="832104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9006840" y="175564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Router de la operadora</a:t>
            </a:r>
            <a:endParaRPr lang="en-US" sz="1800" dirty="0"/>
          </a:p>
        </p:txBody>
      </p:sp>
      <p:sp>
        <p:nvSpPr>
          <p:cNvPr id="18" name="Text 16"/>
          <p:cNvSpPr txBox="1"/>
          <p:nvPr/>
        </p:nvSpPr>
        <p:spPr>
          <a:xfrm>
            <a:off x="8321040" y="246888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en una balda del almacén, junto a la cámara frigorífica</a:t>
            </a:r>
            <a:endParaRPr lang="en-US" sz="1500" dirty="0"/>
          </a:p>
        </p:txBody>
      </p:sp>
      <p:sp>
        <p:nvSpPr>
          <p:cNvPr id="19" name="Shape 17"/>
          <p:cNvSpPr/>
          <p:nvPr/>
        </p:nvSpPr>
        <p:spPr>
          <a:xfrm>
            <a:off x="548640" y="3703320"/>
            <a:ext cx="3474720" cy="1965960"/>
          </a:xfrm>
          <a:prstGeom prst="roundRect">
            <a:avLst>
              <a:gd name="adj" fmla="val 5581"/>
            </a:avLst>
          </a:prstGeom>
          <a:solidFill>
            <a:srgbClr val="F4F4F4"/>
          </a:solidFill>
          <a:ln w="12700">
            <a:solidFill>
              <a:srgbClr val="F4F4F4"/>
            </a:solidFill>
            <a:prstDash val="solid"/>
          </a:ln>
        </p:spPr>
      </p:sp>
      <p:sp>
        <p:nvSpPr>
          <p:cNvPr id="20" name="Shape 18"/>
          <p:cNvSpPr/>
          <p:nvPr/>
        </p:nvSpPr>
        <p:spPr>
          <a:xfrm>
            <a:off x="822960" y="3977640"/>
            <a:ext cx="548640" cy="548640"/>
          </a:xfrm>
          <a:prstGeom prst="ellipse">
            <a:avLst/>
          </a:prstGeom>
          <a:solidFill>
            <a:srgbClr val="E67E22"/>
          </a:solidFill>
          <a:ln w="12700">
            <a:solidFill>
              <a:srgbClr val="E67E22"/>
            </a:solidFill>
            <a:prstDash val="solid"/>
          </a:ln>
        </p:spPr>
      </p:sp>
      <p:sp>
        <p:nvSpPr>
          <p:cNvPr id="21" name="Text 19"/>
          <p:cNvSpPr txBox="1"/>
          <p:nvPr/>
        </p:nvSpPr>
        <p:spPr>
          <a:xfrm>
            <a:off x="822960" y="39776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1508760" y="399592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Grabador de vídeo</a:t>
            </a:r>
            <a:endParaRPr lang="en-US" sz="1800" dirty="0"/>
          </a:p>
        </p:txBody>
      </p:sp>
      <p:sp>
        <p:nvSpPr>
          <p:cNvPr id="23" name="Text 21"/>
          <p:cNvSpPr txBox="1"/>
          <p:nvPr/>
        </p:nvSpPr>
        <p:spPr>
          <a:xfrm>
            <a:off x="822960" y="470916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firmware de 2019 y contraseña de fábrica</a:t>
            </a:r>
            <a:endParaRPr lang="en-US" sz="1500" dirty="0"/>
          </a:p>
        </p:txBody>
      </p:sp>
      <p:sp>
        <p:nvSpPr>
          <p:cNvPr id="24" name="Shape 22"/>
          <p:cNvSpPr/>
          <p:nvPr/>
        </p:nvSpPr>
        <p:spPr>
          <a:xfrm>
            <a:off x="4297680" y="3703320"/>
            <a:ext cx="3474720" cy="1965960"/>
          </a:xfrm>
          <a:prstGeom prst="roundRect">
            <a:avLst>
              <a:gd name="adj" fmla="val 5581"/>
            </a:avLst>
          </a:prstGeom>
          <a:solidFill>
            <a:srgbClr val="F4F4F4"/>
          </a:solidFill>
          <a:ln w="12700">
            <a:solidFill>
              <a:srgbClr val="F4F4F4"/>
            </a:solidFill>
            <a:prstDash val="solid"/>
          </a:ln>
        </p:spPr>
      </p:sp>
      <p:sp>
        <p:nvSpPr>
          <p:cNvPr id="25" name="Shape 23"/>
          <p:cNvSpPr/>
          <p:nvPr/>
        </p:nvSpPr>
        <p:spPr>
          <a:xfrm>
            <a:off x="4572000" y="3977640"/>
            <a:ext cx="548640" cy="548640"/>
          </a:xfrm>
          <a:prstGeom prst="ellipse">
            <a:avLst/>
          </a:prstGeom>
          <a:solidFill>
            <a:srgbClr val="E67E22"/>
          </a:solidFill>
          <a:ln w="12700">
            <a:solidFill>
              <a:srgbClr val="E67E22"/>
            </a:solidFill>
            <a:prstDash val="solid"/>
          </a:ln>
        </p:spPr>
      </p:sp>
      <p:sp>
        <p:nvSpPr>
          <p:cNvPr id="26" name="Text 24"/>
          <p:cNvSpPr txBox="1"/>
          <p:nvPr/>
        </p:nvSpPr>
        <p:spPr>
          <a:xfrm>
            <a:off x="4572000" y="39776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5257800" y="399592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Tableta de reparto</a:t>
            </a:r>
            <a:endParaRPr lang="en-US" sz="1800" dirty="0"/>
          </a:p>
        </p:txBody>
      </p:sp>
      <p:sp>
        <p:nvSpPr>
          <p:cNvPr id="28" name="Text 26"/>
          <p:cNvSpPr txBox="1"/>
          <p:nvPr/>
        </p:nvSpPr>
        <p:spPr>
          <a:xfrm>
            <a:off x="4572000" y="470916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Android 9, siempre enchufada</a:t>
            </a:r>
            <a:endParaRPr lang="en-US" sz="1500" dirty="0"/>
          </a:p>
        </p:txBody>
      </p:sp>
      <p:sp>
        <p:nvSpPr>
          <p:cNvPr id="29" name="Shape 27"/>
          <p:cNvSpPr/>
          <p:nvPr/>
        </p:nvSpPr>
        <p:spPr>
          <a:xfrm>
            <a:off x="8046720" y="3703320"/>
            <a:ext cx="3474720" cy="1965960"/>
          </a:xfrm>
          <a:prstGeom prst="roundRect">
            <a:avLst>
              <a:gd name="adj" fmla="val 5581"/>
            </a:avLst>
          </a:prstGeom>
          <a:solidFill>
            <a:srgbClr val="F4F4F4"/>
          </a:solidFill>
          <a:ln w="12700">
            <a:solidFill>
              <a:srgbClr val="F4F4F4"/>
            </a:solidFill>
            <a:prstDash val="solid"/>
          </a:ln>
        </p:spPr>
      </p:sp>
      <p:sp>
        <p:nvSpPr>
          <p:cNvPr id="30" name="Shape 28"/>
          <p:cNvSpPr/>
          <p:nvPr/>
        </p:nvSpPr>
        <p:spPr>
          <a:xfrm>
            <a:off x="8321040" y="3977640"/>
            <a:ext cx="548640" cy="548640"/>
          </a:xfrm>
          <a:prstGeom prst="ellipse">
            <a:avLst/>
          </a:prstGeom>
          <a:solidFill>
            <a:srgbClr val="E67E22"/>
          </a:solidFill>
          <a:ln w="12700">
            <a:solidFill>
              <a:srgbClr val="E67E22"/>
            </a:solidFill>
            <a:prstDash val="solid"/>
          </a:ln>
        </p:spPr>
      </p:sp>
      <p:sp>
        <p:nvSpPr>
          <p:cNvPr id="31" name="Text 29"/>
          <p:cNvSpPr txBox="1"/>
          <p:nvPr/>
        </p:nvSpPr>
        <p:spPr>
          <a:xfrm>
            <a:off x="8321040" y="39776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txBox="1"/>
          <p:nvPr/>
        </p:nvSpPr>
        <p:spPr>
          <a:xfrm>
            <a:off x="9006840" y="3995928"/>
            <a:ext cx="2377440" cy="54864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Portátil y móviles</a:t>
            </a:r>
            <a:endParaRPr lang="en-US" sz="1800" dirty="0"/>
          </a:p>
        </p:txBody>
      </p:sp>
      <p:sp>
        <p:nvSpPr>
          <p:cNvPr id="33" name="Text 31"/>
          <p:cNvSpPr txBox="1"/>
          <p:nvPr/>
        </p:nvSpPr>
        <p:spPr>
          <a:xfrm>
            <a:off x="8321040" y="4709160"/>
            <a:ext cx="3017520" cy="8229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personales: el negocio vive en cuentas privadas</a:t>
            </a:r>
            <a:endParaRPr lang="en-US" sz="1500" dirty="0"/>
          </a:p>
        </p:txBody>
      </p:sp>
      <p:sp>
        <p:nvSpPr>
          <p:cNvPr id="34" name="Text 32"/>
          <p:cNvSpPr txBox="1"/>
          <p:nvPr/>
        </p:nvSpPr>
        <p:spPr>
          <a:xfrm>
            <a:off x="548640" y="6035040"/>
            <a:ext cx="73152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Equipos y estados del escenario ficticio.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Una sola red para todo y para todos</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6</a:t>
            </a:r>
            <a:endParaRPr lang="en-US" sz="1100" dirty="0"/>
          </a:p>
        </p:txBody>
      </p:sp>
      <p:pic>
        <p:nvPicPr>
          <p:cNvPr id="4" name="Image 0" descr="/home/roca/kds_tpv/docs/reto1/fig/red_actual.png">    </p:cNvPr>
          <p:cNvPicPr>
            <a:picLocks noChangeAspect="1"/>
          </p:cNvPicPr>
          <p:nvPr/>
        </p:nvPicPr>
        <p:blipFill>
          <a:blip r:embed="rId1"/>
          <a:stretch>
            <a:fillRect/>
          </a:stretch>
        </p:blipFill>
        <p:spPr>
          <a:xfrm>
            <a:off x="548640" y="1234440"/>
            <a:ext cx="6766560" cy="4398264"/>
          </a:xfrm>
          <a:prstGeom prst="rect">
            <a:avLst/>
          </a:prstGeom>
        </p:spPr>
      </p:pic>
      <p:sp>
        <p:nvSpPr>
          <p:cNvPr id="5" name="Shape 2"/>
          <p:cNvSpPr/>
          <p:nvPr/>
        </p:nvSpPr>
        <p:spPr>
          <a:xfrm>
            <a:off x="7772400" y="146304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0" y="1463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8503920" y="1417320"/>
            <a:ext cx="3200400" cy="118872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Los móviles de los clientes están en la misma red que la caja, el datáfono y las cámaras.</a:t>
            </a:r>
            <a:endParaRPr lang="en-US" sz="1600" dirty="0"/>
          </a:p>
        </p:txBody>
      </p:sp>
      <p:sp>
        <p:nvSpPr>
          <p:cNvPr id="8" name="Shape 5"/>
          <p:cNvSpPr/>
          <p:nvPr/>
        </p:nvSpPr>
        <p:spPr>
          <a:xfrm>
            <a:off x="7772400" y="2926080"/>
            <a:ext cx="548640" cy="548640"/>
          </a:xfrm>
          <a:prstGeom prst="ellipse">
            <a:avLst/>
          </a:prstGeom>
          <a:solidFill>
            <a:srgbClr val="C0392B"/>
          </a:solidFill>
          <a:ln w="12700">
            <a:solidFill>
              <a:srgbClr val="C0392B"/>
            </a:solidFill>
            <a:prstDash val="solid"/>
          </a:ln>
        </p:spPr>
      </p:sp>
      <p:sp>
        <p:nvSpPr>
          <p:cNvPr id="9" name="Text 6"/>
          <p:cNvSpPr txBox="1"/>
          <p:nvPr/>
        </p:nvSpPr>
        <p:spPr>
          <a:xfrm>
            <a:off x="7772400" y="2926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7"/>
          <p:cNvSpPr txBox="1"/>
          <p:nvPr/>
        </p:nvSpPr>
        <p:spPr>
          <a:xfrm>
            <a:off x="8503920" y="2880360"/>
            <a:ext cx="3200400" cy="118872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La clave del wifi está en la pizarra y la del router, en su etiqueta.</a:t>
            </a:r>
            <a:endParaRPr lang="en-US" sz="1600" dirty="0"/>
          </a:p>
        </p:txBody>
      </p:sp>
      <p:sp>
        <p:nvSpPr>
          <p:cNvPr id="11" name="Shape 8"/>
          <p:cNvSpPr/>
          <p:nvPr/>
        </p:nvSpPr>
        <p:spPr>
          <a:xfrm>
            <a:off x="7772400" y="4389120"/>
            <a:ext cx="548640" cy="548640"/>
          </a:xfrm>
          <a:prstGeom prst="ellipse">
            <a:avLst/>
          </a:prstGeom>
          <a:solidFill>
            <a:srgbClr val="C0392B"/>
          </a:solidFill>
          <a:ln w="12700">
            <a:solidFill>
              <a:srgbClr val="C0392B"/>
            </a:solidFill>
            <a:prstDash val="solid"/>
          </a:ln>
        </p:spPr>
      </p:sp>
      <p:sp>
        <p:nvSpPr>
          <p:cNvPr id="12" name="Text 9"/>
          <p:cNvSpPr txBox="1"/>
          <p:nvPr/>
        </p:nvSpPr>
        <p:spPr>
          <a:xfrm>
            <a:off x="7772400" y="4389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0"/>
          <p:cNvSpPr txBox="1"/>
          <p:nvPr/>
        </p:nvSpPr>
        <p:spPr>
          <a:xfrm>
            <a:off x="8503920" y="4343400"/>
            <a:ext cx="3200400" cy="1188720"/>
          </a:xfrm>
          <a:prstGeom prst="rect">
            <a:avLst/>
          </a:prstGeom>
          <a:noFill/>
          <a:ln/>
        </p:spPr>
        <p:txBody>
          <a:bodyPr wrap="square" lIns="0" tIns="0" rIns="0" bIns="0" rtlCol="0" anchor="t"/>
          <a:lstStyle/>
          <a:p>
            <a:pPr indent="0" marL="0">
              <a:buNone/>
            </a:pPr>
            <a:r>
              <a:rPr lang="en-US" sz="1600" dirty="0">
                <a:solidFill>
                  <a:srgbClr val="2B2B2B"/>
                </a:solidFill>
                <a:latin typeface="Arial" pitchFamily="34" charset="0"/>
                <a:ea typeface="Arial" pitchFamily="34" charset="-122"/>
                <a:cs typeface="Arial" pitchFamily="34" charset="-120"/>
              </a:rPr>
              <a:t>El grabador se ve desde internet por un puerto abierto.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La caja funciona con un sistema sin soporte</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7</a:t>
            </a:r>
            <a:endParaRPr lang="en-US" sz="1100" dirty="0"/>
          </a:p>
        </p:txBody>
      </p:sp>
      <p:sp>
        <p:nvSpPr>
          <p:cNvPr id="4" name="Text 2"/>
          <p:cNvSpPr txBox="1"/>
          <p:nvPr/>
        </p:nvSpPr>
        <p:spPr>
          <a:xfrm>
            <a:off x="548640" y="1554480"/>
            <a:ext cx="5486400" cy="1188720"/>
          </a:xfrm>
          <a:prstGeom prst="rect">
            <a:avLst/>
          </a:prstGeom>
          <a:noFill/>
          <a:ln/>
        </p:spPr>
        <p:txBody>
          <a:bodyPr wrap="square" lIns="0" tIns="0" rIns="0" bIns="0" rtlCol="0" anchor="t"/>
          <a:lstStyle/>
          <a:p>
            <a:pPr indent="0" marL="0">
              <a:buNone/>
            </a:pPr>
            <a:r>
              <a:rPr lang="en-US" sz="6600" b="1" dirty="0">
                <a:solidFill>
                  <a:srgbClr val="E67E22"/>
                </a:solidFill>
                <a:latin typeface="Arial" pitchFamily="34" charset="0"/>
                <a:ea typeface="Arial" pitchFamily="34" charset="-122"/>
                <a:cs typeface="Arial" pitchFamily="34" charset="-120"/>
              </a:rPr>
              <a:t>14/10/2025</a:t>
            </a:r>
            <a:endParaRPr lang="en-US" sz="6600" dirty="0"/>
          </a:p>
        </p:txBody>
      </p:sp>
      <p:sp>
        <p:nvSpPr>
          <p:cNvPr id="5" name="Text 3"/>
          <p:cNvSpPr txBox="1"/>
          <p:nvPr/>
        </p:nvSpPr>
        <p:spPr>
          <a:xfrm>
            <a:off x="548640" y="2834640"/>
            <a:ext cx="5212080" cy="1280160"/>
          </a:xfrm>
          <a:prstGeom prst="rect">
            <a:avLst/>
          </a:prstGeom>
          <a:noFill/>
          <a:ln/>
        </p:spPr>
        <p:txBody>
          <a:bodyPr wrap="square" lIns="0" tIns="0" rIns="0" bIns="0" rtlCol="0" anchor="t"/>
          <a:lstStyle/>
          <a:p>
            <a:pPr indent="0" marL="0">
              <a:buNone/>
            </a:pPr>
            <a:r>
              <a:rPr lang="en-US" sz="1800" dirty="0">
                <a:solidFill>
                  <a:srgbClr val="2B2B2B"/>
                </a:solidFill>
                <a:latin typeface="Arial" pitchFamily="34" charset="0"/>
                <a:ea typeface="Arial" pitchFamily="34" charset="-122"/>
                <a:cs typeface="Arial" pitchFamily="34" charset="-120"/>
              </a:rPr>
              <a:t>fin del soporte de Windows 10, el sistema del PC del TPV. Su procesador no admite Windows 11: hay que sustituirlo o cambiar de sistema.</a:t>
            </a:r>
            <a:endParaRPr lang="en-US" sz="1800" dirty="0"/>
          </a:p>
        </p:txBody>
      </p:sp>
      <p:sp>
        <p:nvSpPr>
          <p:cNvPr id="6" name="Text 4"/>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Fuente: Microsoft (2025).</a:t>
            </a:r>
            <a:endParaRPr lang="en-US" sz="1200" dirty="0"/>
          </a:p>
        </p:txBody>
      </p:sp>
      <p:sp>
        <p:nvSpPr>
          <p:cNvPr id="7" name="Shape 5"/>
          <p:cNvSpPr/>
          <p:nvPr/>
        </p:nvSpPr>
        <p:spPr>
          <a:xfrm>
            <a:off x="6400800" y="1554480"/>
            <a:ext cx="5212080" cy="914400"/>
          </a:xfrm>
          <a:prstGeom prst="roundRect">
            <a:avLst>
              <a:gd name="adj" fmla="val 12000"/>
            </a:avLst>
          </a:prstGeom>
          <a:solidFill>
            <a:srgbClr val="F4F4F4"/>
          </a:solidFill>
          <a:ln w="12700">
            <a:solidFill>
              <a:srgbClr val="F4F4F4"/>
            </a:solidFill>
            <a:prstDash val="solid"/>
          </a:ln>
        </p:spPr>
      </p:sp>
      <p:sp>
        <p:nvSpPr>
          <p:cNvPr id="8" name="Text 6"/>
          <p:cNvSpPr txBox="1"/>
          <p:nvPr/>
        </p:nvSpPr>
        <p:spPr>
          <a:xfrm>
            <a:off x="6629400" y="1554480"/>
            <a:ext cx="2103120" cy="914400"/>
          </a:xfrm>
          <a:prstGeom prst="rect">
            <a:avLst/>
          </a:prstGeom>
          <a:noFill/>
          <a:ln/>
        </p:spPr>
        <p:txBody>
          <a:bodyPr wrap="square" lIns="0" tIns="0" rIns="0" bIns="0" rtlCol="0" anchor="ctr"/>
          <a:lstStyle/>
          <a:p>
            <a:pPr indent="0" marL="0">
              <a:buNone/>
            </a:pPr>
            <a:r>
              <a:rPr lang="en-US" sz="1600" b="1" dirty="0">
                <a:solidFill>
                  <a:srgbClr val="2B2B2B"/>
                </a:solidFill>
                <a:latin typeface="Arial" pitchFamily="34" charset="0"/>
                <a:ea typeface="Arial" pitchFamily="34" charset="-122"/>
                <a:cs typeface="Arial" pitchFamily="34" charset="-120"/>
              </a:rPr>
              <a:t>Windows 11 Home</a:t>
            </a:r>
            <a:endParaRPr lang="en-US" sz="1600" dirty="0"/>
          </a:p>
        </p:txBody>
      </p:sp>
      <p:sp>
        <p:nvSpPr>
          <p:cNvPr id="9" name="Text 7"/>
          <p:cNvSpPr txBox="1"/>
          <p:nvPr/>
        </p:nvSpPr>
        <p:spPr>
          <a:xfrm>
            <a:off x="8778240" y="1554480"/>
            <a:ext cx="2697480" cy="9144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no puede unirse a un dominio ni cifrar con BitLocker</a:t>
            </a:r>
            <a:endParaRPr lang="en-US" sz="1400" dirty="0"/>
          </a:p>
        </p:txBody>
      </p:sp>
      <p:sp>
        <p:nvSpPr>
          <p:cNvPr id="10" name="Shape 8"/>
          <p:cNvSpPr/>
          <p:nvPr/>
        </p:nvSpPr>
        <p:spPr>
          <a:xfrm>
            <a:off x="6400800" y="2651760"/>
            <a:ext cx="5212080" cy="914400"/>
          </a:xfrm>
          <a:prstGeom prst="roundRect">
            <a:avLst>
              <a:gd name="adj" fmla="val 12000"/>
            </a:avLst>
          </a:prstGeom>
          <a:solidFill>
            <a:srgbClr val="F4F4F4"/>
          </a:solidFill>
          <a:ln w="12700">
            <a:solidFill>
              <a:srgbClr val="F4F4F4"/>
            </a:solidFill>
            <a:prstDash val="solid"/>
          </a:ln>
        </p:spPr>
      </p:sp>
      <p:sp>
        <p:nvSpPr>
          <p:cNvPr id="11" name="Text 9"/>
          <p:cNvSpPr txBox="1"/>
          <p:nvPr/>
        </p:nvSpPr>
        <p:spPr>
          <a:xfrm>
            <a:off x="6629400" y="2651760"/>
            <a:ext cx="2103120" cy="914400"/>
          </a:xfrm>
          <a:prstGeom prst="rect">
            <a:avLst/>
          </a:prstGeom>
          <a:noFill/>
          <a:ln/>
        </p:spPr>
        <p:txBody>
          <a:bodyPr wrap="square" lIns="0" tIns="0" rIns="0" bIns="0" rtlCol="0" anchor="ctr"/>
          <a:lstStyle/>
          <a:p>
            <a:pPr indent="0" marL="0">
              <a:buNone/>
            </a:pPr>
            <a:r>
              <a:rPr lang="en-US" sz="1600" b="1" dirty="0">
                <a:solidFill>
                  <a:srgbClr val="2B2B2B"/>
                </a:solidFill>
                <a:latin typeface="Arial" pitchFamily="34" charset="0"/>
                <a:ea typeface="Arial" pitchFamily="34" charset="-122"/>
                <a:cs typeface="Arial" pitchFamily="34" charset="-120"/>
              </a:rPr>
              <a:t>Android 9</a:t>
            </a:r>
            <a:endParaRPr lang="en-US" sz="1600" dirty="0"/>
          </a:p>
        </p:txBody>
      </p:sp>
      <p:sp>
        <p:nvSpPr>
          <p:cNvPr id="12" name="Text 10"/>
          <p:cNvSpPr txBox="1"/>
          <p:nvPr/>
        </p:nvSpPr>
        <p:spPr>
          <a:xfrm>
            <a:off x="8778240" y="2651760"/>
            <a:ext cx="2697480" cy="9144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sin parches del fabricante</a:t>
            </a:r>
            <a:endParaRPr lang="en-US" sz="1400" dirty="0"/>
          </a:p>
        </p:txBody>
      </p:sp>
      <p:sp>
        <p:nvSpPr>
          <p:cNvPr id="13" name="Shape 11"/>
          <p:cNvSpPr/>
          <p:nvPr/>
        </p:nvSpPr>
        <p:spPr>
          <a:xfrm>
            <a:off x="6400800" y="3749040"/>
            <a:ext cx="5212080" cy="914400"/>
          </a:xfrm>
          <a:prstGeom prst="roundRect">
            <a:avLst>
              <a:gd name="adj" fmla="val 12000"/>
            </a:avLst>
          </a:prstGeom>
          <a:solidFill>
            <a:srgbClr val="F4F4F4"/>
          </a:solidFill>
          <a:ln w="12700">
            <a:solidFill>
              <a:srgbClr val="F4F4F4"/>
            </a:solidFill>
            <a:prstDash val="solid"/>
          </a:ln>
        </p:spPr>
      </p:sp>
      <p:sp>
        <p:nvSpPr>
          <p:cNvPr id="14" name="Text 12"/>
          <p:cNvSpPr txBox="1"/>
          <p:nvPr/>
        </p:nvSpPr>
        <p:spPr>
          <a:xfrm>
            <a:off x="6629400" y="3749040"/>
            <a:ext cx="2103120" cy="914400"/>
          </a:xfrm>
          <a:prstGeom prst="rect">
            <a:avLst/>
          </a:prstGeom>
          <a:noFill/>
          <a:ln/>
        </p:spPr>
        <p:txBody>
          <a:bodyPr wrap="square" lIns="0" tIns="0" rIns="0" bIns="0" rtlCol="0" anchor="ctr"/>
          <a:lstStyle/>
          <a:p>
            <a:pPr indent="0" marL="0">
              <a:buNone/>
            </a:pPr>
            <a:r>
              <a:rPr lang="en-US" sz="1600" b="1" dirty="0">
                <a:solidFill>
                  <a:srgbClr val="2B2B2B"/>
                </a:solidFill>
                <a:latin typeface="Arial" pitchFamily="34" charset="0"/>
                <a:ea typeface="Arial" pitchFamily="34" charset="-122"/>
                <a:cs typeface="Arial" pitchFamily="34" charset="-120"/>
              </a:rPr>
              <a:t>Firmware del grabador</a:t>
            </a:r>
            <a:endParaRPr lang="en-US" sz="1600" dirty="0"/>
          </a:p>
        </p:txBody>
      </p:sp>
      <p:sp>
        <p:nvSpPr>
          <p:cNvPr id="15" name="Text 13"/>
          <p:cNvSpPr txBox="1"/>
          <p:nvPr/>
        </p:nvSpPr>
        <p:spPr>
          <a:xfrm>
            <a:off x="8778240" y="3749040"/>
            <a:ext cx="2697480" cy="9144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de 2019, sin actualizar</a:t>
            </a:r>
            <a:endParaRPr lang="en-US" sz="1400" dirty="0"/>
          </a:p>
        </p:txBody>
      </p:sp>
      <p:sp>
        <p:nvSpPr>
          <p:cNvPr id="16" name="Shape 14"/>
          <p:cNvSpPr/>
          <p:nvPr/>
        </p:nvSpPr>
        <p:spPr>
          <a:xfrm>
            <a:off x="6400800" y="4846320"/>
            <a:ext cx="5212080" cy="914400"/>
          </a:xfrm>
          <a:prstGeom prst="roundRect">
            <a:avLst>
              <a:gd name="adj" fmla="val 12000"/>
            </a:avLst>
          </a:prstGeom>
          <a:solidFill>
            <a:srgbClr val="F4F4F4"/>
          </a:solidFill>
          <a:ln w="12700">
            <a:solidFill>
              <a:srgbClr val="F4F4F4"/>
            </a:solidFill>
            <a:prstDash val="solid"/>
          </a:ln>
        </p:spPr>
      </p:sp>
      <p:sp>
        <p:nvSpPr>
          <p:cNvPr id="17" name="Text 15"/>
          <p:cNvSpPr txBox="1"/>
          <p:nvPr/>
        </p:nvSpPr>
        <p:spPr>
          <a:xfrm>
            <a:off x="6629400" y="4846320"/>
            <a:ext cx="2103120" cy="914400"/>
          </a:xfrm>
          <a:prstGeom prst="rect">
            <a:avLst/>
          </a:prstGeom>
          <a:noFill/>
          <a:ln/>
        </p:spPr>
        <p:txBody>
          <a:bodyPr wrap="square" lIns="0" tIns="0" rIns="0" bIns="0" rtlCol="0" anchor="ctr"/>
          <a:lstStyle/>
          <a:p>
            <a:pPr indent="0" marL="0">
              <a:buNone/>
            </a:pPr>
            <a:r>
              <a:rPr lang="en-US" sz="1600" b="1" dirty="0">
                <a:solidFill>
                  <a:srgbClr val="2B2B2B"/>
                </a:solidFill>
                <a:latin typeface="Arial" pitchFamily="34" charset="0"/>
                <a:ea typeface="Arial" pitchFamily="34" charset="-122"/>
                <a:cs typeface="Arial" pitchFamily="34" charset="-120"/>
              </a:rPr>
              <a:t>Datos del negocio</a:t>
            </a:r>
            <a:endParaRPr lang="en-US" sz="1600" dirty="0"/>
          </a:p>
        </p:txBody>
      </p:sp>
      <p:sp>
        <p:nvSpPr>
          <p:cNvPr id="18" name="Text 16"/>
          <p:cNvSpPr txBox="1"/>
          <p:nvPr/>
        </p:nvSpPr>
        <p:spPr>
          <a:xfrm>
            <a:off x="8778240" y="4846320"/>
            <a:ext cx="2697480" cy="9144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repartidos: no hay ningún servidor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Diez riesgos; la mitad, críticos</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8</a:t>
            </a:r>
            <a:endParaRPr lang="en-US" sz="1100" dirty="0"/>
          </a:p>
        </p:txBody>
      </p:sp>
      <p:sp>
        <p:nvSpPr>
          <p:cNvPr id="4" name="Text 2"/>
          <p:cNvSpPr txBox="1"/>
          <p:nvPr/>
        </p:nvSpPr>
        <p:spPr>
          <a:xfrm>
            <a:off x="548640" y="14173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R1</a:t>
            </a:r>
            <a:endParaRPr lang="en-US" sz="1500" dirty="0"/>
          </a:p>
        </p:txBody>
      </p:sp>
      <p:sp>
        <p:nvSpPr>
          <p:cNvPr id="5" name="Text 3"/>
          <p:cNvSpPr txBox="1"/>
          <p:nvPr/>
        </p:nvSpPr>
        <p:spPr>
          <a:xfrm>
            <a:off x="1188720" y="14173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Grabador accesible desde internet con credenciales de fábrica</a:t>
            </a:r>
            <a:endParaRPr lang="en-US" sz="1500" dirty="0"/>
          </a:p>
        </p:txBody>
      </p:sp>
      <p:sp>
        <p:nvSpPr>
          <p:cNvPr id="6" name="Shape 4"/>
          <p:cNvSpPr/>
          <p:nvPr/>
        </p:nvSpPr>
        <p:spPr>
          <a:xfrm>
            <a:off x="6400800" y="1508760"/>
            <a:ext cx="3456432" cy="347472"/>
          </a:xfrm>
          <a:prstGeom prst="rect">
            <a:avLst/>
          </a:prstGeom>
          <a:solidFill>
            <a:srgbClr val="C0392B"/>
          </a:solidFill>
          <a:ln w="12700">
            <a:solidFill>
              <a:srgbClr val="C0392B"/>
            </a:solidFill>
            <a:prstDash val="solid"/>
          </a:ln>
        </p:spPr>
      </p:sp>
      <p:sp>
        <p:nvSpPr>
          <p:cNvPr id="7" name="Text 5"/>
          <p:cNvSpPr txBox="1"/>
          <p:nvPr/>
        </p:nvSpPr>
        <p:spPr>
          <a:xfrm>
            <a:off x="9948672" y="14173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9</a:t>
            </a:r>
            <a:endParaRPr lang="en-US" sz="1500" dirty="0"/>
          </a:p>
        </p:txBody>
      </p:sp>
      <p:sp>
        <p:nvSpPr>
          <p:cNvPr id="8" name="Text 6"/>
          <p:cNvSpPr txBox="1"/>
          <p:nvPr/>
        </p:nvSpPr>
        <p:spPr>
          <a:xfrm>
            <a:off x="548640" y="21031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R2</a:t>
            </a:r>
            <a:endParaRPr lang="en-US" sz="1500" dirty="0"/>
          </a:p>
        </p:txBody>
      </p:sp>
      <p:sp>
        <p:nvSpPr>
          <p:cNvPr id="9" name="Text 7"/>
          <p:cNvSpPr txBox="1"/>
          <p:nvPr/>
        </p:nvSpPr>
        <p:spPr>
          <a:xfrm>
            <a:off x="1188720" y="21031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Red única: caja, datáfono, cámaras y clientes</a:t>
            </a:r>
            <a:endParaRPr lang="en-US" sz="1500" dirty="0"/>
          </a:p>
        </p:txBody>
      </p:sp>
      <p:sp>
        <p:nvSpPr>
          <p:cNvPr id="10" name="Shape 8"/>
          <p:cNvSpPr/>
          <p:nvPr/>
        </p:nvSpPr>
        <p:spPr>
          <a:xfrm>
            <a:off x="6400800" y="2194560"/>
            <a:ext cx="3456432" cy="347472"/>
          </a:xfrm>
          <a:prstGeom prst="rect">
            <a:avLst/>
          </a:prstGeom>
          <a:solidFill>
            <a:srgbClr val="C0392B"/>
          </a:solidFill>
          <a:ln w="12700">
            <a:solidFill>
              <a:srgbClr val="C0392B"/>
            </a:solidFill>
            <a:prstDash val="solid"/>
          </a:ln>
        </p:spPr>
      </p:sp>
      <p:sp>
        <p:nvSpPr>
          <p:cNvPr id="11" name="Text 9"/>
          <p:cNvSpPr txBox="1"/>
          <p:nvPr/>
        </p:nvSpPr>
        <p:spPr>
          <a:xfrm>
            <a:off x="9948672" y="21031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9</a:t>
            </a:r>
            <a:endParaRPr lang="en-US" sz="1500" dirty="0"/>
          </a:p>
        </p:txBody>
      </p:sp>
      <p:sp>
        <p:nvSpPr>
          <p:cNvPr id="12" name="Text 10"/>
          <p:cNvSpPr txBox="1"/>
          <p:nvPr/>
        </p:nvSpPr>
        <p:spPr>
          <a:xfrm>
            <a:off x="548640" y="27889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R3</a:t>
            </a:r>
            <a:endParaRPr lang="en-US" sz="1500" dirty="0"/>
          </a:p>
        </p:txBody>
      </p:sp>
      <p:sp>
        <p:nvSpPr>
          <p:cNvPr id="13" name="Text 11"/>
          <p:cNvSpPr txBox="1"/>
          <p:nvPr/>
        </p:nvSpPr>
        <p:spPr>
          <a:xfrm>
            <a:off x="1188720" y="27889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Sin copias de la base de datos del TPV</a:t>
            </a:r>
            <a:endParaRPr lang="en-US" sz="1500" dirty="0"/>
          </a:p>
        </p:txBody>
      </p:sp>
      <p:sp>
        <p:nvSpPr>
          <p:cNvPr id="14" name="Shape 12"/>
          <p:cNvSpPr/>
          <p:nvPr/>
        </p:nvSpPr>
        <p:spPr>
          <a:xfrm>
            <a:off x="6400800" y="2880360"/>
            <a:ext cx="2304288" cy="347472"/>
          </a:xfrm>
          <a:prstGeom prst="rect">
            <a:avLst/>
          </a:prstGeom>
          <a:solidFill>
            <a:srgbClr val="E67E22"/>
          </a:solidFill>
          <a:ln w="12700">
            <a:solidFill>
              <a:srgbClr val="E67E22"/>
            </a:solidFill>
            <a:prstDash val="solid"/>
          </a:ln>
        </p:spPr>
      </p:sp>
      <p:sp>
        <p:nvSpPr>
          <p:cNvPr id="15" name="Text 13"/>
          <p:cNvSpPr txBox="1"/>
          <p:nvPr/>
        </p:nvSpPr>
        <p:spPr>
          <a:xfrm>
            <a:off x="8796528" y="27889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6</a:t>
            </a:r>
            <a:endParaRPr lang="en-US" sz="1500" dirty="0"/>
          </a:p>
        </p:txBody>
      </p:sp>
      <p:sp>
        <p:nvSpPr>
          <p:cNvPr id="16" name="Text 14"/>
          <p:cNvSpPr txBox="1"/>
          <p:nvPr/>
        </p:nvSpPr>
        <p:spPr>
          <a:xfrm>
            <a:off x="548640" y="34747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R4</a:t>
            </a:r>
            <a:endParaRPr lang="en-US" sz="1500" dirty="0"/>
          </a:p>
        </p:txBody>
      </p:sp>
      <p:sp>
        <p:nvSpPr>
          <p:cNvPr id="17" name="Text 15"/>
          <p:cNvSpPr txBox="1"/>
          <p:nvPr/>
        </p:nvSpPr>
        <p:spPr>
          <a:xfrm>
            <a:off x="1188720" y="34747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Sistema operativo sin soporte en la caja</a:t>
            </a:r>
            <a:endParaRPr lang="en-US" sz="1500" dirty="0"/>
          </a:p>
        </p:txBody>
      </p:sp>
      <p:sp>
        <p:nvSpPr>
          <p:cNvPr id="18" name="Shape 16"/>
          <p:cNvSpPr/>
          <p:nvPr/>
        </p:nvSpPr>
        <p:spPr>
          <a:xfrm>
            <a:off x="6400800" y="3566160"/>
            <a:ext cx="2304288" cy="347472"/>
          </a:xfrm>
          <a:prstGeom prst="rect">
            <a:avLst/>
          </a:prstGeom>
          <a:solidFill>
            <a:srgbClr val="E67E22"/>
          </a:solidFill>
          <a:ln w="12700">
            <a:solidFill>
              <a:srgbClr val="E67E22"/>
            </a:solidFill>
            <a:prstDash val="solid"/>
          </a:ln>
        </p:spPr>
      </p:sp>
      <p:sp>
        <p:nvSpPr>
          <p:cNvPr id="19" name="Text 17"/>
          <p:cNvSpPr txBox="1"/>
          <p:nvPr/>
        </p:nvSpPr>
        <p:spPr>
          <a:xfrm>
            <a:off x="8796528" y="34747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6</a:t>
            </a:r>
            <a:endParaRPr lang="en-US" sz="1500" dirty="0"/>
          </a:p>
        </p:txBody>
      </p:sp>
      <p:sp>
        <p:nvSpPr>
          <p:cNvPr id="20" name="Text 18"/>
          <p:cNvSpPr txBox="1"/>
          <p:nvPr/>
        </p:nvSpPr>
        <p:spPr>
          <a:xfrm>
            <a:off x="548640" y="41605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R5</a:t>
            </a:r>
            <a:endParaRPr lang="en-US" sz="1500" dirty="0"/>
          </a:p>
        </p:txBody>
      </p:sp>
      <p:sp>
        <p:nvSpPr>
          <p:cNvPr id="21" name="Text 19"/>
          <p:cNvSpPr txBox="1"/>
          <p:nvPr/>
        </p:nvSpPr>
        <p:spPr>
          <a:xfrm>
            <a:off x="1188720" y="41605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Cuenta única compartida en el TPV</a:t>
            </a:r>
            <a:endParaRPr lang="en-US" sz="1500" dirty="0"/>
          </a:p>
        </p:txBody>
      </p:sp>
      <p:sp>
        <p:nvSpPr>
          <p:cNvPr id="22" name="Shape 20"/>
          <p:cNvSpPr/>
          <p:nvPr/>
        </p:nvSpPr>
        <p:spPr>
          <a:xfrm>
            <a:off x="6400800" y="4251960"/>
            <a:ext cx="2304288" cy="347472"/>
          </a:xfrm>
          <a:prstGeom prst="rect">
            <a:avLst/>
          </a:prstGeom>
          <a:solidFill>
            <a:srgbClr val="E67E22"/>
          </a:solidFill>
          <a:ln w="12700">
            <a:solidFill>
              <a:srgbClr val="E67E22"/>
            </a:solidFill>
            <a:prstDash val="solid"/>
          </a:ln>
        </p:spPr>
      </p:sp>
      <p:sp>
        <p:nvSpPr>
          <p:cNvPr id="23" name="Text 21"/>
          <p:cNvSpPr txBox="1"/>
          <p:nvPr/>
        </p:nvSpPr>
        <p:spPr>
          <a:xfrm>
            <a:off x="8796528" y="41605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6</a:t>
            </a:r>
            <a:endParaRPr lang="en-US" sz="1500" dirty="0"/>
          </a:p>
        </p:txBody>
      </p:sp>
      <p:sp>
        <p:nvSpPr>
          <p:cNvPr id="24" name="Text 22"/>
          <p:cNvSpPr txBox="1"/>
          <p:nvPr/>
        </p:nvSpPr>
        <p:spPr>
          <a:xfrm>
            <a:off x="548640" y="4846320"/>
            <a:ext cx="548640" cy="502920"/>
          </a:xfrm>
          <a:prstGeom prst="rect">
            <a:avLst/>
          </a:prstGeom>
          <a:noFill/>
          <a:ln/>
        </p:spPr>
        <p:txBody>
          <a:bodyPr wrap="square" lIns="0" tIns="0" rIns="0" bIns="0" rtlCol="0" anchor="ctr"/>
          <a:lstStyle/>
          <a:p>
            <a:pPr indent="0" marL="0">
              <a:buNone/>
            </a:pPr>
            <a:r>
              <a:rPr lang="en-US" sz="1500" b="1" dirty="0">
                <a:solidFill>
                  <a:srgbClr val="6B6B6B"/>
                </a:solidFill>
                <a:latin typeface="Arial" pitchFamily="34" charset="0"/>
                <a:ea typeface="Arial" pitchFamily="34" charset="-122"/>
                <a:cs typeface="Arial" pitchFamily="34" charset="-120"/>
              </a:rPr>
              <a:t>R6</a:t>
            </a:r>
            <a:endParaRPr lang="en-US" sz="1500" dirty="0"/>
          </a:p>
        </p:txBody>
      </p:sp>
      <p:sp>
        <p:nvSpPr>
          <p:cNvPr id="25" name="Text 23"/>
          <p:cNvSpPr txBox="1"/>
          <p:nvPr/>
        </p:nvSpPr>
        <p:spPr>
          <a:xfrm>
            <a:off x="1188720" y="4846320"/>
            <a:ext cx="5120640" cy="50292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Disco dañado y sin SAI</a:t>
            </a:r>
            <a:endParaRPr lang="en-US" sz="1500" dirty="0"/>
          </a:p>
        </p:txBody>
      </p:sp>
      <p:sp>
        <p:nvSpPr>
          <p:cNvPr id="26" name="Shape 24"/>
          <p:cNvSpPr/>
          <p:nvPr/>
        </p:nvSpPr>
        <p:spPr>
          <a:xfrm>
            <a:off x="6400800" y="4937760"/>
            <a:ext cx="2304288" cy="347472"/>
          </a:xfrm>
          <a:prstGeom prst="rect">
            <a:avLst/>
          </a:prstGeom>
          <a:solidFill>
            <a:srgbClr val="E67E22"/>
          </a:solidFill>
          <a:ln w="12700">
            <a:solidFill>
              <a:srgbClr val="E67E22"/>
            </a:solidFill>
            <a:prstDash val="solid"/>
          </a:ln>
        </p:spPr>
      </p:sp>
      <p:sp>
        <p:nvSpPr>
          <p:cNvPr id="27" name="Text 25"/>
          <p:cNvSpPr txBox="1"/>
          <p:nvPr/>
        </p:nvSpPr>
        <p:spPr>
          <a:xfrm>
            <a:off x="8796528" y="4846320"/>
            <a:ext cx="457200" cy="502920"/>
          </a:xfrm>
          <a:prstGeom prst="rect">
            <a:avLst/>
          </a:prstGeom>
          <a:noFill/>
          <a:ln/>
        </p:spPr>
        <p:txBody>
          <a:bodyPr wrap="square" lIns="0" tIns="0" rIns="0" bIns="0" rtlCol="0" anchor="ctr"/>
          <a:lstStyle/>
          <a:p>
            <a:pPr indent="0" marL="0">
              <a:buNone/>
            </a:pPr>
            <a:r>
              <a:rPr lang="en-US" sz="1500" b="1" dirty="0">
                <a:solidFill>
                  <a:srgbClr val="2B2B2B"/>
                </a:solidFill>
                <a:latin typeface="Arial" pitchFamily="34" charset="0"/>
                <a:ea typeface="Arial" pitchFamily="34" charset="-122"/>
                <a:cs typeface="Arial" pitchFamily="34" charset="-120"/>
              </a:rPr>
              <a:t>6</a:t>
            </a:r>
            <a:endParaRPr lang="en-US" sz="1500" dirty="0"/>
          </a:p>
        </p:txBody>
      </p:sp>
      <p:sp>
        <p:nvSpPr>
          <p:cNvPr id="28" name="Text 26"/>
          <p:cNvSpPr txBox="1"/>
          <p:nvPr/>
        </p:nvSpPr>
        <p:spPr>
          <a:xfrm>
            <a:off x="548640" y="5623560"/>
            <a:ext cx="10972800" cy="54864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Probabilidad × impacto (1-3 cada uno). Críticos ≥ 6. Hay además cuatro riesgos altos: router de fábrica, datos en cuentas personales, videovigilancia sin cartel y contraseñas a la vista.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El sector: grande, atomizado y con poco margen</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9</a:t>
            </a:r>
            <a:endParaRPr lang="en-US" sz="1100" dirty="0"/>
          </a:p>
        </p:txBody>
      </p:sp>
      <p:sp>
        <p:nvSpPr>
          <p:cNvPr id="4" name="Shape 2"/>
          <p:cNvSpPr/>
          <p:nvPr/>
        </p:nvSpPr>
        <p:spPr>
          <a:xfrm>
            <a:off x="548640" y="1417320"/>
            <a:ext cx="5394960" cy="2011680"/>
          </a:xfrm>
          <a:prstGeom prst="roundRect">
            <a:avLst>
              <a:gd name="adj" fmla="val 5455"/>
            </a:avLst>
          </a:prstGeom>
          <a:solidFill>
            <a:srgbClr val="F4F4F4"/>
          </a:solidFill>
          <a:ln w="12700">
            <a:solidFill>
              <a:srgbClr val="F4F4F4"/>
            </a:solidFill>
            <a:prstDash val="solid"/>
          </a:ln>
        </p:spPr>
      </p:sp>
      <p:sp>
        <p:nvSpPr>
          <p:cNvPr id="5" name="Text 3"/>
          <p:cNvSpPr txBox="1"/>
          <p:nvPr/>
        </p:nvSpPr>
        <p:spPr>
          <a:xfrm>
            <a:off x="868680" y="1645920"/>
            <a:ext cx="4754880" cy="914400"/>
          </a:xfrm>
          <a:prstGeom prst="rect">
            <a:avLst/>
          </a:prstGeom>
          <a:noFill/>
          <a:ln/>
        </p:spPr>
        <p:txBody>
          <a:bodyPr wrap="square" lIns="0" tIns="0" rIns="0" bIns="0" rtlCol="0" anchor="t"/>
          <a:lstStyle/>
          <a:p>
            <a:pPr indent="0" marL="0">
              <a:buNone/>
            </a:pPr>
            <a:r>
              <a:rPr lang="en-US" sz="4800" b="1" dirty="0">
                <a:solidFill>
                  <a:srgbClr val="E67E22"/>
                </a:solidFill>
                <a:latin typeface="Arial" pitchFamily="34" charset="0"/>
                <a:ea typeface="Arial" pitchFamily="34" charset="-122"/>
                <a:cs typeface="Arial" pitchFamily="34" charset="-120"/>
              </a:rPr>
              <a:t>280.403</a:t>
            </a:r>
            <a:endParaRPr lang="en-US" sz="4800" dirty="0"/>
          </a:p>
        </p:txBody>
      </p:sp>
      <p:sp>
        <p:nvSpPr>
          <p:cNvPr id="6" name="Text 4"/>
          <p:cNvSpPr txBox="1"/>
          <p:nvPr/>
        </p:nvSpPr>
        <p:spPr>
          <a:xfrm>
            <a:off x="868680" y="2560320"/>
            <a:ext cx="4754880" cy="457200"/>
          </a:xfrm>
          <a:prstGeom prst="rect">
            <a:avLst/>
          </a:prstGeom>
          <a:noFill/>
          <a:ln/>
        </p:spPr>
        <p:txBody>
          <a:bodyPr wrap="square" lIns="0" tIns="0" rIns="0" bIns="0" rtlCol="0" anchor="t"/>
          <a:lstStyle/>
          <a:p>
            <a:pPr indent="0" marL="0">
              <a:buNone/>
            </a:pPr>
            <a:r>
              <a:rPr lang="en-US" sz="1700" dirty="0">
                <a:solidFill>
                  <a:srgbClr val="2B2B2B"/>
                </a:solidFill>
                <a:latin typeface="Arial" pitchFamily="34" charset="0"/>
                <a:ea typeface="Arial" pitchFamily="34" charset="-122"/>
                <a:cs typeface="Arial" pitchFamily="34" charset="-120"/>
              </a:rPr>
              <a:t>establecimientos de hostelería en España</a:t>
            </a:r>
            <a:endParaRPr lang="en-US" sz="1700" dirty="0"/>
          </a:p>
        </p:txBody>
      </p:sp>
      <p:sp>
        <p:nvSpPr>
          <p:cNvPr id="7" name="Text 5"/>
          <p:cNvSpPr txBox="1"/>
          <p:nvPr/>
        </p:nvSpPr>
        <p:spPr>
          <a:xfrm>
            <a:off x="868680" y="2971800"/>
            <a:ext cx="475488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Profesional Horeca, 2025</a:t>
            </a:r>
            <a:endParaRPr lang="en-US" sz="1200" dirty="0"/>
          </a:p>
        </p:txBody>
      </p:sp>
      <p:sp>
        <p:nvSpPr>
          <p:cNvPr id="8" name="Shape 6"/>
          <p:cNvSpPr/>
          <p:nvPr/>
        </p:nvSpPr>
        <p:spPr>
          <a:xfrm>
            <a:off x="6172200" y="1417320"/>
            <a:ext cx="5394960" cy="2011680"/>
          </a:xfrm>
          <a:prstGeom prst="roundRect">
            <a:avLst>
              <a:gd name="adj" fmla="val 5455"/>
            </a:avLst>
          </a:prstGeom>
          <a:solidFill>
            <a:srgbClr val="F4F4F4"/>
          </a:solidFill>
          <a:ln w="12700">
            <a:solidFill>
              <a:srgbClr val="F4F4F4"/>
            </a:solidFill>
            <a:prstDash val="solid"/>
          </a:ln>
        </p:spPr>
      </p:sp>
      <p:sp>
        <p:nvSpPr>
          <p:cNvPr id="9" name="Text 7"/>
          <p:cNvSpPr txBox="1"/>
          <p:nvPr/>
        </p:nvSpPr>
        <p:spPr>
          <a:xfrm>
            <a:off x="6492240" y="1645920"/>
            <a:ext cx="4754880" cy="914400"/>
          </a:xfrm>
          <a:prstGeom prst="rect">
            <a:avLst/>
          </a:prstGeom>
          <a:noFill/>
          <a:ln/>
        </p:spPr>
        <p:txBody>
          <a:bodyPr wrap="square" lIns="0" tIns="0" rIns="0" bIns="0" rtlCol="0" anchor="t"/>
          <a:lstStyle/>
          <a:p>
            <a:pPr indent="0" marL="0">
              <a:buNone/>
            </a:pPr>
            <a:r>
              <a:rPr lang="en-US" sz="4800" b="1" dirty="0">
                <a:solidFill>
                  <a:srgbClr val="E67E22"/>
                </a:solidFill>
                <a:latin typeface="Arial" pitchFamily="34" charset="0"/>
                <a:ea typeface="Arial" pitchFamily="34" charset="-122"/>
                <a:cs typeface="Arial" pitchFamily="34" charset="-120"/>
              </a:rPr>
              <a:t>93 %</a:t>
            </a:r>
            <a:endParaRPr lang="en-US" sz="4800" dirty="0"/>
          </a:p>
        </p:txBody>
      </p:sp>
      <p:sp>
        <p:nvSpPr>
          <p:cNvPr id="10" name="Text 8"/>
          <p:cNvSpPr txBox="1"/>
          <p:nvPr/>
        </p:nvSpPr>
        <p:spPr>
          <a:xfrm>
            <a:off x="6492240" y="2560320"/>
            <a:ext cx="4754880" cy="457200"/>
          </a:xfrm>
          <a:prstGeom prst="rect">
            <a:avLst/>
          </a:prstGeom>
          <a:noFill/>
          <a:ln/>
        </p:spPr>
        <p:txBody>
          <a:bodyPr wrap="square" lIns="0" tIns="0" rIns="0" bIns="0" rtlCol="0" anchor="t"/>
          <a:lstStyle/>
          <a:p>
            <a:pPr indent="0" marL="0">
              <a:buNone/>
            </a:pPr>
            <a:r>
              <a:rPr lang="en-US" sz="1700" dirty="0">
                <a:solidFill>
                  <a:srgbClr val="2B2B2B"/>
                </a:solidFill>
                <a:latin typeface="Arial" pitchFamily="34" charset="0"/>
                <a:ea typeface="Arial" pitchFamily="34" charset="-122"/>
                <a:cs typeface="Arial" pitchFamily="34" charset="-120"/>
              </a:rPr>
              <a:t>son locales independientes</a:t>
            </a:r>
            <a:endParaRPr lang="en-US" sz="1700" dirty="0"/>
          </a:p>
        </p:txBody>
      </p:sp>
      <p:sp>
        <p:nvSpPr>
          <p:cNvPr id="11" name="Text 9"/>
          <p:cNvSpPr txBox="1"/>
          <p:nvPr/>
        </p:nvSpPr>
        <p:spPr>
          <a:xfrm>
            <a:off x="6492240" y="2971800"/>
            <a:ext cx="475488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Profesional Horeca, 2025</a:t>
            </a:r>
            <a:endParaRPr lang="en-US" sz="1200" dirty="0"/>
          </a:p>
        </p:txBody>
      </p:sp>
      <p:sp>
        <p:nvSpPr>
          <p:cNvPr id="12" name="Shape 10"/>
          <p:cNvSpPr/>
          <p:nvPr/>
        </p:nvSpPr>
        <p:spPr>
          <a:xfrm>
            <a:off x="548640" y="3703320"/>
            <a:ext cx="5394960" cy="2011680"/>
          </a:xfrm>
          <a:prstGeom prst="roundRect">
            <a:avLst>
              <a:gd name="adj" fmla="val 5455"/>
            </a:avLst>
          </a:prstGeom>
          <a:solidFill>
            <a:srgbClr val="F4F4F4"/>
          </a:solidFill>
          <a:ln w="12700">
            <a:solidFill>
              <a:srgbClr val="F4F4F4"/>
            </a:solidFill>
            <a:prstDash val="solid"/>
          </a:ln>
        </p:spPr>
      </p:sp>
      <p:sp>
        <p:nvSpPr>
          <p:cNvPr id="13" name="Text 11"/>
          <p:cNvSpPr txBox="1"/>
          <p:nvPr/>
        </p:nvSpPr>
        <p:spPr>
          <a:xfrm>
            <a:off x="868680" y="3931920"/>
            <a:ext cx="4754880" cy="914400"/>
          </a:xfrm>
          <a:prstGeom prst="rect">
            <a:avLst/>
          </a:prstGeom>
          <a:noFill/>
          <a:ln/>
        </p:spPr>
        <p:txBody>
          <a:bodyPr wrap="square" lIns="0" tIns="0" rIns="0" bIns="0" rtlCol="0" anchor="t"/>
          <a:lstStyle/>
          <a:p>
            <a:pPr indent="0" marL="0">
              <a:buNone/>
            </a:pPr>
            <a:r>
              <a:rPr lang="en-US" sz="4800" b="1" dirty="0">
                <a:solidFill>
                  <a:srgbClr val="C0392B"/>
                </a:solidFill>
                <a:latin typeface="Arial" pitchFamily="34" charset="0"/>
                <a:ea typeface="Arial" pitchFamily="34" charset="-122"/>
                <a:cs typeface="Arial" pitchFamily="34" charset="-120"/>
              </a:rPr>
              <a:t>−0,9 %</a:t>
            </a:r>
            <a:endParaRPr lang="en-US" sz="4800" dirty="0"/>
          </a:p>
        </p:txBody>
      </p:sp>
      <p:sp>
        <p:nvSpPr>
          <p:cNvPr id="14" name="Text 12"/>
          <p:cNvSpPr txBox="1"/>
          <p:nvPr/>
        </p:nvSpPr>
        <p:spPr>
          <a:xfrm>
            <a:off x="868680" y="4846320"/>
            <a:ext cx="4754880" cy="457200"/>
          </a:xfrm>
          <a:prstGeom prst="rect">
            <a:avLst/>
          </a:prstGeom>
          <a:noFill/>
          <a:ln/>
        </p:spPr>
        <p:txBody>
          <a:bodyPr wrap="square" lIns="0" tIns="0" rIns="0" bIns="0" rtlCol="0" anchor="t"/>
          <a:lstStyle/>
          <a:p>
            <a:pPr indent="0" marL="0">
              <a:buNone/>
            </a:pPr>
            <a:r>
              <a:rPr lang="en-US" sz="1700" dirty="0">
                <a:solidFill>
                  <a:srgbClr val="2B2B2B"/>
                </a:solidFill>
                <a:latin typeface="Arial" pitchFamily="34" charset="0"/>
                <a:ea typeface="Arial" pitchFamily="34" charset="-122"/>
                <a:cs typeface="Arial" pitchFamily="34" charset="-120"/>
              </a:rPr>
              <a:t>rentabilidad de la restauración en 2025</a:t>
            </a:r>
            <a:endParaRPr lang="en-US" sz="1700" dirty="0"/>
          </a:p>
        </p:txBody>
      </p:sp>
      <p:sp>
        <p:nvSpPr>
          <p:cNvPr id="15" name="Text 13"/>
          <p:cNvSpPr txBox="1"/>
          <p:nvPr/>
        </p:nvSpPr>
        <p:spPr>
          <a:xfrm>
            <a:off x="868680" y="5257800"/>
            <a:ext cx="475488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Hosteltur, 2026</a:t>
            </a:r>
            <a:endParaRPr lang="en-US" sz="1200" dirty="0"/>
          </a:p>
        </p:txBody>
      </p:sp>
      <p:sp>
        <p:nvSpPr>
          <p:cNvPr id="16" name="Shape 14"/>
          <p:cNvSpPr/>
          <p:nvPr/>
        </p:nvSpPr>
        <p:spPr>
          <a:xfrm>
            <a:off x="6172200" y="3703320"/>
            <a:ext cx="5394960" cy="2011680"/>
          </a:xfrm>
          <a:prstGeom prst="roundRect">
            <a:avLst>
              <a:gd name="adj" fmla="val 5455"/>
            </a:avLst>
          </a:prstGeom>
          <a:solidFill>
            <a:srgbClr val="F4F4F4"/>
          </a:solidFill>
          <a:ln w="12700">
            <a:solidFill>
              <a:srgbClr val="F4F4F4"/>
            </a:solidFill>
            <a:prstDash val="solid"/>
          </a:ln>
        </p:spPr>
      </p:sp>
      <p:sp>
        <p:nvSpPr>
          <p:cNvPr id="17" name="Text 15"/>
          <p:cNvSpPr txBox="1"/>
          <p:nvPr/>
        </p:nvSpPr>
        <p:spPr>
          <a:xfrm>
            <a:off x="6492240" y="3931920"/>
            <a:ext cx="4754880" cy="914400"/>
          </a:xfrm>
          <a:prstGeom prst="rect">
            <a:avLst/>
          </a:prstGeom>
          <a:noFill/>
          <a:ln/>
        </p:spPr>
        <p:txBody>
          <a:bodyPr wrap="square" lIns="0" tIns="0" rIns="0" bIns="0" rtlCol="0" anchor="t"/>
          <a:lstStyle/>
          <a:p>
            <a:pPr indent="0" marL="0">
              <a:buNone/>
            </a:pPr>
            <a:r>
              <a:rPr lang="en-US" sz="4800" b="1" dirty="0">
                <a:solidFill>
                  <a:srgbClr val="E67E22"/>
                </a:solidFill>
                <a:latin typeface="Arial" pitchFamily="34" charset="0"/>
                <a:ea typeface="Arial" pitchFamily="34" charset="-122"/>
                <a:cs typeface="Arial" pitchFamily="34" charset="-120"/>
              </a:rPr>
              <a:t>31.186</a:t>
            </a:r>
            <a:endParaRPr lang="en-US" sz="4800" dirty="0"/>
          </a:p>
        </p:txBody>
      </p:sp>
      <p:sp>
        <p:nvSpPr>
          <p:cNvPr id="18" name="Text 16"/>
          <p:cNvSpPr txBox="1"/>
          <p:nvPr/>
        </p:nvSpPr>
        <p:spPr>
          <a:xfrm>
            <a:off x="6492240" y="4846320"/>
            <a:ext cx="4754880" cy="457200"/>
          </a:xfrm>
          <a:prstGeom prst="rect">
            <a:avLst/>
          </a:prstGeom>
          <a:noFill/>
          <a:ln/>
        </p:spPr>
        <p:txBody>
          <a:bodyPr wrap="square" lIns="0" tIns="0" rIns="0" bIns="0" rtlCol="0" anchor="t"/>
          <a:lstStyle/>
          <a:p>
            <a:pPr indent="0" marL="0">
              <a:buNone/>
            </a:pPr>
            <a:r>
              <a:rPr lang="en-US" sz="1700" dirty="0">
                <a:solidFill>
                  <a:srgbClr val="2B2B2B"/>
                </a:solidFill>
                <a:latin typeface="Arial" pitchFamily="34" charset="0"/>
                <a:ea typeface="Arial" pitchFamily="34" charset="-122"/>
                <a:cs typeface="Arial" pitchFamily="34" charset="-120"/>
              </a:rPr>
              <a:t>bares y restaurantes en la Comunitat Valenciana</a:t>
            </a:r>
            <a:endParaRPr lang="en-US" sz="1700" dirty="0"/>
          </a:p>
        </p:txBody>
      </p:sp>
      <p:sp>
        <p:nvSpPr>
          <p:cNvPr id="19" name="Text 17"/>
          <p:cNvSpPr txBox="1"/>
          <p:nvPr/>
        </p:nvSpPr>
        <p:spPr>
          <a:xfrm>
            <a:off x="6492240" y="5257800"/>
            <a:ext cx="475488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El Periòdic, 2025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PESTEL: lo que no controla, pero le condiciona</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10</a:t>
            </a:r>
            <a:endParaRPr lang="en-US" sz="1100" dirty="0"/>
          </a:p>
        </p:txBody>
      </p:sp>
      <p:sp>
        <p:nvSpPr>
          <p:cNvPr id="4" name="Shape 2"/>
          <p:cNvSpPr/>
          <p:nvPr/>
        </p:nvSpPr>
        <p:spPr>
          <a:xfrm>
            <a:off x="548640" y="1463040"/>
            <a:ext cx="3474720" cy="1965960"/>
          </a:xfrm>
          <a:prstGeom prst="roundRect">
            <a:avLst>
              <a:gd name="adj" fmla="val 5581"/>
            </a:avLst>
          </a:prstGeom>
          <a:solidFill>
            <a:srgbClr val="FDEBD9"/>
          </a:solidFill>
          <a:ln w="12700">
            <a:solidFill>
              <a:srgbClr val="FDEBD9"/>
            </a:solidFill>
            <a:prstDash val="solid"/>
          </a:ln>
        </p:spPr>
      </p:sp>
      <p:sp>
        <p:nvSpPr>
          <p:cNvPr id="5" name="Shape 3"/>
          <p:cNvSpPr/>
          <p:nvPr/>
        </p:nvSpPr>
        <p:spPr>
          <a:xfrm>
            <a:off x="822960" y="1737360"/>
            <a:ext cx="640080" cy="640080"/>
          </a:xfrm>
          <a:prstGeom prst="ellipse">
            <a:avLst/>
          </a:prstGeom>
          <a:solidFill>
            <a:srgbClr val="E67E22"/>
          </a:solidFill>
          <a:ln w="12700">
            <a:solidFill>
              <a:srgbClr val="E67E22"/>
            </a:solidFill>
            <a:prstDash val="solid"/>
          </a:ln>
        </p:spPr>
      </p:sp>
      <p:sp>
        <p:nvSpPr>
          <p:cNvPr id="6" name="Text 4"/>
          <p:cNvSpPr txBox="1"/>
          <p:nvPr/>
        </p:nvSpPr>
        <p:spPr>
          <a:xfrm>
            <a:off x="82296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a:t>
            </a:r>
            <a:endParaRPr lang="en-US" sz="2200" dirty="0"/>
          </a:p>
        </p:txBody>
      </p:sp>
      <p:sp>
        <p:nvSpPr>
          <p:cNvPr id="7" name="Text 5"/>
          <p:cNvSpPr txBox="1"/>
          <p:nvPr/>
        </p:nvSpPr>
        <p:spPr>
          <a:xfrm>
            <a:off x="1600200" y="173736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Político</a:t>
            </a:r>
            <a:endParaRPr lang="en-US" sz="1800" dirty="0"/>
          </a:p>
        </p:txBody>
      </p:sp>
      <p:sp>
        <p:nvSpPr>
          <p:cNvPr id="8" name="Text 6"/>
          <p:cNvSpPr txBox="1"/>
          <p:nvPr/>
        </p:nvSpPr>
        <p:spPr>
          <a:xfrm>
            <a:off x="822960" y="251460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Verifactu aplazado: 1/1/2027 para sociedades</a:t>
            </a:r>
            <a:endParaRPr lang="en-US" sz="1500" dirty="0"/>
          </a:p>
        </p:txBody>
      </p:sp>
      <p:sp>
        <p:nvSpPr>
          <p:cNvPr id="9" name="Shape 7"/>
          <p:cNvSpPr/>
          <p:nvPr/>
        </p:nvSpPr>
        <p:spPr>
          <a:xfrm>
            <a:off x="4297680" y="1463040"/>
            <a:ext cx="3474720" cy="1965960"/>
          </a:xfrm>
          <a:prstGeom prst="roundRect">
            <a:avLst>
              <a:gd name="adj" fmla="val 5581"/>
            </a:avLst>
          </a:prstGeom>
          <a:solidFill>
            <a:srgbClr val="F4F4F4"/>
          </a:solidFill>
          <a:ln w="12700">
            <a:solidFill>
              <a:srgbClr val="F4F4F4"/>
            </a:solidFill>
            <a:prstDash val="solid"/>
          </a:ln>
        </p:spPr>
      </p:sp>
      <p:sp>
        <p:nvSpPr>
          <p:cNvPr id="10" name="Shape 8"/>
          <p:cNvSpPr/>
          <p:nvPr/>
        </p:nvSpPr>
        <p:spPr>
          <a:xfrm>
            <a:off x="4572000" y="1737360"/>
            <a:ext cx="640080" cy="640080"/>
          </a:xfrm>
          <a:prstGeom prst="ellipse">
            <a:avLst/>
          </a:prstGeom>
          <a:solidFill>
            <a:srgbClr val="E67E22"/>
          </a:solidFill>
          <a:ln w="12700">
            <a:solidFill>
              <a:srgbClr val="E67E22"/>
            </a:solidFill>
            <a:prstDash val="solid"/>
          </a:ln>
        </p:spPr>
      </p:sp>
      <p:sp>
        <p:nvSpPr>
          <p:cNvPr id="11" name="Text 9"/>
          <p:cNvSpPr txBox="1"/>
          <p:nvPr/>
        </p:nvSpPr>
        <p:spPr>
          <a:xfrm>
            <a:off x="457200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E</a:t>
            </a:r>
            <a:endParaRPr lang="en-US" sz="2200" dirty="0"/>
          </a:p>
        </p:txBody>
      </p:sp>
      <p:sp>
        <p:nvSpPr>
          <p:cNvPr id="12" name="Text 10"/>
          <p:cNvSpPr txBox="1"/>
          <p:nvPr/>
        </p:nvSpPr>
        <p:spPr>
          <a:xfrm>
            <a:off x="5349240" y="173736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Económico</a:t>
            </a:r>
            <a:endParaRPr lang="en-US" sz="1800" dirty="0"/>
          </a:p>
        </p:txBody>
      </p:sp>
      <p:sp>
        <p:nvSpPr>
          <p:cNvPr id="13" name="Text 11"/>
          <p:cNvSpPr txBox="1"/>
          <p:nvPr/>
        </p:nvSpPr>
        <p:spPr>
          <a:xfrm>
            <a:off x="4572000" y="251460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Factura más, gana menos: cada euro cuenta</a:t>
            </a:r>
            <a:endParaRPr lang="en-US" sz="1500" dirty="0"/>
          </a:p>
        </p:txBody>
      </p:sp>
      <p:sp>
        <p:nvSpPr>
          <p:cNvPr id="14" name="Shape 12"/>
          <p:cNvSpPr/>
          <p:nvPr/>
        </p:nvSpPr>
        <p:spPr>
          <a:xfrm>
            <a:off x="8046720" y="1463040"/>
            <a:ext cx="3474720" cy="1965960"/>
          </a:xfrm>
          <a:prstGeom prst="roundRect">
            <a:avLst>
              <a:gd name="adj" fmla="val 5581"/>
            </a:avLst>
          </a:prstGeom>
          <a:solidFill>
            <a:srgbClr val="F4F4F4"/>
          </a:solidFill>
          <a:ln w="12700">
            <a:solidFill>
              <a:srgbClr val="F4F4F4"/>
            </a:solidFill>
            <a:prstDash val="solid"/>
          </a:ln>
        </p:spPr>
      </p:sp>
      <p:sp>
        <p:nvSpPr>
          <p:cNvPr id="15" name="Shape 13"/>
          <p:cNvSpPr/>
          <p:nvPr/>
        </p:nvSpPr>
        <p:spPr>
          <a:xfrm>
            <a:off x="8321040" y="1737360"/>
            <a:ext cx="640080" cy="640080"/>
          </a:xfrm>
          <a:prstGeom prst="ellipse">
            <a:avLst/>
          </a:prstGeom>
          <a:solidFill>
            <a:srgbClr val="E67E22"/>
          </a:solidFill>
          <a:ln w="12700">
            <a:solidFill>
              <a:srgbClr val="E67E22"/>
            </a:solidFill>
            <a:prstDash val="solid"/>
          </a:ln>
        </p:spPr>
      </p:sp>
      <p:sp>
        <p:nvSpPr>
          <p:cNvPr id="16" name="Text 14"/>
          <p:cNvSpPr txBox="1"/>
          <p:nvPr/>
        </p:nvSpPr>
        <p:spPr>
          <a:xfrm>
            <a:off x="832104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S</a:t>
            </a:r>
            <a:endParaRPr lang="en-US" sz="2200" dirty="0"/>
          </a:p>
        </p:txBody>
      </p:sp>
      <p:sp>
        <p:nvSpPr>
          <p:cNvPr id="17" name="Text 15"/>
          <p:cNvSpPr txBox="1"/>
          <p:nvPr/>
        </p:nvSpPr>
        <p:spPr>
          <a:xfrm>
            <a:off x="9098280" y="173736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Social</a:t>
            </a:r>
            <a:endParaRPr lang="en-US" sz="1800" dirty="0"/>
          </a:p>
        </p:txBody>
      </p:sp>
      <p:sp>
        <p:nvSpPr>
          <p:cNvPr id="18" name="Text 16"/>
          <p:cNvSpPr txBox="1"/>
          <p:nvPr/>
        </p:nvSpPr>
        <p:spPr>
          <a:xfrm>
            <a:off x="8321040" y="251460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Cliente joven que paga con móvil y espera wifi</a:t>
            </a:r>
            <a:endParaRPr lang="en-US" sz="1500" dirty="0"/>
          </a:p>
        </p:txBody>
      </p:sp>
      <p:sp>
        <p:nvSpPr>
          <p:cNvPr id="19" name="Shape 17"/>
          <p:cNvSpPr/>
          <p:nvPr/>
        </p:nvSpPr>
        <p:spPr>
          <a:xfrm>
            <a:off x="548640" y="3703320"/>
            <a:ext cx="3474720" cy="1965960"/>
          </a:xfrm>
          <a:prstGeom prst="roundRect">
            <a:avLst>
              <a:gd name="adj" fmla="val 5581"/>
            </a:avLst>
          </a:prstGeom>
          <a:solidFill>
            <a:srgbClr val="F4F4F4"/>
          </a:solidFill>
          <a:ln w="12700">
            <a:solidFill>
              <a:srgbClr val="F4F4F4"/>
            </a:solidFill>
            <a:prstDash val="solid"/>
          </a:ln>
        </p:spPr>
      </p:sp>
      <p:sp>
        <p:nvSpPr>
          <p:cNvPr id="20" name="Shape 18"/>
          <p:cNvSpPr/>
          <p:nvPr/>
        </p:nvSpPr>
        <p:spPr>
          <a:xfrm>
            <a:off x="822960" y="3977640"/>
            <a:ext cx="640080" cy="640080"/>
          </a:xfrm>
          <a:prstGeom prst="ellipse">
            <a:avLst/>
          </a:prstGeom>
          <a:solidFill>
            <a:srgbClr val="E67E22"/>
          </a:solidFill>
          <a:ln w="12700">
            <a:solidFill>
              <a:srgbClr val="E67E22"/>
            </a:solidFill>
            <a:prstDash val="solid"/>
          </a:ln>
        </p:spPr>
      </p:sp>
      <p:sp>
        <p:nvSpPr>
          <p:cNvPr id="21" name="Text 19"/>
          <p:cNvSpPr txBox="1"/>
          <p:nvPr/>
        </p:nvSpPr>
        <p:spPr>
          <a:xfrm>
            <a:off x="822960" y="3977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a:t>
            </a:r>
            <a:endParaRPr lang="en-US" sz="2200" dirty="0"/>
          </a:p>
        </p:txBody>
      </p:sp>
      <p:sp>
        <p:nvSpPr>
          <p:cNvPr id="22" name="Text 20"/>
          <p:cNvSpPr txBox="1"/>
          <p:nvPr/>
        </p:nvSpPr>
        <p:spPr>
          <a:xfrm>
            <a:off x="1600200" y="397764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Tecnológico</a:t>
            </a:r>
            <a:endParaRPr lang="en-US" sz="1800" dirty="0"/>
          </a:p>
        </p:txBody>
      </p:sp>
      <p:sp>
        <p:nvSpPr>
          <p:cNvPr id="23" name="Text 21"/>
          <p:cNvSpPr txBox="1"/>
          <p:nvPr/>
        </p:nvSpPr>
        <p:spPr>
          <a:xfrm>
            <a:off x="822960" y="475488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Fin de Windows 10; la cocina sigue en papel</a:t>
            </a:r>
            <a:endParaRPr lang="en-US" sz="1500" dirty="0"/>
          </a:p>
        </p:txBody>
      </p:sp>
      <p:sp>
        <p:nvSpPr>
          <p:cNvPr id="24" name="Shape 22"/>
          <p:cNvSpPr/>
          <p:nvPr/>
        </p:nvSpPr>
        <p:spPr>
          <a:xfrm>
            <a:off x="4297680" y="3703320"/>
            <a:ext cx="3474720" cy="1965960"/>
          </a:xfrm>
          <a:prstGeom prst="roundRect">
            <a:avLst>
              <a:gd name="adj" fmla="val 5581"/>
            </a:avLst>
          </a:prstGeom>
          <a:solidFill>
            <a:srgbClr val="F4F4F4"/>
          </a:solidFill>
          <a:ln w="12700">
            <a:solidFill>
              <a:srgbClr val="F4F4F4"/>
            </a:solidFill>
            <a:prstDash val="solid"/>
          </a:ln>
        </p:spPr>
      </p:sp>
      <p:sp>
        <p:nvSpPr>
          <p:cNvPr id="25" name="Shape 23"/>
          <p:cNvSpPr/>
          <p:nvPr/>
        </p:nvSpPr>
        <p:spPr>
          <a:xfrm>
            <a:off x="4572000" y="3977640"/>
            <a:ext cx="640080" cy="640080"/>
          </a:xfrm>
          <a:prstGeom prst="ellipse">
            <a:avLst/>
          </a:prstGeom>
          <a:solidFill>
            <a:srgbClr val="E67E22"/>
          </a:solidFill>
          <a:ln w="12700">
            <a:solidFill>
              <a:srgbClr val="E67E22"/>
            </a:solidFill>
            <a:prstDash val="solid"/>
          </a:ln>
        </p:spPr>
      </p:sp>
      <p:sp>
        <p:nvSpPr>
          <p:cNvPr id="26" name="Text 24"/>
          <p:cNvSpPr txBox="1"/>
          <p:nvPr/>
        </p:nvSpPr>
        <p:spPr>
          <a:xfrm>
            <a:off x="4572000" y="3977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E</a:t>
            </a:r>
            <a:endParaRPr lang="en-US" sz="2200" dirty="0"/>
          </a:p>
        </p:txBody>
      </p:sp>
      <p:sp>
        <p:nvSpPr>
          <p:cNvPr id="27" name="Text 25"/>
          <p:cNvSpPr txBox="1"/>
          <p:nvPr/>
        </p:nvSpPr>
        <p:spPr>
          <a:xfrm>
            <a:off x="5349240" y="397764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Ambiental</a:t>
            </a:r>
            <a:endParaRPr lang="en-US" sz="1800" dirty="0"/>
          </a:p>
        </p:txBody>
      </p:sp>
      <p:sp>
        <p:nvSpPr>
          <p:cNvPr id="28" name="Text 26"/>
          <p:cNvSpPr txBox="1"/>
          <p:nvPr/>
        </p:nvSpPr>
        <p:spPr>
          <a:xfrm>
            <a:off x="4572000" y="475488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Bisfenol A en el papel térmico; equipos viejos como RAEE</a:t>
            </a:r>
            <a:endParaRPr lang="en-US" sz="1500" dirty="0"/>
          </a:p>
        </p:txBody>
      </p:sp>
      <p:sp>
        <p:nvSpPr>
          <p:cNvPr id="29" name="Shape 27"/>
          <p:cNvSpPr/>
          <p:nvPr/>
        </p:nvSpPr>
        <p:spPr>
          <a:xfrm>
            <a:off x="8046720" y="3703320"/>
            <a:ext cx="3474720" cy="1965960"/>
          </a:xfrm>
          <a:prstGeom prst="roundRect">
            <a:avLst>
              <a:gd name="adj" fmla="val 5581"/>
            </a:avLst>
          </a:prstGeom>
          <a:solidFill>
            <a:srgbClr val="F4F4F4"/>
          </a:solidFill>
          <a:ln w="12700">
            <a:solidFill>
              <a:srgbClr val="F4F4F4"/>
            </a:solidFill>
            <a:prstDash val="solid"/>
          </a:ln>
        </p:spPr>
      </p:sp>
      <p:sp>
        <p:nvSpPr>
          <p:cNvPr id="30" name="Shape 28"/>
          <p:cNvSpPr/>
          <p:nvPr/>
        </p:nvSpPr>
        <p:spPr>
          <a:xfrm>
            <a:off x="8321040" y="3977640"/>
            <a:ext cx="640080" cy="640080"/>
          </a:xfrm>
          <a:prstGeom prst="ellipse">
            <a:avLst/>
          </a:prstGeom>
          <a:solidFill>
            <a:srgbClr val="E67E22"/>
          </a:solidFill>
          <a:ln w="12700">
            <a:solidFill>
              <a:srgbClr val="E67E22"/>
            </a:solidFill>
            <a:prstDash val="solid"/>
          </a:ln>
        </p:spPr>
      </p:sp>
      <p:sp>
        <p:nvSpPr>
          <p:cNvPr id="31" name="Text 29"/>
          <p:cNvSpPr txBox="1"/>
          <p:nvPr/>
        </p:nvSpPr>
        <p:spPr>
          <a:xfrm>
            <a:off x="8321040" y="3977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L</a:t>
            </a:r>
            <a:endParaRPr lang="en-US" sz="2200" dirty="0"/>
          </a:p>
        </p:txBody>
      </p:sp>
      <p:sp>
        <p:nvSpPr>
          <p:cNvPr id="32" name="Text 30"/>
          <p:cNvSpPr txBox="1"/>
          <p:nvPr/>
        </p:nvSpPr>
        <p:spPr>
          <a:xfrm>
            <a:off x="9098280" y="3977640"/>
            <a:ext cx="2286000" cy="640080"/>
          </a:xfrm>
          <a:prstGeom prst="rect">
            <a:avLst/>
          </a:prstGeom>
          <a:noFill/>
          <a:ln/>
        </p:spPr>
        <p:txBody>
          <a:bodyPr wrap="square" lIns="0" tIns="0" rIns="0" bIns="0" rtlCol="0" anchor="ctr"/>
          <a:lstStyle/>
          <a:p>
            <a:pPr indent="0" marL="0">
              <a:buNone/>
            </a:pPr>
            <a:r>
              <a:rPr lang="en-US" sz="1800" b="1" dirty="0">
                <a:solidFill>
                  <a:srgbClr val="2B2B2B"/>
                </a:solidFill>
                <a:latin typeface="Arial" pitchFamily="34" charset="0"/>
                <a:ea typeface="Arial" pitchFamily="34" charset="-122"/>
                <a:cs typeface="Arial" pitchFamily="34" charset="-120"/>
              </a:rPr>
              <a:t>Legal</a:t>
            </a:r>
            <a:endParaRPr lang="en-US" sz="1800" dirty="0"/>
          </a:p>
        </p:txBody>
      </p:sp>
      <p:sp>
        <p:nvSpPr>
          <p:cNvPr id="33" name="Text 31"/>
          <p:cNvSpPr txBox="1"/>
          <p:nvPr/>
        </p:nvSpPr>
        <p:spPr>
          <a:xfrm>
            <a:off x="8321040" y="4754880"/>
            <a:ext cx="3017520" cy="777240"/>
          </a:xfrm>
          <a:prstGeom prst="rect">
            <a:avLst/>
          </a:prstGeom>
          <a:noFill/>
          <a:ln/>
        </p:spPr>
        <p:txBody>
          <a:bodyPr wrap="square" lIns="0" tIns="0" rIns="0" bIns="0" rtlCol="0" anchor="t"/>
          <a:lstStyle/>
          <a:p>
            <a:pPr indent="0" marL="0">
              <a:buNone/>
            </a:pPr>
            <a:r>
              <a:rPr lang="en-US" sz="1500" dirty="0">
                <a:solidFill>
                  <a:srgbClr val="2B2B2B"/>
                </a:solidFill>
                <a:latin typeface="Arial" pitchFamily="34" charset="0"/>
                <a:ea typeface="Arial" pitchFamily="34" charset="-122"/>
                <a:cs typeface="Arial" pitchFamily="34" charset="-120"/>
              </a:rPr>
              <a:t>Ley antifraude, RGPD, alérgenos, registro de jornada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Clientes, proveedores y competencia</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11</a:t>
            </a:r>
            <a:endParaRPr lang="en-US" sz="1100" dirty="0"/>
          </a:p>
        </p:txBody>
      </p:sp>
      <p:sp>
        <p:nvSpPr>
          <p:cNvPr id="4" name="Shape 2"/>
          <p:cNvSpPr/>
          <p:nvPr/>
        </p:nvSpPr>
        <p:spPr>
          <a:xfrm>
            <a:off x="548640" y="1417320"/>
            <a:ext cx="3474720" cy="3566160"/>
          </a:xfrm>
          <a:prstGeom prst="roundRect">
            <a:avLst>
              <a:gd name="adj" fmla="val 3158"/>
            </a:avLst>
          </a:prstGeom>
          <a:solidFill>
            <a:srgbClr val="F4F4F4"/>
          </a:solidFill>
          <a:ln w="12700">
            <a:solidFill>
              <a:srgbClr val="F4F4F4"/>
            </a:solidFill>
            <a:prstDash val="solid"/>
          </a:ln>
        </p:spPr>
      </p:sp>
      <p:sp>
        <p:nvSpPr>
          <p:cNvPr id="5" name="Text 3"/>
          <p:cNvSpPr txBox="1"/>
          <p:nvPr/>
        </p:nvSpPr>
        <p:spPr>
          <a:xfrm>
            <a:off x="822960" y="1645920"/>
            <a:ext cx="2926080" cy="457200"/>
          </a:xfrm>
          <a:prstGeom prst="rect">
            <a:avLst/>
          </a:prstGeom>
          <a:noFill/>
          <a:ln/>
        </p:spPr>
        <p:txBody>
          <a:bodyPr wrap="square" lIns="0" tIns="0" rIns="0" bIns="0" rtlCol="0" anchor="t"/>
          <a:lstStyle/>
          <a:p>
            <a:pPr indent="0" marL="0">
              <a:buNone/>
            </a:pPr>
            <a:r>
              <a:rPr lang="en-US" sz="2000" b="1" dirty="0">
                <a:solidFill>
                  <a:srgbClr val="2B2B2B"/>
                </a:solidFill>
                <a:latin typeface="Arial" pitchFamily="34" charset="0"/>
                <a:ea typeface="Arial" pitchFamily="34" charset="-122"/>
                <a:cs typeface="Arial" pitchFamily="34" charset="-120"/>
              </a:rPr>
              <a:t>Clientes</a:t>
            </a:r>
            <a:endParaRPr lang="en-US" sz="2000" dirty="0"/>
          </a:p>
        </p:txBody>
      </p:sp>
      <p:sp>
        <p:nvSpPr>
          <p:cNvPr id="6" name="Text 4"/>
          <p:cNvSpPr txBox="1"/>
          <p:nvPr/>
        </p:nvSpPr>
        <p:spPr>
          <a:xfrm>
            <a:off x="822960" y="2286000"/>
            <a:ext cx="2971800" cy="25603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Estudiantes: rapidez y pago con móvil</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Familias: cuenta dividida</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Para llevar: saber cuándo está listo</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Reparto: que no se pierda el pedido</a:t>
            </a:r>
            <a:endParaRPr lang="en-US" sz="1600" dirty="0"/>
          </a:p>
        </p:txBody>
      </p:sp>
      <p:sp>
        <p:nvSpPr>
          <p:cNvPr id="7" name="Shape 5"/>
          <p:cNvSpPr/>
          <p:nvPr/>
        </p:nvSpPr>
        <p:spPr>
          <a:xfrm>
            <a:off x="4297680" y="1417320"/>
            <a:ext cx="3474720" cy="3566160"/>
          </a:xfrm>
          <a:prstGeom prst="roundRect">
            <a:avLst>
              <a:gd name="adj" fmla="val 3158"/>
            </a:avLst>
          </a:prstGeom>
          <a:solidFill>
            <a:srgbClr val="F4F4F4"/>
          </a:solidFill>
          <a:ln w="12700">
            <a:solidFill>
              <a:srgbClr val="F4F4F4"/>
            </a:solidFill>
            <a:prstDash val="solid"/>
          </a:ln>
        </p:spPr>
      </p:sp>
      <p:sp>
        <p:nvSpPr>
          <p:cNvPr id="8" name="Text 6"/>
          <p:cNvSpPr txBox="1"/>
          <p:nvPr/>
        </p:nvSpPr>
        <p:spPr>
          <a:xfrm>
            <a:off x="4572000" y="1645920"/>
            <a:ext cx="2926080" cy="457200"/>
          </a:xfrm>
          <a:prstGeom prst="rect">
            <a:avLst/>
          </a:prstGeom>
          <a:noFill/>
          <a:ln/>
        </p:spPr>
        <p:txBody>
          <a:bodyPr wrap="square" lIns="0" tIns="0" rIns="0" bIns="0" rtlCol="0" anchor="t"/>
          <a:lstStyle/>
          <a:p>
            <a:pPr indent="0" marL="0">
              <a:buNone/>
            </a:pPr>
            <a:r>
              <a:rPr lang="en-US" sz="2000" b="1" dirty="0">
                <a:solidFill>
                  <a:srgbClr val="2B2B2B"/>
                </a:solidFill>
                <a:latin typeface="Arial" pitchFamily="34" charset="0"/>
                <a:ea typeface="Arial" pitchFamily="34" charset="-122"/>
                <a:cs typeface="Arial" pitchFamily="34" charset="-120"/>
              </a:rPr>
              <a:t>Proveedores TIC</a:t>
            </a:r>
            <a:endParaRPr lang="en-US" sz="2000" dirty="0"/>
          </a:p>
        </p:txBody>
      </p:sp>
      <p:sp>
        <p:nvSpPr>
          <p:cNvPr id="9" name="Text 7"/>
          <p:cNvSpPr txBox="1"/>
          <p:nvPr/>
        </p:nvSpPr>
        <p:spPr>
          <a:xfrm>
            <a:off x="4572000" y="2286000"/>
            <a:ext cx="2971800" cy="25603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Operadora: una sola línea</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Banco: datáfono por wifi</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TPV de 2016 sin mantenimiento</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Plataformas: pedidos fuera del TPV</a:t>
            </a:r>
            <a:endParaRPr lang="en-US" sz="1600" dirty="0"/>
          </a:p>
        </p:txBody>
      </p:sp>
      <p:sp>
        <p:nvSpPr>
          <p:cNvPr id="10" name="Shape 8"/>
          <p:cNvSpPr/>
          <p:nvPr/>
        </p:nvSpPr>
        <p:spPr>
          <a:xfrm>
            <a:off x="8046720" y="1417320"/>
            <a:ext cx="3474720" cy="3566160"/>
          </a:xfrm>
          <a:prstGeom prst="roundRect">
            <a:avLst>
              <a:gd name="adj" fmla="val 3158"/>
            </a:avLst>
          </a:prstGeom>
          <a:solidFill>
            <a:srgbClr val="FDEBD9"/>
          </a:solidFill>
          <a:ln w="12700">
            <a:solidFill>
              <a:srgbClr val="FDEBD9"/>
            </a:solidFill>
            <a:prstDash val="solid"/>
          </a:ln>
        </p:spPr>
      </p:sp>
      <p:sp>
        <p:nvSpPr>
          <p:cNvPr id="11" name="Text 9"/>
          <p:cNvSpPr txBox="1"/>
          <p:nvPr/>
        </p:nvSpPr>
        <p:spPr>
          <a:xfrm>
            <a:off x="8321040" y="1645920"/>
            <a:ext cx="2926080" cy="457200"/>
          </a:xfrm>
          <a:prstGeom prst="rect">
            <a:avLst/>
          </a:prstGeom>
          <a:noFill/>
          <a:ln/>
        </p:spPr>
        <p:txBody>
          <a:bodyPr wrap="square" lIns="0" tIns="0" rIns="0" bIns="0" rtlCol="0" anchor="t"/>
          <a:lstStyle/>
          <a:p>
            <a:pPr indent="0" marL="0">
              <a:buNone/>
            </a:pPr>
            <a:r>
              <a:rPr lang="en-US" sz="2000" b="1" dirty="0">
                <a:solidFill>
                  <a:srgbClr val="2B2B2B"/>
                </a:solidFill>
                <a:latin typeface="Arial" pitchFamily="34" charset="0"/>
                <a:ea typeface="Arial" pitchFamily="34" charset="-122"/>
                <a:cs typeface="Arial" pitchFamily="34" charset="-120"/>
              </a:rPr>
              <a:t>Competencia</a:t>
            </a:r>
            <a:endParaRPr lang="en-US" sz="2000" dirty="0"/>
          </a:p>
        </p:txBody>
      </p:sp>
      <p:sp>
        <p:nvSpPr>
          <p:cNvPr id="12" name="Text 10"/>
          <p:cNvSpPr txBox="1"/>
          <p:nvPr/>
        </p:nvSpPr>
        <p:spPr>
          <a:xfrm>
            <a:off x="8321040" y="2286000"/>
            <a:ext cx="2971800" cy="25603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Cadenas con la comanda en pantalla</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TPV de mercado: cobran por terminal</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Cada pantalla de cocina es otra cuota</a:t>
            </a:r>
            <a:endParaRPr lang="en-US" sz="1600" dirty="0"/>
          </a:p>
          <a:p>
            <a:pPr marL="342900" indent="-342900">
              <a:spcAft>
                <a:spcPts val="1200"/>
              </a:spcAft>
              <a:buSzPct val="100000"/>
              <a:buChar char="•"/>
            </a:pPr>
            <a:r>
              <a:rPr lang="en-US" sz="1600" dirty="0">
                <a:solidFill>
                  <a:srgbClr val="2B2B2B"/>
                </a:solidFill>
                <a:latin typeface="Arial" pitchFamily="34" charset="0"/>
                <a:ea typeface="Arial" pitchFamily="34" charset="-122"/>
                <a:cs typeface="Arial" pitchFamily="34" charset="-120"/>
              </a:rPr>
              <a:t>Hueco: pantallas sin licencia</a:t>
            </a:r>
            <a:endParaRPr lang="en-US" sz="1600" dirty="0"/>
          </a:p>
        </p:txBody>
      </p:sp>
      <p:sp>
        <p:nvSpPr>
          <p:cNvPr id="13" name="Text 11"/>
          <p:cNvSpPr txBox="1"/>
          <p:nvPr/>
        </p:nvSpPr>
        <p:spPr>
          <a:xfrm>
            <a:off x="548640" y="5257800"/>
            <a:ext cx="91440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Competencia tecnológica: estudio de mercado del proyecto (Riches Manuel y Roca,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Necesidades, por orden de urgencia</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12</a:t>
            </a:r>
            <a:endParaRPr lang="en-US" sz="1100" dirty="0"/>
          </a:p>
        </p:txBody>
      </p:sp>
      <p:sp>
        <p:nvSpPr>
          <p:cNvPr id="4" name="Shape 2"/>
          <p:cNvSpPr/>
          <p:nvPr/>
        </p:nvSpPr>
        <p:spPr>
          <a:xfrm>
            <a:off x="548640" y="1463040"/>
            <a:ext cx="640080" cy="640080"/>
          </a:xfrm>
          <a:prstGeom prst="ellipse">
            <a:avLst/>
          </a:prstGeom>
          <a:solidFill>
            <a:srgbClr val="E67E22"/>
          </a:solidFill>
          <a:ln w="12700">
            <a:solidFill>
              <a:srgbClr val="E67E22"/>
            </a:solidFill>
            <a:prstDash val="solid"/>
          </a:ln>
        </p:spPr>
      </p:sp>
      <p:sp>
        <p:nvSpPr>
          <p:cNvPr id="5" name="Text 3"/>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417320" y="146304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Separar la red: negocio, cocina, cámaras e invitados</a:t>
            </a:r>
            <a:endParaRPr lang="en-US" sz="1700" dirty="0"/>
          </a:p>
        </p:txBody>
      </p:sp>
      <p:sp>
        <p:nvSpPr>
          <p:cNvPr id="7" name="Shape 5"/>
          <p:cNvSpPr/>
          <p:nvPr/>
        </p:nvSpPr>
        <p:spPr>
          <a:xfrm>
            <a:off x="548640" y="2514600"/>
            <a:ext cx="640080" cy="640080"/>
          </a:xfrm>
          <a:prstGeom prst="ellipse">
            <a:avLst/>
          </a:prstGeom>
          <a:solidFill>
            <a:srgbClr val="E67E22"/>
          </a:solidFill>
          <a:ln w="12700">
            <a:solidFill>
              <a:srgbClr val="E67E22"/>
            </a:solidFill>
            <a:prstDash val="solid"/>
          </a:ln>
        </p:spPr>
      </p:sp>
      <p:sp>
        <p:nvSpPr>
          <p:cNvPr id="8" name="Text 6"/>
          <p:cNvSpPr txBox="1"/>
          <p:nvPr/>
        </p:nvSpPr>
        <p:spPr>
          <a:xfrm>
            <a:off x="548640" y="2514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417320" y="251460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Copias automáticas verificadas y un SAI</a:t>
            </a:r>
            <a:endParaRPr lang="en-US" sz="1700" dirty="0"/>
          </a:p>
        </p:txBody>
      </p:sp>
      <p:sp>
        <p:nvSpPr>
          <p:cNvPr id="10" name="Shape 8"/>
          <p:cNvSpPr/>
          <p:nvPr/>
        </p:nvSpPr>
        <p:spPr>
          <a:xfrm>
            <a:off x="548640" y="3566160"/>
            <a:ext cx="640080" cy="640080"/>
          </a:xfrm>
          <a:prstGeom prst="ellipse">
            <a:avLst/>
          </a:prstGeom>
          <a:solidFill>
            <a:srgbClr val="E67E22"/>
          </a:solidFill>
          <a:ln w="12700">
            <a:solidFill>
              <a:srgbClr val="E67E22"/>
            </a:solidFill>
            <a:prstDash val="solid"/>
          </a:ln>
        </p:spPr>
      </p:sp>
      <p:sp>
        <p:nvSpPr>
          <p:cNvPr id="11" name="Text 9"/>
          <p:cNvSpPr txBox="1"/>
          <p:nvPr/>
        </p:nvSpPr>
        <p:spPr>
          <a:xfrm>
            <a:off x="54864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2" name="Text 10"/>
          <p:cNvSpPr txBox="1"/>
          <p:nvPr/>
        </p:nvSpPr>
        <p:spPr>
          <a:xfrm>
            <a:off x="1417320" y="356616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Caja con soporte y adaptable a Verifactu</a:t>
            </a:r>
            <a:endParaRPr lang="en-US" sz="1700" dirty="0"/>
          </a:p>
        </p:txBody>
      </p:sp>
      <p:sp>
        <p:nvSpPr>
          <p:cNvPr id="13" name="Shape 11"/>
          <p:cNvSpPr/>
          <p:nvPr/>
        </p:nvSpPr>
        <p:spPr>
          <a:xfrm>
            <a:off x="548640" y="4617720"/>
            <a:ext cx="640080" cy="640080"/>
          </a:xfrm>
          <a:prstGeom prst="ellipse">
            <a:avLst/>
          </a:prstGeom>
          <a:solidFill>
            <a:srgbClr val="33383D"/>
          </a:solidFill>
          <a:ln w="12700">
            <a:solidFill>
              <a:srgbClr val="33383D"/>
            </a:solidFill>
            <a:prstDash val="solid"/>
          </a:ln>
        </p:spPr>
      </p:sp>
      <p:sp>
        <p:nvSpPr>
          <p:cNvPr id="14" name="Text 12"/>
          <p:cNvSpPr txBox="1"/>
          <p:nvPr/>
        </p:nvSpPr>
        <p:spPr>
          <a:xfrm>
            <a:off x="548640" y="4617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5" name="Text 13"/>
          <p:cNvSpPr txBox="1"/>
          <p:nvPr/>
        </p:nvSpPr>
        <p:spPr>
          <a:xfrm>
            <a:off x="1417320" y="461772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Comanda en pantalla de cocina con tiempos</a:t>
            </a:r>
            <a:endParaRPr lang="en-US" sz="1700" dirty="0"/>
          </a:p>
        </p:txBody>
      </p:sp>
      <p:sp>
        <p:nvSpPr>
          <p:cNvPr id="16" name="Shape 14"/>
          <p:cNvSpPr/>
          <p:nvPr/>
        </p:nvSpPr>
        <p:spPr>
          <a:xfrm>
            <a:off x="6217920" y="1463040"/>
            <a:ext cx="640080" cy="640080"/>
          </a:xfrm>
          <a:prstGeom prst="ellipse">
            <a:avLst/>
          </a:prstGeom>
          <a:solidFill>
            <a:srgbClr val="33383D"/>
          </a:solidFill>
          <a:ln w="12700">
            <a:solidFill>
              <a:srgbClr val="33383D"/>
            </a:solidFill>
            <a:prstDash val="solid"/>
          </a:ln>
        </p:spPr>
      </p:sp>
      <p:sp>
        <p:nvSpPr>
          <p:cNvPr id="17" name="Text 15"/>
          <p:cNvSpPr txBox="1"/>
          <p:nvPr/>
        </p:nvSpPr>
        <p:spPr>
          <a:xfrm>
            <a:off x="621792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8" name="Text 16"/>
          <p:cNvSpPr txBox="1"/>
          <p:nvPr/>
        </p:nvSpPr>
        <p:spPr>
          <a:xfrm>
            <a:off x="7086600" y="146304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Cuentas individuales y datos fuera de lo personal</a:t>
            </a:r>
            <a:endParaRPr lang="en-US" sz="1700" dirty="0"/>
          </a:p>
        </p:txBody>
      </p:sp>
      <p:sp>
        <p:nvSpPr>
          <p:cNvPr id="19" name="Shape 17"/>
          <p:cNvSpPr/>
          <p:nvPr/>
        </p:nvSpPr>
        <p:spPr>
          <a:xfrm>
            <a:off x="6217920" y="2514600"/>
            <a:ext cx="640080" cy="640080"/>
          </a:xfrm>
          <a:prstGeom prst="ellipse">
            <a:avLst/>
          </a:prstGeom>
          <a:solidFill>
            <a:srgbClr val="33383D"/>
          </a:solidFill>
          <a:ln w="12700">
            <a:solidFill>
              <a:srgbClr val="33383D"/>
            </a:solidFill>
            <a:prstDash val="solid"/>
          </a:ln>
        </p:spPr>
      </p:sp>
      <p:sp>
        <p:nvSpPr>
          <p:cNvPr id="20" name="Text 18"/>
          <p:cNvSpPr txBox="1"/>
          <p:nvPr/>
        </p:nvSpPr>
        <p:spPr>
          <a:xfrm>
            <a:off x="6217920" y="2514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1" name="Text 19"/>
          <p:cNvSpPr txBox="1"/>
          <p:nvPr/>
        </p:nvSpPr>
        <p:spPr>
          <a:xfrm>
            <a:off x="7086600" y="251460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Wifi profesional en sala, terraza y cocina</a:t>
            </a:r>
            <a:endParaRPr lang="en-US" sz="1700" dirty="0"/>
          </a:p>
        </p:txBody>
      </p:sp>
      <p:sp>
        <p:nvSpPr>
          <p:cNvPr id="22" name="Shape 20"/>
          <p:cNvSpPr/>
          <p:nvPr/>
        </p:nvSpPr>
        <p:spPr>
          <a:xfrm>
            <a:off x="6217920" y="3566160"/>
            <a:ext cx="640080" cy="640080"/>
          </a:xfrm>
          <a:prstGeom prst="ellipse">
            <a:avLst/>
          </a:prstGeom>
          <a:solidFill>
            <a:srgbClr val="33383D"/>
          </a:solidFill>
          <a:ln w="12700">
            <a:solidFill>
              <a:srgbClr val="33383D"/>
            </a:solidFill>
            <a:prstDash val="solid"/>
          </a:ln>
        </p:spPr>
      </p:sp>
      <p:sp>
        <p:nvSpPr>
          <p:cNvPr id="23" name="Text 21"/>
          <p:cNvSpPr txBox="1"/>
          <p:nvPr/>
        </p:nvSpPr>
        <p:spPr>
          <a:xfrm>
            <a:off x="621792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24" name="Text 22"/>
          <p:cNvSpPr txBox="1"/>
          <p:nvPr/>
        </p:nvSpPr>
        <p:spPr>
          <a:xfrm>
            <a:off x="7086600" y="3566160"/>
            <a:ext cx="4572000" cy="640080"/>
          </a:xfrm>
          <a:prstGeom prst="rect">
            <a:avLst/>
          </a:prstGeom>
          <a:noFill/>
          <a:ln/>
        </p:spPr>
        <p:txBody>
          <a:bodyPr wrap="square" lIns="0" tIns="0" rIns="0" bIns="0" rtlCol="0" anchor="ctr"/>
          <a:lstStyle/>
          <a:p>
            <a:pPr indent="0" marL="0">
              <a:buNone/>
            </a:pPr>
            <a:r>
              <a:rPr lang="en-US" sz="1700" dirty="0">
                <a:solidFill>
                  <a:srgbClr val="2B2B2B"/>
                </a:solidFill>
                <a:latin typeface="Arial" pitchFamily="34" charset="0"/>
                <a:ea typeface="Arial" pitchFamily="34" charset="-122"/>
                <a:cs typeface="Arial" pitchFamily="34" charset="-120"/>
              </a:rPr>
              <a:t>Videovigilancia conforme al RGPD</a:t>
            </a:r>
            <a:endParaRPr lang="en-US" sz="1700" dirty="0"/>
          </a:p>
        </p:txBody>
      </p:sp>
      <p:sp>
        <p:nvSpPr>
          <p:cNvPr id="25" name="Shape 23"/>
          <p:cNvSpPr/>
          <p:nvPr/>
        </p:nvSpPr>
        <p:spPr>
          <a:xfrm>
            <a:off x="6217920" y="4617720"/>
            <a:ext cx="5394960" cy="1280160"/>
          </a:xfrm>
          <a:prstGeom prst="roundRect">
            <a:avLst>
              <a:gd name="adj" fmla="val 8571"/>
            </a:avLst>
          </a:prstGeom>
          <a:solidFill>
            <a:srgbClr val="FDEBD9"/>
          </a:solidFill>
          <a:ln w="12700">
            <a:solidFill>
              <a:srgbClr val="FDEBD9"/>
            </a:solidFill>
            <a:prstDash val="solid"/>
          </a:ln>
        </p:spPr>
      </p:sp>
      <p:sp>
        <p:nvSpPr>
          <p:cNvPr id="26" name="Text 24"/>
          <p:cNvSpPr txBox="1"/>
          <p:nvPr/>
        </p:nvSpPr>
        <p:spPr>
          <a:xfrm>
            <a:off x="6446520" y="4709160"/>
            <a:ext cx="4937760" cy="1097280"/>
          </a:xfrm>
          <a:prstGeom prst="rect">
            <a:avLst/>
          </a:prstGeom>
          <a:noFill/>
          <a:ln/>
        </p:spPr>
        <p:txBody>
          <a:bodyPr wrap="square" lIns="0" tIns="0" rIns="0" bIns="0" rtlCol="0" anchor="ctr"/>
          <a:lstStyle/>
          <a:p>
            <a:pPr indent="0" marL="0">
              <a:buNone/>
            </a:pPr>
            <a:r>
              <a:rPr lang="en-US" sz="1500" dirty="0">
                <a:solidFill>
                  <a:srgbClr val="2B2B2B"/>
                </a:solidFill>
                <a:latin typeface="Arial" pitchFamily="34" charset="0"/>
                <a:ea typeface="Arial" pitchFamily="34" charset="-122"/>
                <a:cs typeface="Arial" pitchFamily="34" charset="-120"/>
              </a:rPr>
              <a:t>Proyecto de implantación: red segmentada, servidor local con el KDS+TPV, puestos de sala y cocina, copias y supervisión.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B2B2B"/>
                </a:solidFill>
                <a:latin typeface="Arial" pitchFamily="34" charset="0"/>
                <a:ea typeface="Arial" pitchFamily="34" charset="-122"/>
                <a:cs typeface="Arial" pitchFamily="34" charset="-120"/>
              </a:rPr>
              <a:t>Lo que el proyecto tendrá que cumplir</a:t>
            </a:r>
            <a:endParaRPr lang="en-US" sz="3200" dirty="0"/>
          </a:p>
        </p:txBody>
      </p:sp>
      <p:sp>
        <p:nvSpPr>
          <p:cNvPr id="3" name="Text 1"/>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6B6B6B"/>
                </a:solidFill>
                <a:latin typeface="Arial" pitchFamily="34" charset="0"/>
                <a:ea typeface="Arial" pitchFamily="34" charset="-122"/>
                <a:cs typeface="Arial" pitchFamily="34" charset="-120"/>
              </a:rPr>
              <a:t>13</a:t>
            </a:r>
            <a:endParaRPr lang="en-US" sz="1100" dirty="0"/>
          </a:p>
        </p:txBody>
      </p:sp>
      <p:sp>
        <p:nvSpPr>
          <p:cNvPr id="4" name="Shape 2"/>
          <p:cNvSpPr/>
          <p:nvPr/>
        </p:nvSpPr>
        <p:spPr>
          <a:xfrm>
            <a:off x="548640" y="1417320"/>
            <a:ext cx="2194560" cy="1600200"/>
          </a:xfrm>
          <a:prstGeom prst="roundRect">
            <a:avLst>
              <a:gd name="adj" fmla="val 6857"/>
            </a:avLst>
          </a:prstGeom>
          <a:solidFill>
            <a:srgbClr val="F4F4F4"/>
          </a:solidFill>
          <a:ln w="12700">
            <a:solidFill>
              <a:srgbClr val="F4F4F4"/>
            </a:solidFill>
            <a:prstDash val="solid"/>
          </a:ln>
        </p:spPr>
      </p:sp>
      <p:sp>
        <p:nvSpPr>
          <p:cNvPr id="5" name="Text 3"/>
          <p:cNvSpPr txBox="1"/>
          <p:nvPr/>
        </p:nvSpPr>
        <p:spPr>
          <a:xfrm>
            <a:off x="731520" y="16002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Sin internet</a:t>
            </a:r>
            <a:endParaRPr lang="en-US" sz="2400" dirty="0"/>
          </a:p>
        </p:txBody>
      </p:sp>
      <p:sp>
        <p:nvSpPr>
          <p:cNvPr id="6" name="Text 4"/>
          <p:cNvSpPr txBox="1"/>
          <p:nvPr/>
        </p:nvSpPr>
        <p:spPr>
          <a:xfrm>
            <a:off x="731520" y="22402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se sigue tomando nota y cobrando</a:t>
            </a:r>
            <a:endParaRPr lang="en-US" sz="1300" dirty="0"/>
          </a:p>
        </p:txBody>
      </p:sp>
      <p:sp>
        <p:nvSpPr>
          <p:cNvPr id="7" name="Shape 5"/>
          <p:cNvSpPr/>
          <p:nvPr/>
        </p:nvSpPr>
        <p:spPr>
          <a:xfrm>
            <a:off x="2926080" y="1417320"/>
            <a:ext cx="2194560" cy="1600200"/>
          </a:xfrm>
          <a:prstGeom prst="roundRect">
            <a:avLst>
              <a:gd name="adj" fmla="val 6857"/>
            </a:avLst>
          </a:prstGeom>
          <a:solidFill>
            <a:srgbClr val="F4F4F4"/>
          </a:solidFill>
          <a:ln w="12700">
            <a:solidFill>
              <a:srgbClr val="F4F4F4"/>
            </a:solidFill>
            <a:prstDash val="solid"/>
          </a:ln>
        </p:spPr>
      </p:sp>
      <p:sp>
        <p:nvSpPr>
          <p:cNvPr id="8" name="Text 6"/>
          <p:cNvSpPr txBox="1"/>
          <p:nvPr/>
        </p:nvSpPr>
        <p:spPr>
          <a:xfrm>
            <a:off x="3108960" y="16002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4 redes</a:t>
            </a:r>
            <a:endParaRPr lang="en-US" sz="2400" dirty="0"/>
          </a:p>
        </p:txBody>
      </p:sp>
      <p:sp>
        <p:nvSpPr>
          <p:cNvPr id="9" name="Text 7"/>
          <p:cNvSpPr txBox="1"/>
          <p:nvPr/>
        </p:nvSpPr>
        <p:spPr>
          <a:xfrm>
            <a:off x="3108960" y="22402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desde invitados no se ve el negocio</a:t>
            </a:r>
            <a:endParaRPr lang="en-US" sz="1300" dirty="0"/>
          </a:p>
        </p:txBody>
      </p:sp>
      <p:sp>
        <p:nvSpPr>
          <p:cNvPr id="10" name="Shape 8"/>
          <p:cNvSpPr/>
          <p:nvPr/>
        </p:nvSpPr>
        <p:spPr>
          <a:xfrm>
            <a:off x="5303520" y="1417320"/>
            <a:ext cx="2194560" cy="1600200"/>
          </a:xfrm>
          <a:prstGeom prst="roundRect">
            <a:avLst>
              <a:gd name="adj" fmla="val 6857"/>
            </a:avLst>
          </a:prstGeom>
          <a:solidFill>
            <a:srgbClr val="F4F4F4"/>
          </a:solidFill>
          <a:ln w="12700">
            <a:solidFill>
              <a:srgbClr val="F4F4F4"/>
            </a:solidFill>
            <a:prstDash val="solid"/>
          </a:ln>
        </p:spPr>
      </p:sp>
      <p:sp>
        <p:nvSpPr>
          <p:cNvPr id="11" name="Text 9"/>
          <p:cNvSpPr txBox="1"/>
          <p:nvPr/>
        </p:nvSpPr>
        <p:spPr>
          <a:xfrm>
            <a:off x="5486400" y="16002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HTTPS</a:t>
            </a:r>
            <a:endParaRPr lang="en-US" sz="2400" dirty="0"/>
          </a:p>
        </p:txBody>
      </p:sp>
      <p:sp>
        <p:nvSpPr>
          <p:cNvPr id="12" name="Text 10"/>
          <p:cNvSpPr txBox="1"/>
          <p:nvPr/>
        </p:nvSpPr>
        <p:spPr>
          <a:xfrm>
            <a:off x="5486400" y="22402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en todo el tráfico</a:t>
            </a:r>
            <a:endParaRPr lang="en-US" sz="1300" dirty="0"/>
          </a:p>
        </p:txBody>
      </p:sp>
      <p:sp>
        <p:nvSpPr>
          <p:cNvPr id="13" name="Shape 11"/>
          <p:cNvSpPr/>
          <p:nvPr/>
        </p:nvSpPr>
        <p:spPr>
          <a:xfrm>
            <a:off x="548640" y="3246120"/>
            <a:ext cx="2194560" cy="1600200"/>
          </a:xfrm>
          <a:prstGeom prst="roundRect">
            <a:avLst>
              <a:gd name="adj" fmla="val 6857"/>
            </a:avLst>
          </a:prstGeom>
          <a:solidFill>
            <a:srgbClr val="F4F4F4"/>
          </a:solidFill>
          <a:ln w="12700">
            <a:solidFill>
              <a:srgbClr val="F4F4F4"/>
            </a:solidFill>
            <a:prstDash val="solid"/>
          </a:ln>
        </p:spPr>
      </p:sp>
      <p:sp>
        <p:nvSpPr>
          <p:cNvPr id="14" name="Text 12"/>
          <p:cNvSpPr txBox="1"/>
          <p:nvPr/>
        </p:nvSpPr>
        <p:spPr>
          <a:xfrm>
            <a:off x="731520" y="34290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&lt; 1 hora</a:t>
            </a:r>
            <a:endParaRPr lang="en-US" sz="2400" dirty="0"/>
          </a:p>
        </p:txBody>
      </p:sp>
      <p:sp>
        <p:nvSpPr>
          <p:cNvPr id="15" name="Text 13"/>
          <p:cNvSpPr txBox="1"/>
          <p:nvPr/>
        </p:nvSpPr>
        <p:spPr>
          <a:xfrm>
            <a:off x="731520" y="40690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para restaurar todo el sistema</a:t>
            </a:r>
            <a:endParaRPr lang="en-US" sz="1300" dirty="0"/>
          </a:p>
        </p:txBody>
      </p:sp>
      <p:sp>
        <p:nvSpPr>
          <p:cNvPr id="16" name="Shape 14"/>
          <p:cNvSpPr/>
          <p:nvPr/>
        </p:nvSpPr>
        <p:spPr>
          <a:xfrm>
            <a:off x="2926080" y="3246120"/>
            <a:ext cx="2194560" cy="1600200"/>
          </a:xfrm>
          <a:prstGeom prst="roundRect">
            <a:avLst>
              <a:gd name="adj" fmla="val 6857"/>
            </a:avLst>
          </a:prstGeom>
          <a:solidFill>
            <a:srgbClr val="F4F4F4"/>
          </a:solidFill>
          <a:ln w="12700">
            <a:solidFill>
              <a:srgbClr val="F4F4F4"/>
            </a:solidFill>
            <a:prstDash val="solid"/>
          </a:ln>
        </p:spPr>
      </p:sp>
      <p:sp>
        <p:nvSpPr>
          <p:cNvPr id="17" name="Text 15"/>
          <p:cNvSpPr txBox="1"/>
          <p:nvPr/>
        </p:nvSpPr>
        <p:spPr>
          <a:xfrm>
            <a:off x="3108960" y="34290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1 PIN</a:t>
            </a:r>
            <a:endParaRPr lang="en-US" sz="2400" dirty="0"/>
          </a:p>
        </p:txBody>
      </p:sp>
      <p:sp>
        <p:nvSpPr>
          <p:cNvPr id="18" name="Text 16"/>
          <p:cNvSpPr txBox="1"/>
          <p:nvPr/>
        </p:nvSpPr>
        <p:spPr>
          <a:xfrm>
            <a:off x="3108960" y="40690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por persona: cada cobro tiene autor</a:t>
            </a:r>
            <a:endParaRPr lang="en-US" sz="1300" dirty="0"/>
          </a:p>
        </p:txBody>
      </p:sp>
      <p:sp>
        <p:nvSpPr>
          <p:cNvPr id="19" name="Shape 17"/>
          <p:cNvSpPr/>
          <p:nvPr/>
        </p:nvSpPr>
        <p:spPr>
          <a:xfrm>
            <a:off x="5303520" y="3246120"/>
            <a:ext cx="2194560" cy="1600200"/>
          </a:xfrm>
          <a:prstGeom prst="roundRect">
            <a:avLst>
              <a:gd name="adj" fmla="val 6857"/>
            </a:avLst>
          </a:prstGeom>
          <a:solidFill>
            <a:srgbClr val="F4F4F4"/>
          </a:solidFill>
          <a:ln w="12700">
            <a:solidFill>
              <a:srgbClr val="F4F4F4"/>
            </a:solidFill>
            <a:prstDash val="solid"/>
          </a:ln>
        </p:spPr>
      </p:sp>
      <p:sp>
        <p:nvSpPr>
          <p:cNvPr id="20" name="Text 18"/>
          <p:cNvSpPr txBox="1"/>
          <p:nvPr/>
        </p:nvSpPr>
        <p:spPr>
          <a:xfrm>
            <a:off x="5486400" y="3429000"/>
            <a:ext cx="1828800" cy="640080"/>
          </a:xfrm>
          <a:prstGeom prst="rect">
            <a:avLst/>
          </a:prstGeom>
          <a:noFill/>
          <a:ln/>
        </p:spPr>
        <p:txBody>
          <a:bodyPr wrap="square" lIns="0" tIns="0" rIns="0" bIns="0" rtlCol="0" anchor="t"/>
          <a:lstStyle/>
          <a:p>
            <a:pPr indent="0" marL="0">
              <a:buNone/>
            </a:pPr>
            <a:r>
              <a:rPr lang="en-US" sz="2400" b="1" dirty="0">
                <a:solidFill>
                  <a:srgbClr val="E67E22"/>
                </a:solidFill>
                <a:latin typeface="Arial" pitchFamily="34" charset="0"/>
                <a:ea typeface="Arial" pitchFamily="34" charset="-122"/>
                <a:cs typeface="Arial" pitchFamily="34" charset="-120"/>
              </a:rPr>
              <a:t>0 €</a:t>
            </a:r>
            <a:endParaRPr lang="en-US" sz="2400" dirty="0"/>
          </a:p>
        </p:txBody>
      </p:sp>
      <p:sp>
        <p:nvSpPr>
          <p:cNvPr id="21" name="Text 19"/>
          <p:cNvSpPr txBox="1"/>
          <p:nvPr/>
        </p:nvSpPr>
        <p:spPr>
          <a:xfrm>
            <a:off x="5486400" y="4069080"/>
            <a:ext cx="1828800" cy="685800"/>
          </a:xfrm>
          <a:prstGeom prst="rect">
            <a:avLst/>
          </a:prstGeom>
          <a:noFill/>
          <a:ln/>
        </p:spPr>
        <p:txBody>
          <a:bodyPr wrap="square" lIns="0" tIns="0" rIns="0" bIns="0" rtlCol="0" anchor="t"/>
          <a:lstStyle/>
          <a:p>
            <a:pPr indent="0" marL="0">
              <a:buNone/>
            </a:pPr>
            <a:r>
              <a:rPr lang="en-US" sz="1300" dirty="0">
                <a:solidFill>
                  <a:srgbClr val="2B2B2B"/>
                </a:solidFill>
                <a:latin typeface="Arial" pitchFamily="34" charset="0"/>
                <a:ea typeface="Arial" pitchFamily="34" charset="-122"/>
                <a:cs typeface="Arial" pitchFamily="34" charset="-120"/>
              </a:rPr>
              <a:t>por terminal o por pantalla</a:t>
            </a:r>
            <a:endParaRPr lang="en-US" sz="1300" dirty="0"/>
          </a:p>
        </p:txBody>
      </p:sp>
      <p:sp>
        <p:nvSpPr>
          <p:cNvPr id="22" name="Shape 20"/>
          <p:cNvSpPr/>
          <p:nvPr/>
        </p:nvSpPr>
        <p:spPr>
          <a:xfrm>
            <a:off x="7863840" y="1417320"/>
            <a:ext cx="3749040" cy="3429000"/>
          </a:xfrm>
          <a:prstGeom prst="roundRect">
            <a:avLst>
              <a:gd name="adj" fmla="val 3200"/>
            </a:avLst>
          </a:prstGeom>
          <a:solidFill>
            <a:srgbClr val="23272B"/>
          </a:solidFill>
          <a:ln w="12700">
            <a:solidFill>
              <a:srgbClr val="23272B"/>
            </a:solidFill>
            <a:prstDash val="solid"/>
          </a:ln>
        </p:spPr>
      </p:sp>
      <p:sp>
        <p:nvSpPr>
          <p:cNvPr id="23" name="Text 21"/>
          <p:cNvSpPr txBox="1"/>
          <p:nvPr/>
        </p:nvSpPr>
        <p:spPr>
          <a:xfrm>
            <a:off x="8092440" y="1600200"/>
            <a:ext cx="3291840" cy="4572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Fechas que obligan</a:t>
            </a:r>
            <a:endParaRPr lang="en-US" sz="1800" dirty="0"/>
          </a:p>
        </p:txBody>
      </p:sp>
      <p:sp>
        <p:nvSpPr>
          <p:cNvPr id="24" name="Text 22"/>
          <p:cNvSpPr txBox="1"/>
          <p:nvPr/>
        </p:nvSpPr>
        <p:spPr>
          <a:xfrm>
            <a:off x="8092440" y="2148840"/>
            <a:ext cx="3291840" cy="2377440"/>
          </a:xfrm>
          <a:prstGeom prst="rect">
            <a:avLst/>
          </a:prstGeom>
          <a:noFill/>
          <a:ln/>
        </p:spPr>
        <p:txBody>
          <a:bodyPr wrap="square" lIns="0" tIns="0" rIns="0" bIns="0" rtlCol="0" anchor="t"/>
          <a:lstStyle/>
          <a:p>
            <a:pPr indent="0" marL="0">
              <a:buNone/>
            </a:pPr>
            <a:r>
              <a:rPr lang="en-US" sz="1800" b="1" dirty="0">
                <a:solidFill>
                  <a:srgbClr val="E67E22"/>
                </a:solidFill>
                <a:latin typeface="Arial" pitchFamily="34" charset="0"/>
                <a:ea typeface="Arial" pitchFamily="34" charset="-122"/>
                <a:cs typeface="Arial" pitchFamily="34" charset="-120"/>
              </a:rPr>
              <a:t>1/1/2027</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Verifactu para sociedades</a:t>
            </a:r>
            <a:endParaRPr lang="en-US" sz="1800" dirty="0"/>
          </a:p>
          <a:p>
            <a:pPr indent="0" marL="0">
              <a:buNone/>
            </a:pPr>
            <a:r>
              <a:rPr lang="en-US" sz="800" dirty="0">
                <a:solidFill>
                  <a:srgbClr val="2B2B2B"/>
                </a:solidFill>
                <a:latin typeface="Arial" pitchFamily="34" charset="0"/>
                <a:ea typeface="Arial" pitchFamily="34" charset="-122"/>
                <a:cs typeface="Arial" pitchFamily="34" charset="-120"/>
              </a:rPr>
              <a:t> </a:t>
            </a:r>
            <a:endParaRPr lang="en-US" sz="1800" dirty="0"/>
          </a:p>
          <a:p>
            <a:pPr indent="0" marL="0">
              <a:buNone/>
            </a:pPr>
            <a:r>
              <a:rPr lang="en-US" sz="1800" b="1" dirty="0">
                <a:solidFill>
                  <a:srgbClr val="E67E22"/>
                </a:solidFill>
                <a:latin typeface="Arial" pitchFamily="34" charset="0"/>
                <a:ea typeface="Arial" pitchFamily="34" charset="-122"/>
                <a:cs typeface="Arial" pitchFamily="34" charset="-120"/>
              </a:rPr>
              <a:t>1/7/2027</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Verifactu para el resto</a:t>
            </a:r>
            <a:endParaRPr lang="en-US" sz="1800" dirty="0"/>
          </a:p>
        </p:txBody>
      </p:sp>
      <p:sp>
        <p:nvSpPr>
          <p:cNvPr id="25" name="Text 23"/>
          <p:cNvSpPr txBox="1"/>
          <p:nvPr/>
        </p:nvSpPr>
        <p:spPr>
          <a:xfrm>
            <a:off x="548640" y="5212080"/>
            <a:ext cx="11064240" cy="822960"/>
          </a:xfrm>
          <a:prstGeom prst="rect">
            <a:avLst/>
          </a:prstGeom>
          <a:noFill/>
          <a:ln/>
        </p:spPr>
        <p:txBody>
          <a:bodyPr wrap="square" lIns="0" tIns="0" rIns="0" bIns="0" rtlCol="0" anchor="t"/>
          <a:lstStyle/>
          <a:p>
            <a:pPr indent="0" marL="0">
              <a:buNone/>
            </a:pPr>
            <a:r>
              <a:rPr lang="en-US" sz="1400" dirty="0">
                <a:solidFill>
                  <a:srgbClr val="2B2B2B"/>
                </a:solidFill>
                <a:latin typeface="Arial" pitchFamily="34" charset="0"/>
                <a:ea typeface="Arial" pitchFamily="34" charset="-122"/>
                <a:cs typeface="Arial" pitchFamily="34" charset="-120"/>
              </a:rPr>
              <a:t>Obligaciones: IVA del 10 % y facturación, registro de jornada, prevención de riesgos con pantallas y RGPD. Ayudas: Kit Digital (Red.es) y líneas del IVACE+i, según convocatoria abierta; el presupuesto se hará sin contar con ellas.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72B"/>
        </a:solidFill>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AAAAAA"/>
                </a:solidFill>
                <a:latin typeface="Arial" pitchFamily="34" charset="0"/>
                <a:ea typeface="Arial" pitchFamily="34" charset="-122"/>
                <a:cs typeface="Arial" pitchFamily="34" charset="-120"/>
              </a:rPr>
              <a:t>14</a:t>
            </a:r>
            <a:endParaRPr lang="en-US" sz="1100" dirty="0"/>
          </a:p>
        </p:txBody>
      </p:sp>
      <p:sp>
        <p:nvSpPr>
          <p:cNvPr id="3" name="Text 1"/>
          <p:cNvSpPr txBox="1"/>
          <p:nvPr/>
        </p:nvSpPr>
        <p:spPr>
          <a:xfrm>
            <a:off x="548640" y="1188720"/>
            <a:ext cx="1097280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No falta dinero.</a:t>
            </a:r>
            <a:endParaRPr lang="en-US" sz="4400" dirty="0"/>
          </a:p>
        </p:txBody>
      </p:sp>
      <p:sp>
        <p:nvSpPr>
          <p:cNvPr id="4" name="Text 2"/>
          <p:cNvSpPr txBox="1"/>
          <p:nvPr/>
        </p:nvSpPr>
        <p:spPr>
          <a:xfrm>
            <a:off x="548640" y="2103120"/>
            <a:ext cx="10515600" cy="1097280"/>
          </a:xfrm>
          <a:prstGeom prst="rect">
            <a:avLst/>
          </a:prstGeom>
          <a:noFill/>
          <a:ln/>
        </p:spPr>
        <p:txBody>
          <a:bodyPr wrap="square" lIns="0" tIns="0" rIns="0" bIns="0" rtlCol="0" anchor="t"/>
          <a:lstStyle/>
          <a:p>
            <a:pPr indent="0" marL="0">
              <a:buNone/>
            </a:pPr>
            <a:r>
              <a:rPr lang="en-US" sz="2800" dirty="0">
                <a:solidFill>
                  <a:srgbClr val="E67E22"/>
                </a:solidFill>
                <a:latin typeface="Arial" pitchFamily="34" charset="0"/>
                <a:ea typeface="Arial" pitchFamily="34" charset="-122"/>
                <a:cs typeface="Arial" pitchFamily="34" charset="-120"/>
              </a:rPr>
              <a:t>Falta alguien que diseñe la infraestructura y la deje funcionando sola.</a:t>
            </a:r>
            <a:endParaRPr lang="en-US" sz="2800" dirty="0"/>
          </a:p>
        </p:txBody>
      </p:sp>
      <p:sp>
        <p:nvSpPr>
          <p:cNvPr id="5" name="Shape 3"/>
          <p:cNvSpPr/>
          <p:nvPr/>
        </p:nvSpPr>
        <p:spPr>
          <a:xfrm>
            <a:off x="960120" y="4526280"/>
            <a:ext cx="9509760" cy="0"/>
          </a:xfrm>
          <a:prstGeom prst="line">
            <a:avLst/>
          </a:prstGeom>
          <a:noFill/>
          <a:ln w="25400">
            <a:solidFill>
              <a:srgbClr val="666666"/>
            </a:solidFill>
            <a:prstDash val="solid"/>
          </a:ln>
        </p:spPr>
      </p:sp>
      <p:sp>
        <p:nvSpPr>
          <p:cNvPr id="6" name="Shape 4"/>
          <p:cNvSpPr/>
          <p:nvPr/>
        </p:nvSpPr>
        <p:spPr>
          <a:xfrm>
            <a:off x="548640" y="4114800"/>
            <a:ext cx="822960" cy="822960"/>
          </a:xfrm>
          <a:prstGeom prst="ellipse">
            <a:avLst/>
          </a:prstGeom>
          <a:solidFill>
            <a:srgbClr val="E67E22"/>
          </a:solidFill>
          <a:ln w="12700">
            <a:solidFill>
              <a:srgbClr val="E67E22"/>
            </a:solidFill>
            <a:prstDash val="solid"/>
          </a:ln>
        </p:spPr>
      </p:sp>
      <p:sp>
        <p:nvSpPr>
          <p:cNvPr id="7" name="Text 5"/>
          <p:cNvSpPr txBox="1"/>
          <p:nvPr/>
        </p:nvSpPr>
        <p:spPr>
          <a:xfrm>
            <a:off x="548640" y="41148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R2</a:t>
            </a:r>
            <a:endParaRPr lang="en-US" sz="1800" dirty="0"/>
          </a:p>
        </p:txBody>
      </p:sp>
      <p:sp>
        <p:nvSpPr>
          <p:cNvPr id="8" name="Text 6"/>
          <p:cNvSpPr txBox="1"/>
          <p:nvPr/>
        </p:nvSpPr>
        <p:spPr>
          <a:xfrm>
            <a:off x="91440" y="5074920"/>
            <a:ext cx="1737360" cy="5486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Diseño</a:t>
            </a:r>
            <a:endParaRPr lang="en-US" sz="1500" dirty="0"/>
          </a:p>
        </p:txBody>
      </p:sp>
      <p:sp>
        <p:nvSpPr>
          <p:cNvPr id="9" name="Shape 7"/>
          <p:cNvSpPr/>
          <p:nvPr/>
        </p:nvSpPr>
        <p:spPr>
          <a:xfrm>
            <a:off x="2926080" y="4114800"/>
            <a:ext cx="822960" cy="822960"/>
          </a:xfrm>
          <a:prstGeom prst="ellipse">
            <a:avLst/>
          </a:prstGeom>
          <a:solidFill>
            <a:srgbClr val="E67E22"/>
          </a:solidFill>
          <a:ln w="12700">
            <a:solidFill>
              <a:srgbClr val="E67E22"/>
            </a:solidFill>
            <a:prstDash val="solid"/>
          </a:ln>
        </p:spPr>
      </p:sp>
      <p:sp>
        <p:nvSpPr>
          <p:cNvPr id="10" name="Text 8"/>
          <p:cNvSpPr txBox="1"/>
          <p:nvPr/>
        </p:nvSpPr>
        <p:spPr>
          <a:xfrm>
            <a:off x="2926080" y="41148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R3</a:t>
            </a:r>
            <a:endParaRPr lang="en-US" sz="1800" dirty="0"/>
          </a:p>
        </p:txBody>
      </p:sp>
      <p:sp>
        <p:nvSpPr>
          <p:cNvPr id="11" name="Text 9"/>
          <p:cNvSpPr txBox="1"/>
          <p:nvPr/>
        </p:nvSpPr>
        <p:spPr>
          <a:xfrm>
            <a:off x="2468880" y="5074920"/>
            <a:ext cx="1737360" cy="5486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Viabilidad</a:t>
            </a:r>
            <a:endParaRPr lang="en-US" sz="1500" dirty="0"/>
          </a:p>
        </p:txBody>
      </p:sp>
      <p:sp>
        <p:nvSpPr>
          <p:cNvPr id="12" name="Shape 10"/>
          <p:cNvSpPr/>
          <p:nvPr/>
        </p:nvSpPr>
        <p:spPr>
          <a:xfrm>
            <a:off x="5303520" y="4114800"/>
            <a:ext cx="822960" cy="822960"/>
          </a:xfrm>
          <a:prstGeom prst="ellipse">
            <a:avLst/>
          </a:prstGeom>
          <a:solidFill>
            <a:srgbClr val="E67E22"/>
          </a:solidFill>
          <a:ln w="12700">
            <a:solidFill>
              <a:srgbClr val="E67E22"/>
            </a:solidFill>
            <a:prstDash val="solid"/>
          </a:ln>
        </p:spPr>
      </p:sp>
      <p:sp>
        <p:nvSpPr>
          <p:cNvPr id="13" name="Text 11"/>
          <p:cNvSpPr txBox="1"/>
          <p:nvPr/>
        </p:nvSpPr>
        <p:spPr>
          <a:xfrm>
            <a:off x="5303520" y="41148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R4</a:t>
            </a:r>
            <a:endParaRPr lang="en-US" sz="1800" dirty="0"/>
          </a:p>
        </p:txBody>
      </p:sp>
      <p:sp>
        <p:nvSpPr>
          <p:cNvPr id="14" name="Text 12"/>
          <p:cNvSpPr txBox="1"/>
          <p:nvPr/>
        </p:nvSpPr>
        <p:spPr>
          <a:xfrm>
            <a:off x="4846320" y="5074920"/>
            <a:ext cx="1737360" cy="5486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Presupuesto</a:t>
            </a:r>
            <a:endParaRPr lang="en-US" sz="1500" dirty="0"/>
          </a:p>
        </p:txBody>
      </p:sp>
      <p:sp>
        <p:nvSpPr>
          <p:cNvPr id="15" name="Shape 13"/>
          <p:cNvSpPr/>
          <p:nvPr/>
        </p:nvSpPr>
        <p:spPr>
          <a:xfrm>
            <a:off x="7680960" y="4114800"/>
            <a:ext cx="822960" cy="822960"/>
          </a:xfrm>
          <a:prstGeom prst="ellipse">
            <a:avLst/>
          </a:prstGeom>
          <a:solidFill>
            <a:srgbClr val="E67E22"/>
          </a:solidFill>
          <a:ln w="12700">
            <a:solidFill>
              <a:srgbClr val="E67E22"/>
            </a:solidFill>
            <a:prstDash val="solid"/>
          </a:ln>
        </p:spPr>
      </p:sp>
      <p:sp>
        <p:nvSpPr>
          <p:cNvPr id="16" name="Text 14"/>
          <p:cNvSpPr txBox="1"/>
          <p:nvPr/>
        </p:nvSpPr>
        <p:spPr>
          <a:xfrm>
            <a:off x="7680960" y="41148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R5</a:t>
            </a:r>
            <a:endParaRPr lang="en-US" sz="1800" dirty="0"/>
          </a:p>
        </p:txBody>
      </p:sp>
      <p:sp>
        <p:nvSpPr>
          <p:cNvPr id="17" name="Text 15"/>
          <p:cNvSpPr txBox="1"/>
          <p:nvPr/>
        </p:nvSpPr>
        <p:spPr>
          <a:xfrm>
            <a:off x="7223760" y="5074920"/>
            <a:ext cx="1737360" cy="5486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Documentación</a:t>
            </a:r>
            <a:endParaRPr lang="en-US" sz="1500" dirty="0"/>
          </a:p>
        </p:txBody>
      </p:sp>
      <p:sp>
        <p:nvSpPr>
          <p:cNvPr id="18" name="Shape 16"/>
          <p:cNvSpPr/>
          <p:nvPr/>
        </p:nvSpPr>
        <p:spPr>
          <a:xfrm>
            <a:off x="10058400" y="4114800"/>
            <a:ext cx="822960" cy="822960"/>
          </a:xfrm>
          <a:prstGeom prst="ellipse">
            <a:avLst/>
          </a:prstGeom>
          <a:solidFill>
            <a:srgbClr val="E67E22"/>
          </a:solidFill>
          <a:ln w="12700">
            <a:solidFill>
              <a:srgbClr val="E67E22"/>
            </a:solidFill>
            <a:prstDash val="solid"/>
          </a:ln>
        </p:spPr>
      </p:sp>
      <p:sp>
        <p:nvSpPr>
          <p:cNvPr id="19" name="Text 17"/>
          <p:cNvSpPr txBox="1"/>
          <p:nvPr/>
        </p:nvSpPr>
        <p:spPr>
          <a:xfrm>
            <a:off x="10058400" y="41148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R6</a:t>
            </a:r>
            <a:endParaRPr lang="en-US" sz="1800" dirty="0"/>
          </a:p>
        </p:txBody>
      </p:sp>
      <p:sp>
        <p:nvSpPr>
          <p:cNvPr id="20" name="Text 18"/>
          <p:cNvSpPr txBox="1"/>
          <p:nvPr/>
        </p:nvSpPr>
        <p:spPr>
          <a:xfrm>
            <a:off x="9601200" y="5074920"/>
            <a:ext cx="1737360" cy="5486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Plan de intervención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72B"/>
        </a:solidFill>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t"/>
          <a:lstStyle/>
          <a:p>
            <a:pPr algn="r" indent="0" marL="0">
              <a:buNone/>
            </a:pPr>
            <a:r>
              <a:rPr lang="en-US" sz="1100" dirty="0">
                <a:solidFill>
                  <a:srgbClr val="AAAAAA"/>
                </a:solidFill>
                <a:latin typeface="Arial" pitchFamily="34" charset="0"/>
                <a:ea typeface="Arial" pitchFamily="34" charset="-122"/>
                <a:cs typeface="Arial" pitchFamily="34" charset="-120"/>
              </a:rPr>
              <a:t>15</a:t>
            </a:r>
            <a:endParaRPr lang="en-US" sz="1100" dirty="0"/>
          </a:p>
        </p:txBody>
      </p:sp>
      <p:sp>
        <p:nvSpPr>
          <p:cNvPr id="3" name="Text 1"/>
          <p:cNvSpPr txBox="1"/>
          <p:nvPr/>
        </p:nvSpPr>
        <p:spPr>
          <a:xfrm>
            <a:off x="548640" y="2011680"/>
            <a:ext cx="10972800" cy="109728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¿Preguntas?</a:t>
            </a:r>
            <a:endParaRPr lang="en-US" sz="5400" dirty="0"/>
          </a:p>
        </p:txBody>
      </p:sp>
      <p:sp>
        <p:nvSpPr>
          <p:cNvPr id="4" name="Text 2"/>
          <p:cNvSpPr txBox="1"/>
          <p:nvPr/>
        </p:nvSpPr>
        <p:spPr>
          <a:xfrm>
            <a:off x="548640" y="3291840"/>
            <a:ext cx="10972800" cy="457200"/>
          </a:xfrm>
          <a:prstGeom prst="rect">
            <a:avLst/>
          </a:prstGeom>
          <a:noFill/>
          <a:ln/>
        </p:spPr>
        <p:txBody>
          <a:bodyPr wrap="square" lIns="0" tIns="0" rIns="0" bIns="0" rtlCol="0" anchor="t"/>
          <a:lstStyle/>
          <a:p>
            <a:pPr indent="0" marL="0">
              <a:buNone/>
            </a:pPr>
            <a:r>
              <a:rPr lang="en-US" sz="1800" dirty="0">
                <a:solidFill>
                  <a:srgbClr val="E67E22"/>
                </a:solidFill>
                <a:latin typeface="Arial" pitchFamily="34" charset="0"/>
                <a:ea typeface="Arial" pitchFamily="34" charset="-122"/>
                <a:cs typeface="Arial" pitchFamily="34" charset="-120"/>
              </a:rPr>
              <a:t>Informe completo: «Análisis del contexto tecnológico de La Plancha» (Reto 1).</a:t>
            </a:r>
            <a:endParaRPr lang="en-US" sz="1800" dirty="0"/>
          </a:p>
        </p:txBody>
      </p:sp>
      <p:sp>
        <p:nvSpPr>
          <p:cNvPr id="5" name="Text 3"/>
          <p:cNvSpPr txBox="1"/>
          <p:nvPr/>
        </p:nvSpPr>
        <p:spPr>
          <a:xfrm>
            <a:off x="548640" y="4937760"/>
            <a:ext cx="10972800" cy="822960"/>
          </a:xfrm>
          <a:prstGeom prst="rect">
            <a:avLst/>
          </a:prstGeom>
          <a:noFill/>
          <a:ln/>
        </p:spPr>
        <p:txBody>
          <a:bodyPr wrap="square" lIns="0" tIns="0" rIns="0" bIns="0" rtlCol="0" anchor="t"/>
          <a:lstStyle/>
          <a:p>
            <a:pPr indent="0" marL="0">
              <a:buNone/>
            </a:pPr>
            <a:r>
              <a:rPr lang="en-US" sz="1300" dirty="0">
                <a:solidFill>
                  <a:srgbClr val="BBBBBB"/>
                </a:solidFill>
                <a:latin typeface="Arial" pitchFamily="34" charset="0"/>
                <a:ea typeface="Arial" pitchFamily="34" charset="-122"/>
                <a:cs typeface="Arial" pitchFamily="34" charset="-120"/>
              </a:rPr>
              <a:t>Fuentes principales: INE (2025), Profesional Horeca (2025), Hosteltur (2026), El Periòdic (2025), Microsoft (2025), Garrigues (2025), Red.es (s.f.), normativa del BOE y del DOUE. Referencias completas en formato APA en el informe.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del contexto tecnológico de La Plancha</dc:title>
  <dc:subject>PptxGenJS Presentation</dc:subject>
  <dc:creator>Riches Manuel y Roca</dc:creator>
  <cp:lastModifiedBy>Riches Manuel y Roca</cp:lastModifiedBy>
  <cp:revision>1</cp:revision>
  <dcterms:created xsi:type="dcterms:W3CDTF">2026-10-01T10:37:46Z</dcterms:created>
  <dcterms:modified xsi:type="dcterms:W3CDTF">2026-10-01T10:37:46Z</dcterms:modified>
</cp:coreProperties>
</file>